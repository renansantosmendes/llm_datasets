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139b456-ecf8-8d2b-a959-64bb610c355d}">
          <p14:sldIdLst>
            <p14:sldId id="256"/>
          </p14:sldIdLst>
        </p14:section>
        <p14:section name="Solução" id="{c28ba537-1d28-1fd0-fc30-b1ed029af6e8}">
          <p14:sldIdLst>
            <p14:sldId id="257"/>
            <p14:sldId id="258"/>
            <p14:sldId id="259"/>
            <p14:sldId id="260"/>
          </p14:sldIdLst>
        </p14:section>
        <p14:section name="Planos" id="{7bf94d2e-47f2-2cdb-4d59-f0ce2b8d90d5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Fechamento" id="{9894eab0-08a1-88ea-0fe7-760f6509fca9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Por mês: custo do plano × valor estimado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do plano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290</c:v>
                </c:pt>
                <c:pt idx="1">
                  <c:v>990</c:v>
                </c:pt>
                <c:pt idx="2">
                  <c:v>2490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estimado gerado</c:v>
                </c:pt>
              </c:strCache>
            </c:strRef>
          </c:tx>
          <c:spPr>
            <a:solidFill>
              <a:srgbClr val="8A7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1020</c:v>
                </c:pt>
                <c:pt idx="1">
                  <c:v>5100</c:v>
                </c:pt>
                <c:pt idx="2">
                  <c:v>15300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entrada para PMEs. Os planos são uma oferta de autoatendimento em ambiente gerenciado, com isolamento lógico por cliente. Os preços são de referência e dependem de aprovação comercial e de validação técnica do modelo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em uma frase: preço de entrada, teste grátis, sem fidelidade e começo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qual das três dores é a mais urgente para o cliente e conduza a conversa a partir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só as duas ou três funcionalidades ligadas à dor escolhida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não é preciso time de TI e que o teste é grátis.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Growth é o recomendado para a maioria das PMEs. Mensal sem fidelidade; anual com 2 meses grátis. Âncoras de mercado (jun–set/2026): iSpring Cloud AI a US$ 720 por autor/ano; Articulate 360 AI a US$ 1.449 (Personal) e US$ 1.749 (Teams) por usuário/ano; MagicSchool Plus a US$ 99,96/ano e Eduaide Pro a US$ 49,99/ano para professores. Starter equivale a ~R$ 290 por autor/mês (≈ US$ 56); Growth, ~R$ 198 (≈ US$ 38); Pro, ~R$ 166 (≈ US$ 32). Preços de referência: confirme aprovação comercial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Planos individuais, de autoatendimento e sem contrato. Eles abrem a porta para professores e estudantes que depois podem levar o produto às suas escolas e empresas. Âncoras de mercado (jun–set/2026): iSpring Cloud AI a US$ 720 por autor/ano; Articulate 360 AI a US$ 1.449 (Personal) e US$ 1.749 (Teams) por usuário/ano; MagicSchool Plus a US$ 99,96/ano e Eduaide Pro a US$ 49,99/ano para professores.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para mostrar o caminho de crescimento até o Enterprise (nuvem privada ou on-premise, com SLAs 24/7).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ilustrativas e editáveis; valide com o cliente. Não apresente como garantia de resultado. Âncoras de mercado (jun–set/2026): iSpring Cloud AI a US$ 720 por autor/ano; Articulate 360 AI a US$ 1.449 (Personal) e US$ 1.749 (Teams) por usuário/ano; MagicSchool Plus a US$ 99,96/ano e Eduaide Pro a US$ 49,99/ano para professores.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planos Starter usam ambiente gerenciado com isolamento lógico por cliente; nuvem privada e on-premise ficam no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tempos de resposta dos planos de entrada são propostos e precisam ser validados com a área de Suporte. Os SLAs 24/7 do Enterprise seguem a matriz de severidade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Condições propostas para a oferta de entrada; valide com financeiro e jurídico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para contornar objeções comuns de PMEs: complexidade, segurança, risco de ficar preso 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cliente criar a conta durante a reunião. Quanto mais rápido o primeiro uso, maior a conversão.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comerciais. Âncoras de mercado (jun–set/2026): iSpring Cloud AI a US$ 720 por autor/ano; Articulate 360 AI a US$ 1.449 (Personal) e US$ 1.749 (Teams) por usuário/ano; MagicSchool Plus a US$ 99,96/ano e Eduaide Pro a US$ 49,99/ano para professores. Starter equivale a ~R$ 290 por autor/mês (≈ US$ 56); Growth, ~R$ 198 (≈ US$ 38); Pro, ~R$ 166 (≈ US$ 32). Planos individuais: Professor independente R$ 69/mês; Estudante criador R$ 29,90/mês. Valores de referência: confirme com a liderança comercial, e valide com produto e engenharia o modelo de entrega em ambiente gerenciado antes de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SynapseAI Solutions  ·  Proposta para PMEs  ·  Valores sem impostos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6E0"/>
                </a:solidFill>
              </a:rPr>
              <a:t>PROPOSTA COMERCIAL · PLANOS STARTER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CourseGen Studio para PMEs e independentes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7C8DE"/>
                </a:solidFill>
              </a:rPr>
              <a:t>Comece a partir de R$ 290/mês, com 14 dias de teste grátis e sem fidelidade</a:t>
            </a:r>
            <a:endParaRPr lang="en-US" sz="2000" dirty="0"/>
          </a:p>
        </p:txBody>
      </p:sp>
      <p:sp>
        <p:nvSpPr>
          <p:cNvPr id="5" name="Responsável"/>
          <p:cNvSpPr txBox="1"/>
          <p:nvPr/>
        </p:nvSpPr>
        <p:spPr>
          <a:xfrm>
            <a:off x="731520" y="5166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Preparada para [Nome do cliente]  ·  Nome do responsável comercial  ·  Contato</a:t>
            </a:r>
            <a:endParaRPr lang="en-US" sz="1400" dirty="0"/>
          </a:p>
        </p:txBody>
      </p:sp>
      <p:pic>
        <p:nvPicPr>
          <p:cNvPr id="6" name="Símbolo CourseGen Studio" descr="assets/sym_course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188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RESUMO DA OFERTA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CourseGen Studio ao alcance de uma PME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CourseGen Studio: geração assistida de conteúdo educacional em planos simples, para quem não tem time de TI nem orçamento de grande empresa.</a:t>
            </a:r>
            <a:endParaRPr lang="en-US" sz="2000" dirty="0"/>
          </a:p>
        </p:txBody>
      </p:sp>
      <p:sp>
        <p:nvSpPr>
          <p:cNvPr id="6" name="Ícone fundo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4701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 grátis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14 dias sem cartão de crédito, com todos os recursos do plano escolhido.</a:t>
            </a:r>
            <a:endParaRPr lang="en-US" sz="1300" dirty="0"/>
          </a:p>
        </p:txBody>
      </p:sp>
      <p:sp>
        <p:nvSpPr>
          <p:cNvPr id="10" name="Ícone fundo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44302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Sem fidelidade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Plano mensal, com cancelamento a qualquer momento. No anual, 2 meses grátis.</a:t>
            </a:r>
            <a:endParaRPr lang="en-US" sz="1300" dirty="0"/>
          </a:p>
        </p:txBody>
      </p:sp>
      <p:sp>
        <p:nvSpPr>
          <p:cNvPr id="14" name="Ícone fundo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39038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Comece rápido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Primeiros resultados em 1 dia: para gerar o primeiro curso a partir de um briefing.</a:t>
            </a:r>
            <a:endParaRPr lang="en-US" sz="1300" dirty="0"/>
          </a:p>
        </p:txBody>
      </p:sp>
      <p:sp>
        <p:nvSpPr>
          <p:cNvPr id="18" name="Indicador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name="adj" fmla="val 11034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49808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R$ 290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9646920" y="16916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por mês no plano Starter, a partir de</a:t>
            </a:r>
            <a:endParaRPr lang="en-US" sz="1300" dirty="0"/>
          </a:p>
        </p:txBody>
      </p:sp>
      <p:sp>
        <p:nvSpPr>
          <p:cNvPr id="21" name="Indicador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98080" y="32004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14 dias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9646920" y="320040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 teste grátis, sem cartão</a:t>
            </a:r>
            <a:endParaRPr lang="en-US" sz="1300" dirty="0"/>
          </a:p>
        </p:txBody>
      </p:sp>
      <p:sp>
        <p:nvSpPr>
          <p:cNvPr id="24" name="Indicador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498080" y="4709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 dia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646920" y="470916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para os primeiros resultados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 DESAFIO DA PEQUENA EMPRESA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 que costuma travar o seu negócio</a:t>
            </a:r>
            <a:endParaRPr lang="en-US" sz="3600" dirty="0"/>
          </a:p>
        </p:txBody>
      </p:sp>
      <p:sp>
        <p:nvSpPr>
          <p:cNvPr id="5" name="Dor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Criar curso é lento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Ementa, aulas, materiais e provas consomem semanas de uma equipe pequena.</a:t>
            </a:r>
            <a:endParaRPr lang="en-US" sz="1400" dirty="0"/>
          </a:p>
        </p:txBody>
      </p:sp>
      <p:sp>
        <p:nvSpPr>
          <p:cNvPr id="9" name="Dor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Padrão irregular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Sem time de design instrucional, a qualidade varia de curso para curso.</a:t>
            </a:r>
            <a:endParaRPr lang="en-US" sz="1400" dirty="0"/>
          </a:p>
        </p:txBody>
      </p:sp>
      <p:sp>
        <p:nvSpPr>
          <p:cNvPr id="13" name="Dor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Atualizar custa caro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Revisar conteúdo a cada mudança toma um tempo que a PME não tem.</a:t>
            </a:r>
            <a:endParaRPr lang="en-US" sz="1400" dirty="0"/>
          </a:p>
        </p:txBody>
      </p:sp>
      <p:sp>
        <p:nvSpPr>
          <p:cNvPr id="17" name="Faixa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Ícone fundo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Ícone FaBulls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53721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A PROPOSTA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Planos de entrada, simples e sem projeto de TI, para começar a usar o CourseGen Studio ainda esta semana.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 SOLUÇÃO · EDUCAÇÃO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CourseGen Studio: o que você ganha</a:t>
            </a:r>
            <a:endParaRPr lang="en-US" sz="3600" dirty="0"/>
          </a:p>
        </p:txBody>
      </p:sp>
      <p:sp>
        <p:nvSpPr>
          <p:cNvPr id="5" name="Painel produto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name="adj" fmla="val 4390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pic>
        <p:nvPicPr>
          <p:cNvPr id="6" name="Símbolo CourseGen Studio" descr="assets/sym_course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CourseGen Studio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Geração Assistida de Conteúdo Educacional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Educação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coursegen.synapseai.com</a:t>
            </a:r>
            <a:endParaRPr lang="en-US" sz="1100" dirty="0"/>
          </a:p>
        </p:txBody>
      </p:sp>
      <p:sp>
        <p:nvSpPr>
          <p:cNvPr id="12" name="Diferencial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Ícone FaLayerGrou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20619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Estrutura pedagógica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Ementas, planos de aula, materiais e avaliações alinhados.</a:t>
            </a:r>
            <a:endParaRPr lang="en-US" sz="1250" dirty="0"/>
          </a:p>
        </p:txBody>
      </p:sp>
      <p:sp>
        <p:nvSpPr>
          <p:cNvPr id="17" name="Diferencial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Ícone fundo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Ícone Fa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0619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Você aprova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Edite e aprove cada versão antes de exportar.</a:t>
            </a:r>
            <a:endParaRPr lang="en-US" sz="1250" dirty="0"/>
          </a:p>
        </p:txBody>
      </p:sp>
      <p:sp>
        <p:nvSpPr>
          <p:cNvPr id="22" name="Diferencial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Ícone fundo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Ícone FaFileExpor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4027932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Exporta onde você usa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PDF, PPTX, HTML e SCORM.</a:t>
            </a:r>
            <a:endParaRPr lang="en-US" sz="1250" dirty="0"/>
          </a:p>
        </p:txBody>
      </p:sp>
      <p:sp>
        <p:nvSpPr>
          <p:cNvPr id="27" name="Diferencial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8" name="Ícone fundo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Ícone FaBoo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402793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 o seu conteúdo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Usa as suas fontes para manter o contexto.</a:t>
            </a:r>
            <a:endParaRPr lang="en-US" sz="1250" dirty="0"/>
          </a:p>
        </p:txBody>
      </p:sp>
      <p:sp>
        <p:nvSpPr>
          <p:cNvPr id="32" name="Faixa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Apoio à decisão: a decisão final é sempre sua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COMO COMEÇAR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 cadastro ao primeiro resultado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Crie sua conta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Cadastro em minutos, sem cartão de crédito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ClipboardLi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Escreva o briefing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75304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Público, carga horária e objetivos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Boo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Gere seu primeiro curso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373368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Ementa, aulas, materiais e avaliação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Semana 1</a:t>
            </a:r>
            <a:endParaRPr lang="en-US" sz="1300" dirty="0"/>
          </a:p>
        </p:txBody>
      </p:sp>
      <p:sp>
        <p:nvSpPr>
          <p:cNvPr id="26" name="Passo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Ícone FaChartLi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4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Decida o plano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171432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Ao fim dos 14 dias, escolha o que cabe no seu volume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33" name="Faixa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Ícone FaHeads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436108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5230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Quer ajuda? Onboarding assistido opcional: modelos pedagógicos e fontes iniciais.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65099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Valor único: R$ 700 (Starter), R$ 1.900 (Growth) ou R$ 3.900 (Pro). O autoatendimento é gratuito.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STARTER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Escolha o plano do tamanho do seu negócio</a:t>
            </a:r>
            <a:endParaRPr lang="en-US" sz="3600" dirty="0"/>
          </a:p>
        </p:txBody>
      </p:sp>
      <p:sp>
        <p:nvSpPr>
          <p:cNvPr id="5" name="Plano Starter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Consultores e pequenos times de conteúdo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R$ 290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R$ 2.900 /ano (2 meses grátis)</a:t>
            </a:r>
            <a:endParaRPr lang="en-US" sz="12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autor</a:t>
            </a:r>
            <a:endParaRPr lang="en-US" sz="125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788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4 cursos gerados por mês</a:t>
            </a:r>
            <a:endParaRPr lang="en-US" sz="1250" dirty="0"/>
          </a:p>
        </p:txBody>
      </p:sp>
      <p:pic>
        <p:nvPicPr>
          <p:cNvPr id="14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modelo pedagógico</a:t>
            </a:r>
            <a:endParaRPr lang="en-US" sz="125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651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Exportação em PDF e PPTX</a:t>
            </a:r>
            <a:endParaRPr lang="en-US" sz="125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5838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9728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Alinhamento à Taxonomia de Bloom</a:t>
            </a:r>
            <a:endParaRPr lang="en-US" sz="125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51576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9728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por e-mail</a:t>
            </a:r>
            <a:endParaRPr lang="en-US" sz="1250" dirty="0"/>
          </a:p>
        </p:txBody>
      </p:sp>
      <p:sp>
        <p:nvSpPr>
          <p:cNvPr id="22" name="Plano Growth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Etiqueta"/>
          <p:cNvSpPr/>
          <p:nvPr/>
        </p:nvSpPr>
        <p:spPr>
          <a:xfrm>
            <a:off x="5394960" y="1554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53949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MAIS ESCOLHIDO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Growth</a:t>
            </a:r>
            <a:endParaRPr lang="en-US" sz="22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Times de L&amp;D e escolas em crescimento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D6E0"/>
                </a:solidFill>
              </a:rPr>
              <a:t>R$ 990</a:t>
            </a:r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 /mês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ou R$ 9.900 /ano (2 meses grátis)</a:t>
            </a:r>
            <a:endParaRPr lang="en-US" sz="120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85616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463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5 autores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7880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84632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20 cursos gerados por mês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572000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84632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3 modelos pedagógicos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965192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84632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Exportação PDF, PPTX, HTML e SCORM</a:t>
            </a:r>
            <a:endParaRPr lang="en-US" sz="1250" dirty="0"/>
          </a:p>
        </p:txBody>
      </p:sp>
      <p:pic>
        <p:nvPicPr>
          <p:cNvPr id="37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358384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84632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Fontes institucionais (50 documentos)</a:t>
            </a:r>
            <a:endParaRPr lang="en-US" sz="1250" dirty="0"/>
          </a:p>
        </p:txBody>
      </p:sp>
      <p:pic>
        <p:nvPicPr>
          <p:cNvPr id="39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751576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84632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Chat em horário comercial</a:t>
            </a:r>
            <a:endParaRPr lang="en-US" sz="1250" dirty="0"/>
          </a:p>
        </p:txBody>
      </p:sp>
      <p:sp>
        <p:nvSpPr>
          <p:cNvPr id="41" name="Plano Pro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832104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</a:t>
            </a:r>
            <a:endParaRPr lang="en-US" sz="2200" dirty="0"/>
          </a:p>
        </p:txBody>
      </p:sp>
      <p:sp>
        <p:nvSpPr>
          <p:cNvPr id="43" name="Text 28"/>
          <p:cNvSpPr txBox="1"/>
          <p:nvPr/>
        </p:nvSpPr>
        <p:spPr>
          <a:xfrm>
            <a:off x="832104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Empresas de treinamento e instituições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R$ 2.490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45" name="Text 30"/>
          <p:cNvSpPr txBox="1"/>
          <p:nvPr/>
        </p:nvSpPr>
        <p:spPr>
          <a:xfrm>
            <a:off x="83210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R$ 24.900 /ano (2 meses grátis)</a:t>
            </a:r>
            <a:endParaRPr lang="en-US" sz="1200" dirty="0"/>
          </a:p>
        </p:txBody>
      </p:sp>
      <p:pic>
        <p:nvPicPr>
          <p:cNvPr id="46" name="Marca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3785616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59536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15 autores</a:t>
            </a:r>
            <a:endParaRPr lang="en-US" sz="1250" dirty="0"/>
          </a:p>
        </p:txBody>
      </p:sp>
      <p:pic>
        <p:nvPicPr>
          <p:cNvPr id="48" name="Marc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4178808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59536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60 cursos gerados por mês</a:t>
            </a:r>
            <a:endParaRPr lang="en-US" sz="1250" dirty="0"/>
          </a:p>
        </p:txBody>
      </p:sp>
      <p:pic>
        <p:nvPicPr>
          <p:cNvPr id="50" name="Marca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0" y="4572000"/>
            <a:ext cx="164592" cy="16459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59536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Modelos pedagógicos ilimitados</a:t>
            </a:r>
            <a:endParaRPr lang="en-US" sz="1250" dirty="0"/>
          </a:p>
        </p:txBody>
      </p:sp>
      <p:pic>
        <p:nvPicPr>
          <p:cNvPr id="52" name="Marca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4965192"/>
            <a:ext cx="164592" cy="164592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859536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Banco de questões e rubricas</a:t>
            </a:r>
            <a:endParaRPr lang="en-US" sz="1250" dirty="0"/>
          </a:p>
        </p:txBody>
      </p:sp>
      <p:pic>
        <p:nvPicPr>
          <p:cNvPr id="54" name="Marca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5358384"/>
            <a:ext cx="164592" cy="164592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859536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Versionamento e aprovações</a:t>
            </a:r>
            <a:endParaRPr lang="en-US" sz="1250" dirty="0"/>
          </a:p>
        </p:txBody>
      </p:sp>
      <p:pic>
        <p:nvPicPr>
          <p:cNvPr id="56" name="Marca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040" y="5751576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59536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prioritário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INDIVIDUAIS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Planos para independentes</a:t>
            </a:r>
            <a:endParaRPr lang="en-US" sz="3600" dirty="0"/>
          </a:p>
        </p:txBody>
      </p:sp>
      <p:sp>
        <p:nvSpPr>
          <p:cNvPr id="5" name="Plano Professor independente"/>
          <p:cNvSpPr/>
          <p:nvPr/>
        </p:nvSpPr>
        <p:spPr>
          <a:xfrm>
            <a:off x="548640" y="1691640"/>
            <a:ext cx="5422392" cy="3794760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Ícone FaChalkboardTeach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Professor independente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450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Para quem cria cursos, aulas e materiais por conta própria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R$ 69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 ou R$ 690 /ano</a:t>
            </a:r>
            <a:endParaRPr lang="en-US" sz="1400" dirty="0"/>
          </a:p>
        </p:txBody>
      </p:sp>
      <p:pic>
        <p:nvPicPr>
          <p:cNvPr id="11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304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7008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autor, sem contrato</a:t>
            </a:r>
            <a:endParaRPr lang="en-US" sz="1250" dirty="0"/>
          </a:p>
        </p:txBody>
      </p:sp>
      <p:pic>
        <p:nvPicPr>
          <p:cNvPr id="13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07008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3 cursos gerados por mês</a:t>
            </a:r>
            <a:endParaRPr lang="en-US" sz="1250" dirty="0"/>
          </a:p>
        </p:txBody>
      </p:sp>
      <p:pic>
        <p:nvPicPr>
          <p:cNvPr id="15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970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07008" y="44256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Ementa, planos de aula, materiais e questões</a:t>
            </a:r>
            <a:endParaRPr lang="en-US" sz="1250" dirty="0"/>
          </a:p>
        </p:txBody>
      </p:sp>
      <p:pic>
        <p:nvPicPr>
          <p:cNvPr id="17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28032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07008" y="4764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Exportação em PDF e PPTX</a:t>
            </a:r>
            <a:endParaRPr lang="en-US" sz="1250" dirty="0"/>
          </a:p>
        </p:txBody>
      </p:sp>
      <p:pic>
        <p:nvPicPr>
          <p:cNvPr id="19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6636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07008" y="5102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Versionamento básico</a:t>
            </a:r>
            <a:endParaRPr lang="en-US" sz="1250" dirty="0"/>
          </a:p>
        </p:txBody>
      </p:sp>
      <p:sp>
        <p:nvSpPr>
          <p:cNvPr id="21" name="Plano Estudante criador"/>
          <p:cNvSpPr/>
          <p:nvPr/>
        </p:nvSpPr>
        <p:spPr>
          <a:xfrm>
            <a:off x="6217920" y="1691640"/>
            <a:ext cx="5422392" cy="3794760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Ícone fundo"/>
          <p:cNvSpPr/>
          <p:nvPr/>
        </p:nvSpPr>
        <p:spPr>
          <a:xfrm>
            <a:off x="6492240" y="1920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UserGraduat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103120"/>
            <a:ext cx="365760" cy="36576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45236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Estudante criador</a:t>
            </a:r>
            <a:endParaRPr lang="en-US" sz="2200" dirty="0"/>
          </a:p>
        </p:txBody>
      </p:sp>
      <p:sp>
        <p:nvSpPr>
          <p:cNvPr id="25" name="Text 15"/>
          <p:cNvSpPr txBox="1"/>
          <p:nvPr/>
        </p:nvSpPr>
        <p:spPr>
          <a:xfrm>
            <a:off x="7452360" y="2450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Para licenciandos, monitores e quem produz material de estudo</a:t>
            </a:r>
            <a:endParaRPr lang="en-US" sz="1250" dirty="0"/>
          </a:p>
        </p:txBody>
      </p:sp>
      <p:sp>
        <p:nvSpPr>
          <p:cNvPr id="26" name="Text 16"/>
          <p:cNvSpPr txBox="1"/>
          <p:nvPr/>
        </p:nvSpPr>
        <p:spPr>
          <a:xfrm>
            <a:off x="658368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R$ 29,90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 ou R$ 299 /ano</a:t>
            </a:r>
            <a:endParaRPr lang="en-US" sz="1400" dirty="0"/>
          </a:p>
        </p:txBody>
      </p:sp>
      <p:pic>
        <p:nvPicPr>
          <p:cNvPr id="27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813048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876288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usuário, sem contrato</a:t>
            </a:r>
            <a:endParaRPr lang="en-US" sz="125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151376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876288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curso gerado por mês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489704"/>
            <a:ext cx="164592" cy="16459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876288" y="44256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Planos de monitoria e materiais de estudo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828032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876288" y="4764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Exportação em PDF e PPTX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5166360"/>
            <a:ext cx="164592" cy="16459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876288" y="5102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Alinhamento à Taxonomia de Bloom</a:t>
            </a:r>
            <a:endParaRPr lang="en-US" sz="1250" dirty="0"/>
          </a:p>
        </p:txBody>
      </p:sp>
      <p:sp>
        <p:nvSpPr>
          <p:cNvPr id="37" name="Faixa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23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Referência de mercado para o professor independente: MagicSchool Plus ~US$ 13/mês e Eduaide Pro ~US$ 50/ano. Cancelamento a qualquer momento.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Compare os planos lado a lado</a:t>
            </a:r>
            <a:endParaRPr lang="en-US" sz="3600" dirty="0"/>
          </a:p>
        </p:txBody>
      </p:sp>
      <p:graphicFrame>
        <p:nvGraphicFramePr>
          <p:cNvPr id="9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249905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Starter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Growth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Enterprise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mensal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R$ 290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R$ 990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R$ 2.490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anual (2 meses grátis)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R$ 2.900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R$ 9.900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R$ 24.900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Autores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Até 5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15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medida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Cursos gerados por mês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contrato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Modelos pedagógicos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Ilimitados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Ilimitados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Exportação SCORM e HTML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Incluída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Banco de questões e aprovações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Suporte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E-mail (1 dia útil)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Chat (4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Prioritário (2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24/7 com SLAs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Hospedagem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Nuvem privada ou on-premise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Curso excedente: R$ 29 (Starter), R$ 19 (Growth) e R$ 12 (Pro). Autor adicional: R$ 250/mês (Growth) e R$ 190 (Pro).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RETORNO DO INVESTIMENTO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Quanto o plano se paga</a:t>
            </a:r>
            <a:endParaRPr lang="en-US" sz="3600" dirty="0"/>
          </a:p>
        </p:txBody>
      </p:sp>
      <p:sp>
        <p:nvSpPr>
          <p:cNvPr id="5" name="Premissas"/>
          <p:cNvSpPr/>
          <p:nvPr/>
        </p:nvSpPr>
        <p:spPr>
          <a:xfrm>
            <a:off x="548640" y="1691640"/>
            <a:ext cx="4754880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PREMISSAS (EDITÁVEIS)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Cursos por autor/mês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Horas economizadas por curso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12 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Custo-hora (design instrucional)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R$ 85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566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Autores por plano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566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/ 5 / 15</a:t>
            </a:r>
            <a:endParaRPr lang="en-US" sz="1300" dirty="0"/>
          </a:p>
        </p:txBody>
      </p:sp>
      <p:sp>
        <p:nvSpPr>
          <p:cNvPr id="15" name="Break-even"/>
          <p:cNvSpPr/>
          <p:nvPr/>
        </p:nvSpPr>
        <p:spPr>
          <a:xfrm>
            <a:off x="548640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STARTER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3,5×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4 h/mês</a:t>
            </a:r>
            <a:endParaRPr lang="en-US" sz="1050" dirty="0"/>
          </a:p>
        </p:txBody>
      </p:sp>
      <p:sp>
        <p:nvSpPr>
          <p:cNvPr id="19" name="Break-even"/>
          <p:cNvSpPr/>
          <p:nvPr/>
        </p:nvSpPr>
        <p:spPr>
          <a:xfrm>
            <a:off x="2157984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49424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GROWTH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249424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5,2×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2249424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12 h/mês</a:t>
            </a:r>
            <a:endParaRPr lang="en-US" sz="1050" dirty="0"/>
          </a:p>
        </p:txBody>
      </p:sp>
      <p:sp>
        <p:nvSpPr>
          <p:cNvPr id="23" name="Break-even"/>
          <p:cNvSpPr/>
          <p:nvPr/>
        </p:nvSpPr>
        <p:spPr>
          <a:xfrm>
            <a:off x="3767328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58768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PRO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85876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6,1×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3858768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30 h/mês</a:t>
            </a:r>
            <a:endParaRPr lang="en-US" sz="10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577840" y="1645920"/>
          <a:ext cx="6080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54864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Estimativa ilustrativa; não constitui garantia de resultado.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SEGURANÇA E PRIVACIDADE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Segurança de grande empresa, na escala da sua</a:t>
            </a:r>
            <a:endParaRPr lang="en-US" sz="3600" dirty="0"/>
          </a:p>
        </p:txBody>
      </p:sp>
      <p:sp>
        <p:nvSpPr>
          <p:cNvPr id="5" name="Controle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Isolamento por cliente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Seus dados e índices ficam separados dos de outros clientes.</a:t>
            </a:r>
            <a:endParaRPr lang="en-US" sz="1350" dirty="0"/>
          </a:p>
        </p:txBody>
      </p:sp>
      <p:sp>
        <p:nvSpPr>
          <p:cNvPr id="10" name="Controle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Ícone fundo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Ícone Fa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Criptografia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Em trânsito e em repouso.</a:t>
            </a:r>
            <a:endParaRPr lang="en-US" sz="1350" dirty="0"/>
          </a:p>
        </p:txBody>
      </p:sp>
      <p:sp>
        <p:nvSpPr>
          <p:cNvPr id="15" name="Controle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Ícone fundo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Ícone FaKe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Acesso por perfil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Cada pessoa vê apenas o que o seu papel permite.</a:t>
            </a:r>
            <a:endParaRPr lang="en-US" sz="1350" dirty="0"/>
          </a:p>
        </p:txBody>
      </p:sp>
      <p:sp>
        <p:nvSpPr>
          <p:cNvPr id="20" name="Controle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Ícone fundo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Ícone FaHist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Trilha de auditoria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Registro de acessos, consultas e ações.</a:t>
            </a:r>
            <a:endParaRPr lang="en-US" sz="1350" dirty="0"/>
          </a:p>
        </p:txBody>
      </p:sp>
      <p:sp>
        <p:nvSpPr>
          <p:cNvPr id="25" name="Controle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6" name="Ícone fundo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7" name="Ícone FaBalanceSca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3205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LGPD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Tratamento alinhado à LGPD, com retenção configurável.</a:t>
            </a:r>
            <a:endParaRPr lang="en-US" sz="1350" dirty="0"/>
          </a:p>
        </p:txBody>
      </p:sp>
      <p:sp>
        <p:nvSpPr>
          <p:cNvPr id="30" name="Controle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Ícone fundo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Ícone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32054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Humano no controle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Respostas são apoio à decisão, sempre revisáveis.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SUPORTE E CRESCIMENTO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Suporte que acompanha o seu crescimento</a:t>
            </a:r>
            <a:endParaRPr lang="en-US" sz="3600" dirty="0"/>
          </a:p>
        </p:txBody>
      </p:sp>
      <p:sp>
        <p:nvSpPr>
          <p:cNvPr id="5" name="Suporte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Boo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Autoatendimento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Base de conhecimento, tutoriais e comunidade</a:t>
            </a:r>
            <a:endParaRPr lang="en-US" sz="1250" dirty="0"/>
          </a:p>
        </p:txBody>
      </p:sp>
      <p:sp>
        <p:nvSpPr>
          <p:cNvPr id="10" name="Etiqueta"/>
          <p:cNvSpPr/>
          <p:nvPr/>
        </p:nvSpPr>
        <p:spPr>
          <a:xfrm>
            <a:off x="777240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Todos os planos</a:t>
            </a:r>
            <a:endParaRPr lang="en-US" sz="1100" dirty="0"/>
          </a:p>
        </p:txBody>
      </p:sp>
      <p:sp>
        <p:nvSpPr>
          <p:cNvPr id="12" name="Suporte"/>
          <p:cNvSpPr/>
          <p:nvPr/>
        </p:nvSpPr>
        <p:spPr>
          <a:xfrm>
            <a:off x="3346704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Heads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530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E-mail e chat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Starter: 1 dia útil · Growth: 4 h úteis</a:t>
            </a:r>
            <a:endParaRPr lang="en-US" sz="1250" dirty="0"/>
          </a:p>
        </p:txBody>
      </p:sp>
      <p:sp>
        <p:nvSpPr>
          <p:cNvPr id="17" name="Etiqueta"/>
          <p:cNvSpPr/>
          <p:nvPr/>
        </p:nvSpPr>
        <p:spPr>
          <a:xfrm>
            <a:off x="3575304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75304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Starter e Growth</a:t>
            </a:r>
            <a:endParaRPr lang="en-US" sz="1100" dirty="0"/>
          </a:p>
        </p:txBody>
      </p:sp>
      <p:sp>
        <p:nvSpPr>
          <p:cNvPr id="19" name="Suporte"/>
          <p:cNvSpPr/>
          <p:nvPr/>
        </p:nvSpPr>
        <p:spPr>
          <a:xfrm>
            <a:off x="6144768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St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7336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Suporte prioritário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Pro: resposta em até 2 h úteis</a:t>
            </a:r>
            <a:endParaRPr lang="en-US" sz="1250" dirty="0"/>
          </a:p>
        </p:txBody>
      </p:sp>
      <p:sp>
        <p:nvSpPr>
          <p:cNvPr id="24" name="Etiqueta"/>
          <p:cNvSpPr/>
          <p:nvPr/>
        </p:nvSpPr>
        <p:spPr>
          <a:xfrm>
            <a:off x="6373368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373368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</a:t>
            </a:r>
            <a:endParaRPr lang="en-US" sz="1100" dirty="0"/>
          </a:p>
        </p:txBody>
      </p:sp>
      <p:sp>
        <p:nvSpPr>
          <p:cNvPr id="26" name="Suporte"/>
          <p:cNvSpPr/>
          <p:nvPr/>
        </p:nvSpPr>
        <p:spPr>
          <a:xfrm>
            <a:off x="8942832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Ícone FaClou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1432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Enterprise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Nuvem privada ou on-premise, SLAs 24/7 e projeto dedicado</a:t>
            </a:r>
            <a:endParaRPr lang="en-US" sz="1250" dirty="0"/>
          </a:p>
        </p:txBody>
      </p:sp>
      <p:sp>
        <p:nvSpPr>
          <p:cNvPr id="31" name="Etiqueta"/>
          <p:cNvSpPr/>
          <p:nvPr/>
        </p:nvSpPr>
        <p:spPr>
          <a:xfrm>
            <a:off x="9171432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71432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Sob consulta</a:t>
            </a:r>
            <a:endParaRPr lang="en-US" sz="1100" dirty="0"/>
          </a:p>
        </p:txBody>
      </p:sp>
      <p:sp>
        <p:nvSpPr>
          <p:cNvPr id="33" name="Faixa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2806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Caminho de upgrade sem retrabalho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3766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Mude de plano a qualquer momento, com ajuste proporcional. Ao crescer, migre para o Enterprise (nuvem privada ou on-premise, SSO, integrações sob medida e SLAs 24/7) mantendo configurações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CONDIÇÕES COMERCIAIS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Condições simples, sem letra miúda</a:t>
            </a:r>
            <a:endParaRPr lang="en-US" sz="3600" dirty="0"/>
          </a:p>
        </p:txBody>
      </p:sp>
      <p:sp>
        <p:nvSpPr>
          <p:cNvPr id="5" name="Condições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grátis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14 dias, sem cartão e sem compromisso</a:t>
            </a:r>
            <a:endParaRPr lang="en-US" sz="1250" dirty="0"/>
          </a:p>
        </p:txBody>
      </p:sp>
      <p:sp>
        <p:nvSpPr>
          <p:cNvPr id="10" name="Ícone fundo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2491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569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fidelidade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291840" y="25694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Plano mensal, cancelamento a qualquer momento</a:t>
            </a:r>
            <a:endParaRPr lang="en-US" sz="1250" dirty="0"/>
          </a:p>
        </p:txBody>
      </p:sp>
      <p:sp>
        <p:nvSpPr>
          <p:cNvPr id="14" name="Ícone fundo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Percen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Plano anual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3291840" y="3264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Pague 10 meses e use 12 (2 meses grátis)</a:t>
            </a:r>
            <a:endParaRPr lang="en-US" sz="1250" dirty="0"/>
          </a:p>
        </p:txBody>
      </p:sp>
      <p:sp>
        <p:nvSpPr>
          <p:cNvPr id="18" name="Ícone fundo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Ícone FaCreditC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1480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Pagamento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329184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Cartão, Pix ou boleto; faturamento mensal ou anual</a:t>
            </a:r>
            <a:endParaRPr lang="en-US" sz="1250" dirty="0"/>
          </a:p>
        </p:txBody>
      </p:sp>
      <p:sp>
        <p:nvSpPr>
          <p:cNvPr id="22" name="Ícone fundo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974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46542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Upgrade e downgrade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3291840" y="4654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qualquer momento, com ajuste proporcional</a:t>
            </a:r>
            <a:endParaRPr lang="en-US" sz="1250" dirty="0"/>
          </a:p>
        </p:txBody>
      </p:sp>
      <p:sp>
        <p:nvSpPr>
          <p:cNvPr id="26" name="Ícone fundo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Ícone FaFileAl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0468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63040" y="5349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Impostos e reajuste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3291840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Valores sem impostos; reajuste anual pelo IPCA</a:t>
            </a:r>
            <a:endParaRPr lang="en-US" sz="1250" dirty="0"/>
          </a:p>
        </p:txBody>
      </p:sp>
      <p:sp>
        <p:nvSpPr>
          <p:cNvPr id="30" name="Excedentes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305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EXCEDENTES E EXTRAS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7266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Curso excedente: R$ 29 (Starter), R$ 19 (Growth) e R$ 12 (Pro). Autor adicional: R$ 250/mês (Growth) e R$ 190 (Pro).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726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ONBOARDING ASSISTIDO (OPCIONAL)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726680" y="4023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Pagamento único de R$ 700 (Starter), R$ 1.900 (Growth) ou R$ 3.900 (Pro), com modelos pedagógicos e fontes iniciais.</a:t>
            </a:r>
            <a:endParaRPr lang="en-US" sz="1300" dirty="0"/>
          </a:p>
        </p:txBody>
      </p:sp>
      <p:sp>
        <p:nvSpPr>
          <p:cNvPr id="35" name="Etiqueta"/>
          <p:cNvSpPr/>
          <p:nvPr/>
        </p:nvSpPr>
        <p:spPr>
          <a:xfrm>
            <a:off x="7726680" y="5349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7266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Autoatendimento: gratuito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PERGUNTAS FREQUENTES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Perguntas que costumamos ouvir</a:t>
            </a:r>
            <a:endParaRPr lang="en-US" sz="3600" dirty="0"/>
          </a:p>
        </p:txBody>
      </p:sp>
      <p:sp>
        <p:nvSpPr>
          <p:cNvPr id="5" name="FAQ"/>
          <p:cNvSpPr/>
          <p:nvPr/>
        </p:nvSpPr>
        <p:spPr>
          <a:xfrm>
            <a:off x="54864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Marca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conteúdo gerado é publicado automaticamente?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Todo conteúdo é um rascunho editável e versionado; só versões aprovadas por você podem ser exportadas.</a:t>
            </a:r>
            <a:endParaRPr lang="en-US" sz="1300" dirty="0"/>
          </a:p>
        </p:txBody>
      </p:sp>
      <p:sp>
        <p:nvSpPr>
          <p:cNvPr id="10" name="FAQ"/>
          <p:cNvSpPr/>
          <p:nvPr/>
        </p:nvSpPr>
        <p:spPr>
          <a:xfrm>
            <a:off x="621792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Marca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Preciso de equipe de TI para começar?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O cadastro e a conexão guiada são feitos por você. Se preferir, o onboarding assistido é opcional.</a:t>
            </a:r>
            <a:endParaRPr lang="en-US" sz="1300" dirty="0"/>
          </a:p>
        </p:txBody>
      </p:sp>
      <p:sp>
        <p:nvSpPr>
          <p:cNvPr id="15" name="FAQ"/>
          <p:cNvSpPr/>
          <p:nvPr/>
        </p:nvSpPr>
        <p:spPr>
          <a:xfrm>
            <a:off x="54864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Marca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Meus dados ficam seguros?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Cada cliente tem índices e dados isolados, com criptografia em trânsito e em repouso e trilha de auditoria.</a:t>
            </a:r>
            <a:endParaRPr lang="en-US" sz="1300" dirty="0"/>
          </a:p>
        </p:txBody>
      </p:sp>
      <p:sp>
        <p:nvSpPr>
          <p:cNvPr id="20" name="FAQ"/>
          <p:cNvSpPr/>
          <p:nvPr/>
        </p:nvSpPr>
        <p:spPr>
          <a:xfrm>
            <a:off x="621792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Marca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 se eu crescer ou quiser sair?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Você muda de plano quando quiser e, ao crescer, migra para o Enterprise. No plano mensal, cancela a qualquer momento.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Comece hoje, sem compromisso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Crie a conta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Cadastro em minutos, sem cartão de crédito.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Hoje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429768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 por 14 dias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Conecte seus dados e faça as primeiras perguntas.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Dias 1–14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804672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Escolha o plano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Starter, Growth ou Pro: o que cabe no seu negócio.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26" name="Faixa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21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1755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Quer começar agora?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Nome do responsável comercial  ·  Cargo  ·  Contato</a:t>
            </a:r>
            <a:endParaRPr lang="en-US" sz="1400" dirty="0"/>
          </a:p>
        </p:txBody>
      </p:sp>
      <p:sp>
        <p:nvSpPr>
          <p:cNvPr id="29" name="Etiqueta"/>
          <p:cNvSpPr/>
          <p:nvPr/>
        </p:nvSpPr>
        <p:spPr>
          <a:xfrm>
            <a:off x="8412480" y="52578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1248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coursegen.synapseai.com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Vamos começar o seu teste grátis do CourseGen Studio hoje</a:t>
            </a:r>
            <a:endParaRPr lang="en-US" sz="2200" dirty="0"/>
          </a:p>
        </p:txBody>
      </p:sp>
      <p:pic>
        <p:nvPicPr>
          <p:cNvPr id="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6285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Site institucional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www.synapseai.com</a:t>
            </a:r>
            <a:endParaRPr lang="en-US" sz="1500" dirty="0"/>
          </a:p>
        </p:txBody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0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Documentação do produto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docs.synapseai.com</a:t>
            </a:r>
            <a:endParaRPr lang="en-US" sz="1500" dirty="0"/>
          </a:p>
        </p:txBody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772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5440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Seu contato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440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Nome  ·  Cargo  ·  Contato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Synapse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SynapseAI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para PMEs — CourseGen Studio</dc:title>
  <dc:subject>PptxGenJS Presentation</dc:subject>
  <dc:creator>SynapseAI Solutions</dc:creator>
  <cp:lastModifiedBy>SynapseAI Solutions</cp:lastModifiedBy>
  <cp:revision>1</cp:revision>
  <dcterms:created xsi:type="dcterms:W3CDTF">2026-10-03T05:24:44Z</dcterms:created>
  <dcterms:modified xsi:type="dcterms:W3CDTF">2026-10-03T05:24:44Z</dcterms:modified>
</cp:coreProperties>
</file>