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71L6kKlP+75aKEGPPScJG2iID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130BEE-843B-4F0C-8625-8B27847A297A}">
  <a:tblStyle styleId="{A4130BEE-843B-4F0C-8625-8B27847A297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5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3050"/>
                </a:solidFill>
                <a:latin typeface="+mn-lt"/>
              </a:rPr>
              <a:t>Fluxo por ano contratual (R$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rgbClr val="9AA6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912</c:v>
                </c:pt>
                <c:pt idx="1">
                  <c:v>1183</c:v>
                </c:pt>
                <c:pt idx="2">
                  <c:v>1183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Benefício estimado</c:v>
                </c:pt>
              </c:strCache>
            </c:strRef>
          </c:tx>
          <c:spPr>
            <a:solidFill>
              <a:srgbClr val="2FBF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1094</c:v>
                </c:pt>
                <c:pt idx="1">
                  <c:v>2462</c:v>
                </c:pt>
                <c:pt idx="2">
                  <c:v>2736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Proposta para leads em estágio final. Preencha o nome do cliente, o responsável comercial e a data de validade. Os valores são de referência e devem ser validados pela liderança comercial antes do envio.</a:t>
            </a:r>
            <a:endParaRPr/>
          </a:p>
        </p:txBody>
      </p:sp>
      <p:sp>
        <p:nvSpPr>
          <p:cNvPr id="35" name="Google Shape;3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em 30 segundos e vá direto ao resumo executivo. Em reuniões de fechamento, a decisão costuma estar nos slides de investimento, business case e condições.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Resuma em uma frase: o que vai ser entregue, quanto custa e em quanto tempo se paga. Os três indicadores à direita são calculados com as premissas do slide de business case.</a:t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Substitua os três cards pelas dores reais ouvidas nas reuniões com o cliente. Quanto mais específico, mais forte fica o business case.</a:t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apenas as funcionalidades ligadas às dores do slide anterior.</a:t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o fluxo ponta a ponta e destaque as três garantias: fundamentação nos dados do cliente, rastreabilidade e humano no controle.</a:t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sistemas listados são exemplos típicos; o escopo exato de integração é fechado na PoC. Adapte os satélites aos sistemas reais do cliente.</a:t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Antecipe as perguntas de segurança e privacidade. Ofereça uma sessão técnica com a equipe de InfoSec do cliente.</a:t>
            </a:r>
            <a:endParaRPr/>
          </a:p>
        </p:txBody>
      </p:sp>
      <p:sp>
        <p:nvSpPr>
          <p:cNvPr id="280" name="Google Shape;28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Deixe claro o que está incluído e o que está fora. Itens fora do escopo viram propostas complementares.</a:t>
            </a:r>
            <a:endParaRPr/>
          </a:p>
        </p:txBody>
      </p:sp>
      <p:sp>
        <p:nvSpPr>
          <p:cNvPr id="318" name="Google Shape;3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prazos assumem acesso às fontes e disponibilidade do time do cliente. Calendário e janelas de entrada em produção são alinhados no kick-off.</a:t>
            </a:r>
            <a:endParaRPr/>
          </a:p>
        </p:txBody>
      </p:sp>
      <p:sp>
        <p:nvSpPr>
          <p:cNvPr id="329" name="Google Shape;3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Premissas ilustrativas e conservadoras (adoção de 80% no primeiro ano após o go-live). Valide cada premissa com o cliente e, se possível, substitua pelos números dele. Nunca apresente o retorno como garantia.</a:t>
            </a:r>
            <a:endParaRPr/>
          </a:p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VALORES DE REFERÊNCIA. Âncoras de mercado (jun–set/2026): DAX Copilot entre US$ 369 e 600 por profissional/mês, com taxa de implantação por profissional; Abridge entre ~US$ 2.500/ano e US$ 300–600/mês; Suki ~US$ 299; Freed ~US$ 149. Esses são scribes ambientais; o ClinicaGPT não grava consultas (resumos, protocolos e rascunhos), por isso se posiciona abaixo. Câmbio de referência: R$ 5,22/US$. Equivale a ~R$ 246 por profissional/mês (≈ US$ 47), com licença, plataforma e suporte incluídos. Preço em condição comercial competitiva: confirme margem e alçada de desconto com a liderança antes do envio.</a:t>
            </a:r>
            <a:endParaRPr/>
          </a:p>
        </p:txBody>
      </p:sp>
      <p:sp>
        <p:nvSpPr>
          <p:cNvPr id="403" name="Google Shape;4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pacote Profissional é o recomendado e corresponde ao cenário de referência. Use Essencial como porta de entrada e Enterprise para ampliar escopo e criticidade.</a:t>
            </a:r>
            <a:endParaRPr/>
          </a:p>
        </p:txBody>
      </p:sp>
      <p:sp>
        <p:nvSpPr>
          <p:cNvPr id="422" name="Google Shape;4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Condições e incentivos são sugestões e exigem aprovação da liderança comercial. Valide alçada de desconto antes de oferecer.</a:t>
            </a:r>
            <a:endParaRPr/>
          </a:p>
        </p:txBody>
      </p:sp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ao cliente que nomeie os responsáveis ainda antes da assinatura: isso reduz atrasos de início.</a:t>
            </a:r>
            <a:endParaRPr/>
          </a:p>
        </p:txBody>
      </p:sp>
      <p:sp>
        <p:nvSpPr>
          <p:cNvPr id="525" name="Google Shape;52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riscos de frente aumenta a confiança no fechamento. Complemente com riscos específicos do cliente.</a:t>
            </a:r>
            <a:endParaRPr/>
          </a:p>
        </p:txBody>
      </p:sp>
      <p:sp>
        <p:nvSpPr>
          <p:cNvPr id="569" name="Google Shape;56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Retome os três pontos que mais pesaram nas conversas anteriores.</a:t>
            </a:r>
            <a:endParaRPr/>
          </a:p>
        </p:txBody>
      </p:sp>
      <p:sp>
        <p:nvSpPr>
          <p:cNvPr id="580" name="Google Shape;58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uma data concreta para cada passo. Combine o responsável do cliente por cada etapa antes de encerrar a reunião.</a:t>
            </a:r>
            <a:endParaRPr/>
          </a:p>
        </p:txBody>
      </p:sp>
      <p:sp>
        <p:nvSpPr>
          <p:cNvPr id="617" name="Google Shape;6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Notas comerciais de preço. Âncoras de mercado (jun–set/2026): DAX Copilot entre US$ 369 e 600 por profissional/mês, com taxa de implantação por profissional; Abridge entre ~US$ 2.500/ano e US$ 300–600/mês; Suki ~US$ 299; Freed ~US$ 149. Esses são scribes ambientais; o ClinicaGPT não grava consultas (resumos, protocolos e rascunhos), por isso se posiciona abaixo. Câmbio de referência: R$ 5,22/US$. Equivale a ~R$ 246 por profissional/mês (≈ US$ 47), com licença, plataforma e suporte incluídos. As referências de terceiros são estimativas públicas (jun–set/2026) e podem mudar; confirme antes de usar em negociação. Preços da SynapseAI são de referência e dependem de aprovação.</a:t>
            </a:r>
            <a:endParaRPr/>
          </a:p>
        </p:txBody>
      </p:sp>
      <p:sp>
        <p:nvSpPr>
          <p:cNvPr id="658" name="Google Shape;65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12" name="Google Shape;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B7C8DE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">
  <p:cSld name="TITUL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dark.png" id="17" name="Google Shape;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2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CHAMENTO">
  <p:cSld name="FECHAMEN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2" name="Google Shape;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548640"/>
            <a:ext cx="676656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3"/>
          <p:cNvSpPr/>
          <p:nvPr/>
        </p:nvSpPr>
        <p:spPr>
          <a:xfrm>
            <a:off x="1600200" y="777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3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40"/>
              </a:spcBef>
              <a:spcAft>
                <a:spcPts val="0"/>
              </a:spcAft>
              <a:buClr>
                <a:srgbClr val="B7C8DE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ULO_ESCURO">
  <p:cSld name="TITULO_ESCUR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_white.png" id="28" name="Google Shape;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336792"/>
            <a:ext cx="246888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5"/>
          <p:cNvSpPr/>
          <p:nvPr/>
        </p:nvSpPr>
        <p:spPr>
          <a:xfrm>
            <a:off x="914400" y="6373368"/>
            <a:ext cx="6400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SynapseAI Solutions  ·  Proposta comercial  ·  Confidencial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11" Type="http://schemas.openxmlformats.org/officeDocument/2006/relationships/image" Target="../media/image29.png"/><Relationship Id="rId10" Type="http://schemas.openxmlformats.org/officeDocument/2006/relationships/image" Target="../media/image25.png"/><Relationship Id="rId9" Type="http://schemas.openxmlformats.org/officeDocument/2006/relationships/image" Target="../media/image28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8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Relationship Id="rId7" Type="http://schemas.openxmlformats.org/officeDocument/2006/relationships/image" Target="../media/image40.png"/><Relationship Id="rId8" Type="http://schemas.openxmlformats.org/officeDocument/2006/relationships/image" Target="../media/image4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2.png"/><Relationship Id="rId4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60.png"/><Relationship Id="rId5" Type="http://schemas.openxmlformats.org/officeDocument/2006/relationships/image" Target="../media/image63.png"/><Relationship Id="rId6" Type="http://schemas.openxmlformats.org/officeDocument/2006/relationships/image" Target="../media/image23.png"/><Relationship Id="rId7" Type="http://schemas.openxmlformats.org/officeDocument/2006/relationships/image" Target="../media/image65.png"/><Relationship Id="rId8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png"/><Relationship Id="rId4" Type="http://schemas.openxmlformats.org/officeDocument/2006/relationships/image" Target="../media/image85.png"/><Relationship Id="rId9" Type="http://schemas.openxmlformats.org/officeDocument/2006/relationships/image" Target="../media/image35.png"/><Relationship Id="rId5" Type="http://schemas.openxmlformats.org/officeDocument/2006/relationships/image" Target="../media/image3.png"/><Relationship Id="rId6" Type="http://schemas.openxmlformats.org/officeDocument/2006/relationships/image" Target="../media/image69.png"/><Relationship Id="rId7" Type="http://schemas.openxmlformats.org/officeDocument/2006/relationships/image" Target="../media/image84.png"/><Relationship Id="rId8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80.png"/><Relationship Id="rId5" Type="http://schemas.openxmlformats.org/officeDocument/2006/relationships/image" Target="../media/image15.png"/><Relationship Id="rId6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83.png"/><Relationship Id="rId5" Type="http://schemas.openxmlformats.org/officeDocument/2006/relationships/image" Target="../media/image23.png"/><Relationship Id="rId6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2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/>
          <p:nvPr/>
        </p:nvSpPr>
        <p:spPr>
          <a:xfrm>
            <a:off x="731520" y="1463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PROPOSTA COMERCIAL · SAÚDE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>
            <p:ph type="title"/>
          </p:nvPr>
        </p:nvSpPr>
        <p:spPr>
          <a:xfrm>
            <a:off x="731520" y="187452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lt1"/>
                </a:solidFill>
              </a:rPr>
              <a:t>Proposta comercial: ClinicaGPT</a:t>
            </a:r>
            <a:endParaRPr sz="4200"/>
          </a:p>
        </p:txBody>
      </p:sp>
      <p:sp>
        <p:nvSpPr>
          <p:cNvPr id="39" name="Google Shape;39;p1"/>
          <p:cNvSpPr txBox="1"/>
          <p:nvPr>
            <p:ph idx="1" type="body"/>
          </p:nvPr>
        </p:nvSpPr>
        <p:spPr>
          <a:xfrm>
            <a:off x="731520" y="402336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000"/>
              <a:buNone/>
            </a:pPr>
            <a:r>
              <a:rPr lang="en-US" sz="2000">
                <a:solidFill>
                  <a:srgbClr val="B7C8DE"/>
                </a:solidFill>
              </a:rPr>
              <a:t> Assistente Clínico de Apoio à Decisão</a:t>
            </a:r>
            <a:endParaRPr sz="2000"/>
          </a:p>
        </p:txBody>
      </p:sp>
      <p:pic>
        <p:nvPicPr>
          <p:cNvPr descr="assets/sym_clinicagpt.png"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0" y="1188720"/>
            <a:ext cx="1737360" cy="1737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CONTEÚDO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esta proposta contém</a:t>
            </a:r>
            <a:endParaRPr sz="3600"/>
          </a:p>
        </p:txBody>
      </p:sp>
      <p:sp>
        <p:nvSpPr>
          <p:cNvPr id="48" name="Google Shape;48;p2"/>
          <p:cNvSpPr/>
          <p:nvPr/>
        </p:nvSpPr>
        <p:spPr>
          <a:xfrm>
            <a:off x="548640" y="16459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731520" y="17647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731520" y="17647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1508760" y="17556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Resumo e desafio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508760" y="20848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 que ouvimos e o objetivo do projeto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25603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31520" y="26791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 txBox="1"/>
          <p:nvPr/>
        </p:nvSpPr>
        <p:spPr>
          <a:xfrm>
            <a:off x="731520" y="26791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508760" y="2670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solução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508760" y="29992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Como funciona, arquitetura e segurança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34747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31520" y="35935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31520" y="35935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08760" y="35844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 e cronograma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508760" y="39136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Fases, entregáveis e governança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" y="43891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731520" y="45079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731520" y="45079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508760" y="44988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 e business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508760" y="48280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Valores, pacotes e retorno estimado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48640" y="5303520"/>
            <a:ext cx="6583680" cy="804672"/>
          </a:xfrm>
          <a:prstGeom prst="roundRect">
            <a:avLst>
              <a:gd fmla="val 1590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31520" y="5422392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731520" y="542239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1508760" y="54132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Condições e próximos passos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508760" y="57424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SLAs, condições comerciais e assinatura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589520" y="1645920"/>
            <a:ext cx="4050792" cy="4462272"/>
          </a:xfrm>
          <a:prstGeom prst="roundRect">
            <a:avLst>
              <a:gd fmla="val 4063" name="adj"/>
            </a:avLst>
          </a:prstGeom>
          <a:solidFill>
            <a:srgbClr val="E0F6EE"/>
          </a:solidFill>
          <a:ln cap="flat" cmpd="sng" w="12700">
            <a:solidFill>
              <a:srgbClr val="E0F6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clinicagpt.png"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196596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7589520" y="4343400"/>
            <a:ext cx="4050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ClinicaGPT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7818120" y="4846320"/>
            <a:ext cx="3593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Assistente Clínico de Apoio à Decisão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909560" y="5532120"/>
            <a:ext cx="3410712" cy="329184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7909560" y="5532120"/>
            <a:ext cx="3410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Cenário de referência: 400 profissionais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RESUMO EXECUTIVO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Resumo da proposta</a:t>
            </a:r>
            <a:endParaRPr sz="3600"/>
          </a:p>
        </p:txBody>
      </p:sp>
      <p:sp>
        <p:nvSpPr>
          <p:cNvPr id="87" name="Google Shape;87;p3"/>
          <p:cNvSpPr txBox="1"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Devolver tempo ao cuidado, organizando informações e protocolos com segurança, sem diagnóstico ou prescrição e com decisão sempre do profissional.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85216" y="332841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347014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371600" y="32461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Escopo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371600" y="355701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Até 400 profissionais, PEP, exames e 200 protocolos, pseudonimização, console hospitalar, auditoria clínica, plano de contingência.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85216" y="4288536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48" y="44302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 txBox="1"/>
          <p:nvPr/>
        </p:nvSpPr>
        <p:spPr>
          <a:xfrm>
            <a:off x="1371600" y="420624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1371600" y="451713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Implantação de R$ 320 mil e recorrente de R$ 1,18 mi por ano a partir do go-live.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85216" y="524865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" y="539038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1371600" y="516636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371600" y="5477256"/>
            <a:ext cx="5577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Prova de conceito e implantação com go-live em cerca de 26 semanas.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269480" y="169164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7498080" y="169164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R$ 912 mil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9601200" y="169164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investimento no 1º ano contratual (implantação + recorrente a partir do go-live)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269480" y="320040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7498080" y="320040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10 meses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601200" y="320040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estimado a partir da assinatura, com premissas conservadoras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269480" y="4709160"/>
            <a:ext cx="4370832" cy="1325880"/>
          </a:xfrm>
          <a:prstGeom prst="roundRect">
            <a:avLst>
              <a:gd fmla="val 11034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7498080" y="470916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26 semanas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9601200" y="4709160"/>
            <a:ext cx="19202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o go-live, após descoberta, PoC, integração e homologação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ENTENDIMENTO DO DESAFIO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O que ouvimos do seu time</a:t>
            </a:r>
            <a:endParaRPr sz="3600"/>
          </a:p>
        </p:txBody>
      </p:sp>
      <p:sp>
        <p:nvSpPr>
          <p:cNvPr id="117" name="Google Shape;117;p4"/>
          <p:cNvSpPr/>
          <p:nvPr/>
        </p:nvSpPr>
        <p:spPr>
          <a:xfrm>
            <a:off x="54864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Carga administrativa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2296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Parte relevante do tempo clínico vai para registros, buscas e documentação.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29768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Informação dispersa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57200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Evoluções, exames e registros ficam em telas e sistemas diferentes.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046720" y="1691640"/>
            <a:ext cx="3593592" cy="3017520"/>
          </a:xfrm>
          <a:prstGeom prst="roundRect">
            <a:avLst>
              <a:gd fmla="val 424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 txBox="1"/>
          <p:nvPr/>
        </p:nvSpPr>
        <p:spPr>
          <a:xfrm>
            <a:off x="8321040" y="1828800"/>
            <a:ext cx="137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Protocolos extensos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321040" y="3200400"/>
            <a:ext cx="30632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Consultar diretrizes e protocolos na rotina assistencial é lento.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fmla="val 11667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" y="53721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828800" y="51389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OBJETIVO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828800" y="5440680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Devolver tempo ao cuidado, organizando informações e protocolos com segurança, sem diagnóstico ou prescrição e com decisão sempre do profissional.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 SOLUÇÃO · SAÚDE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ClinicaGPT: o que você recebe</a:t>
            </a:r>
            <a:endParaRPr sz="3600"/>
          </a:p>
        </p:txBody>
      </p:sp>
      <p:sp>
        <p:nvSpPr>
          <p:cNvPr id="142" name="Google Shape;142;p5"/>
          <p:cNvSpPr/>
          <p:nvPr/>
        </p:nvSpPr>
        <p:spPr>
          <a:xfrm>
            <a:off x="548640" y="1645920"/>
            <a:ext cx="3749040" cy="4526280"/>
          </a:xfrm>
          <a:prstGeom prst="roundRect">
            <a:avLst>
              <a:gd fmla="val 4390" name="adj"/>
            </a:avLst>
          </a:prstGeom>
          <a:solidFill>
            <a:srgbClr val="E0F6EE"/>
          </a:solidFill>
          <a:ln cap="flat" cmpd="sng" w="12700">
            <a:solidFill>
              <a:srgbClr val="E0F6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clinicagpt.png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92024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731520" y="41148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ClinicaGPT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22960" y="46177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Assistente Clínico de Apoio à Decisão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1463040" y="5257800"/>
            <a:ext cx="1920240" cy="31089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463040" y="5257800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Saúde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31520" y="56692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clinicagpt.synapseai.com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663440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892040" y="1920240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3772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5577840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Pensado para saúde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92040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Guardrails clínicos rigorosos e limites explícitos de uso.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266176" y="164592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8494776" y="1920240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6508" y="2061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9180576" y="1874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Privacidade reforçada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8494776" y="260604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Pseudonimização e suporte sem acesso a dados de pacientes.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663440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892040" y="3886200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3772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5577840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Auditável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892040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Logs clínicos e monitoramento de risco de uso.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266176" y="3611880"/>
            <a:ext cx="3374136" cy="1783080"/>
          </a:xfrm>
          <a:prstGeom prst="roundRect">
            <a:avLst>
              <a:gd fmla="val 7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8494776" y="3886200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36508" y="402793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9180576" y="384048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Operação 24/7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8494776" y="457200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SLA hospitalar com plantão e gestão de incidentes.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663440" y="5623560"/>
            <a:ext cx="6976872" cy="548640"/>
          </a:xfrm>
          <a:prstGeom prst="roundRect">
            <a:avLst>
              <a:gd fmla="val 2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4663440" y="5623560"/>
            <a:ext cx="6976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Apoio à decisão: a decisão final é sempre do profissional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dado ao resultado, em cinco etapas</a:t>
            </a:r>
            <a:endParaRPr sz="3600"/>
          </a:p>
        </p:txBody>
      </p:sp>
      <p:sp>
        <p:nvSpPr>
          <p:cNvPr id="179" name="Google Shape;179;p6"/>
          <p:cNvSpPr/>
          <p:nvPr/>
        </p:nvSpPr>
        <p:spPr>
          <a:xfrm>
            <a:off x="548640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713232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234440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658368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Conectar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85800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PEP, exames e base de protocolos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6"/>
          <p:cNvCxnSpPr/>
          <p:nvPr/>
        </p:nvCxnSpPr>
        <p:spPr>
          <a:xfrm>
            <a:off x="2679192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6"/>
          <p:cNvSpPr/>
          <p:nvPr/>
        </p:nvSpPr>
        <p:spPr>
          <a:xfrm>
            <a:off x="2798064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2962656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483864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6744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/>
          <p:nvPr/>
        </p:nvSpPr>
        <p:spPr>
          <a:xfrm>
            <a:off x="2907792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Verificar acesso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2935224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Papel, unidade e vínculo assistencial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6"/>
          <p:cNvCxnSpPr/>
          <p:nvPr/>
        </p:nvCxnSpPr>
        <p:spPr>
          <a:xfrm>
            <a:off x="4928616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6"/>
          <p:cNvSpPr/>
          <p:nvPr/>
        </p:nvSpPr>
        <p:spPr>
          <a:xfrm>
            <a:off x="5047488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5212080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733288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6168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5157216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Resumir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5184648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Linha do tempo com fontes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6"/>
          <p:cNvCxnSpPr/>
          <p:nvPr/>
        </p:nvCxnSpPr>
        <p:spPr>
          <a:xfrm>
            <a:off x="7178040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0" name="Google Shape;200;p6"/>
          <p:cNvSpPr/>
          <p:nvPr/>
        </p:nvSpPr>
        <p:spPr>
          <a:xfrm>
            <a:off x="7296912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7461504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982712" y="2011680"/>
            <a:ext cx="731520" cy="73152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5592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 txBox="1"/>
          <p:nvPr/>
        </p:nvSpPr>
        <p:spPr>
          <a:xfrm>
            <a:off x="7406640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Aplicar guardrails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434072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Sem diagnóstico, sem prescrição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9427464" y="2377440"/>
            <a:ext cx="109728" cy="0"/>
          </a:xfrm>
          <a:prstGeom prst="straightConnector1">
            <a:avLst/>
          </a:prstGeom>
          <a:noFill/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6"/>
          <p:cNvSpPr/>
          <p:nvPr/>
        </p:nvSpPr>
        <p:spPr>
          <a:xfrm>
            <a:off x="9546336" y="1691640"/>
            <a:ext cx="2103120" cy="2606040"/>
          </a:xfrm>
          <a:prstGeom prst="roundRect">
            <a:avLst>
              <a:gd fmla="val 60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9710928" y="18013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10232136" y="2011680"/>
            <a:ext cx="731520" cy="73152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15016" y="2194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 txBox="1"/>
          <p:nvPr/>
        </p:nvSpPr>
        <p:spPr>
          <a:xfrm>
            <a:off x="9656064" y="2880360"/>
            <a:ext cx="1883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Revisar e assinar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9683496" y="327355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Rascunho aprovado pelo profissional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864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786384" y="5010912"/>
            <a:ext cx="621792" cy="621792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183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160020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Não diagnostica e não prescreve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29768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535424" y="5010912"/>
            <a:ext cx="621792" cy="621792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087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/>
        </p:nvSpPr>
        <p:spPr>
          <a:xfrm>
            <a:off x="534924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Acesso por papel, unidade e vínculo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046720" y="4572000"/>
            <a:ext cx="3593592" cy="1508760"/>
          </a:xfrm>
          <a:prstGeom prst="roundRect">
            <a:avLst>
              <a:gd fmla="val 8485" name="adj"/>
            </a:avLst>
          </a:prstGeom>
          <a:solidFill>
            <a:srgbClr val="F2F4F7"/>
          </a:solidFill>
          <a:ln cap="flat" cmpd="sng" w="95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284464" y="5010912"/>
            <a:ext cx="621792" cy="621792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9912" y="5166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 txBox="1"/>
          <p:nvPr/>
        </p:nvSpPr>
        <p:spPr>
          <a:xfrm>
            <a:off x="9098280" y="4572000"/>
            <a:ext cx="24231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Todo resumo é um rascunho revisável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ARQUITETURA E INTEGRAÇÕES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Integra com o seu ecossistema</a:t>
            </a:r>
            <a:endParaRPr sz="3600"/>
          </a:p>
        </p:txBody>
      </p:sp>
      <p:cxnSp>
        <p:nvCxnSpPr>
          <p:cNvPr id="233" name="Google Shape;233;p7"/>
          <p:cNvCxnSpPr/>
          <p:nvPr/>
        </p:nvCxnSpPr>
        <p:spPr>
          <a:xfrm>
            <a:off x="6095848" y="20848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7"/>
          <p:cNvCxnSpPr/>
          <p:nvPr/>
        </p:nvCxnSpPr>
        <p:spPr>
          <a:xfrm flipH="1" rot="10800000">
            <a:off x="6095848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7"/>
          <p:cNvCxnSpPr/>
          <p:nvPr/>
        </p:nvCxnSpPr>
        <p:spPr>
          <a:xfrm>
            <a:off x="609584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7"/>
          <p:cNvCxnSpPr/>
          <p:nvPr/>
        </p:nvCxnSpPr>
        <p:spPr>
          <a:xfrm>
            <a:off x="6095848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7"/>
          <p:cNvCxnSpPr/>
          <p:nvPr/>
        </p:nvCxnSpPr>
        <p:spPr>
          <a:xfrm>
            <a:off x="6095848" y="3913632"/>
            <a:ext cx="0" cy="182880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7"/>
          <p:cNvCxnSpPr/>
          <p:nvPr/>
        </p:nvCxnSpPr>
        <p:spPr>
          <a:xfrm flipH="1" rot="10800000">
            <a:off x="3153916" y="3913632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7"/>
          <p:cNvCxnSpPr/>
          <p:nvPr/>
        </p:nvCxnSpPr>
        <p:spPr>
          <a:xfrm>
            <a:off x="1935328" y="3913632"/>
            <a:ext cx="4160520" cy="0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7"/>
          <p:cNvCxnSpPr/>
          <p:nvPr/>
        </p:nvCxnSpPr>
        <p:spPr>
          <a:xfrm>
            <a:off x="3153916" y="2620475"/>
            <a:ext cx="2941932" cy="1293157"/>
          </a:xfrm>
          <a:prstGeom prst="straightConnector1">
            <a:avLst/>
          </a:prstGeom>
          <a:noFill/>
          <a:ln cap="flat" cmpd="sng" w="190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7"/>
          <p:cNvSpPr/>
          <p:nvPr/>
        </p:nvSpPr>
        <p:spPr>
          <a:xfrm>
            <a:off x="4861408" y="2679192"/>
            <a:ext cx="2468880" cy="2468880"/>
          </a:xfrm>
          <a:prstGeom prst="ellipse">
            <a:avLst/>
          </a:prstGeom>
          <a:solidFill>
            <a:schemeClr val="dk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ym_clinicagpt.png"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648" y="2953512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7"/>
          <p:cNvSpPr txBox="1"/>
          <p:nvPr/>
        </p:nvSpPr>
        <p:spPr>
          <a:xfrm>
            <a:off x="4998568" y="3959352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ClinicaGPT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SynapseAI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907128" y="17465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044288" y="18562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8588" y="19705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7"/>
          <p:cNvSpPr txBox="1"/>
          <p:nvPr/>
        </p:nvSpPr>
        <p:spPr>
          <a:xfrm>
            <a:off x="5620360" y="17465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Prontuário eletrônico (PEP)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7849060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986220" y="2391875"/>
            <a:ext cx="457200" cy="4572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0520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 txBox="1"/>
          <p:nvPr/>
        </p:nvSpPr>
        <p:spPr>
          <a:xfrm>
            <a:off x="8562292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Laboratório e exames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906764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920480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910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 txBox="1"/>
          <p:nvPr/>
        </p:nvSpPr>
        <p:spPr>
          <a:xfrm>
            <a:off x="978088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Base de protocolos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849060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986220" y="4978189"/>
            <a:ext cx="457200" cy="4572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8" name="Google Shape;25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0520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 txBox="1"/>
          <p:nvPr/>
        </p:nvSpPr>
        <p:spPr>
          <a:xfrm>
            <a:off x="8562292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SSO / provedor de identidade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907128" y="54041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5044288" y="55138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8588" y="56281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5620360" y="54041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Barramento (HL7 FHIR, conforme PEP)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1965196" y="4868461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2102356" y="4978189"/>
            <a:ext cx="457200" cy="4572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6" name="Google Shape;26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16656" y="509248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 txBox="1"/>
          <p:nvPr/>
        </p:nvSpPr>
        <p:spPr>
          <a:xfrm>
            <a:off x="2678428" y="4868461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SIEM e auditoria clínica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746608" y="3575304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883768" y="3685032"/>
            <a:ext cx="457200" cy="4572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8068" y="379933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 txBox="1"/>
          <p:nvPr/>
        </p:nvSpPr>
        <p:spPr>
          <a:xfrm>
            <a:off x="1459840" y="3575304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965196" y="2282147"/>
            <a:ext cx="2377440" cy="676656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2102356" y="2391875"/>
            <a:ext cx="457200" cy="45720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16656" y="25061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 txBox="1"/>
          <p:nvPr/>
        </p:nvSpPr>
        <p:spPr>
          <a:xfrm>
            <a:off x="2678428" y="2282147"/>
            <a:ext cx="155448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Cofre de credenciais e KMS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SEGURANÇA E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Segurança e conformidade</a:t>
            </a:r>
            <a:endParaRPr sz="3600"/>
          </a:p>
        </p:txBody>
      </p:sp>
      <p:sp>
        <p:nvSpPr>
          <p:cNvPr id="284" name="Google Shape;284;p8"/>
          <p:cNvSpPr/>
          <p:nvPr/>
        </p:nvSpPr>
        <p:spPr>
          <a:xfrm>
            <a:off x="54864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8"/>
          <p:cNvSpPr txBox="1"/>
          <p:nvPr/>
        </p:nvSpPr>
        <p:spPr>
          <a:xfrm>
            <a:off x="164592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Isolamento por hospital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82296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Índices, dados e chaves exclusivos do seu tenant.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29768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2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 txBox="1"/>
          <p:nvPr/>
        </p:nvSpPr>
        <p:spPr>
          <a:xfrm>
            <a:off x="539496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Criptografia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 txBox="1"/>
          <p:nvPr/>
        </p:nvSpPr>
        <p:spPr>
          <a:xfrm>
            <a:off x="457200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Em trânsito e em repouso, com chaves por cliente.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046720" y="169164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10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 txBox="1"/>
          <p:nvPr/>
        </p:nvSpPr>
        <p:spPr>
          <a:xfrm>
            <a:off x="9144000" y="196596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Acesso por papel e unidade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 txBox="1"/>
          <p:nvPr/>
        </p:nvSpPr>
        <p:spPr>
          <a:xfrm>
            <a:off x="8321040" y="278892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Vínculo assistencial verificado antes de qualquer consulta.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4864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98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8"/>
          <p:cNvSpPr txBox="1"/>
          <p:nvPr/>
        </p:nvSpPr>
        <p:spPr>
          <a:xfrm>
            <a:off x="164592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Pseudonimização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82296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Identificadores protegidos em observabilidade e auditoria.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29768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572000" y="416052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202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8"/>
          <p:cNvSpPr txBox="1"/>
          <p:nvPr/>
        </p:nvSpPr>
        <p:spPr>
          <a:xfrm>
            <a:off x="539496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Logs clínicos auditáveis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457200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Acessos, solicitações e bloqueios registrados.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8046720" y="3886200"/>
            <a:ext cx="3593592" cy="2011680"/>
          </a:xfrm>
          <a:prstGeom prst="roundRect">
            <a:avLst>
              <a:gd fmla="val 6364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8321040" y="4160520"/>
            <a:ext cx="640080" cy="64008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1060" y="43205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LGPD e HIPAA-like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8321040" y="4983480"/>
            <a:ext cx="3063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Princípios da LGPD e padrões equivalentes a HIPAA.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ESCOPO DA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Escopo, fases e entregáveis</a:t>
            </a:r>
            <a:endParaRPr sz="3600"/>
          </a:p>
        </p:txBody>
      </p:sp>
      <p:graphicFrame>
        <p:nvGraphicFramePr>
          <p:cNvPr id="322" name="Google Shape;322;p9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{A4130BEE-843B-4F0C-8625-8B27847A297A}</a:tableStyleId>
              </a:tblPr>
              <a:tblGrid>
                <a:gridCol w="2286000"/>
                <a:gridCol w="5394950"/>
                <a:gridCol w="2194550"/>
                <a:gridCol w="12189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Fase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Entregáveis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Responsáveis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Duração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0 · Prova de conceito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 unidade assistencial; 60 profissionais; PEP e laboratório em leitura; 20 protocolos; relatório de resultados da PoC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Informática em saúde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8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1 · Implantação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Até 400 profissionais; PEP, exames e 200 protocolos; pseudonimização; console hospitalar; auditoria clínica; contingência; treinamento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SynapseAI + TI hospitalar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17 semanas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60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Fase 2 · Operação assistida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Monitoramento de disponibilidade e qualidade, revisão de guardrails, relatório mensal e comitê de 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90 dias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9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fmla="val 17500" name="adj"/>
            </a:avLst>
          </a:prstGeom>
          <a:solidFill>
            <a:srgbClr val="F2F4F7"/>
          </a:solidFill>
          <a:ln cap="flat" cmpd="sng" w="127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Premissas do cenário de referência: 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400 profissionais · PEP + exames + protocolos · SLA hospitalar. Itens fora do escopo (integrações adicionais, customizações e ambientes extras) são orçados à parte.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Cronograma até o go-live e a operação</a:t>
            </a:r>
            <a:endParaRPr sz="3600"/>
          </a:p>
        </p:txBody>
      </p:sp>
      <p:cxnSp>
        <p:nvCxnSpPr>
          <p:cNvPr id="333" name="Google Shape;333;p10"/>
          <p:cNvCxnSpPr/>
          <p:nvPr/>
        </p:nvCxnSpPr>
        <p:spPr>
          <a:xfrm>
            <a:off x="914400" y="3822192"/>
            <a:ext cx="10360152" cy="0"/>
          </a:xfrm>
          <a:prstGeom prst="straightConnector1">
            <a:avLst/>
          </a:prstGeom>
          <a:noFill/>
          <a:ln cap="flat" cmpd="sng" w="31750">
            <a:solidFill>
              <a:srgbClr val="9FB3C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0"/>
          <p:cNvSpPr/>
          <p:nvPr/>
        </p:nvSpPr>
        <p:spPr>
          <a:xfrm>
            <a:off x="97840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5" name="Google Shape;3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00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0"/>
          <p:cNvSpPr txBox="1"/>
          <p:nvPr/>
        </p:nvSpPr>
        <p:spPr>
          <a:xfrm>
            <a:off x="502920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1–3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84632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594360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Descoberta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594360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Requisitos, fontes e critérios de sucesso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2871216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1" name="Google Shape;34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7812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0"/>
          <p:cNvSpPr txBox="1"/>
          <p:nvPr/>
        </p:nvSpPr>
        <p:spPr>
          <a:xfrm>
            <a:off x="2395728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4–11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2377440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2487168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Prova de conceito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2487168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8 semanas com dados do 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764024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0620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0"/>
          <p:cNvSpPr txBox="1"/>
          <p:nvPr/>
        </p:nvSpPr>
        <p:spPr>
          <a:xfrm>
            <a:off x="4288536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12–20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270248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 txBox="1"/>
          <p:nvPr/>
        </p:nvSpPr>
        <p:spPr>
          <a:xfrm>
            <a:off x="4379976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4379976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Conectores, perfis e guardrails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6656832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3428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 txBox="1"/>
          <p:nvPr/>
        </p:nvSpPr>
        <p:spPr>
          <a:xfrm>
            <a:off x="6181344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21–25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163056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6272784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Homologação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6272784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Qualidade, segurança e carga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8549640" y="3429000"/>
            <a:ext cx="786384" cy="786384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46236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 txBox="1"/>
          <p:nvPr/>
        </p:nvSpPr>
        <p:spPr>
          <a:xfrm>
            <a:off x="8074152" y="324612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055864" y="17830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8165592" y="18928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Go-live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8165592" y="24048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Entrada em produção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0442448" y="3429000"/>
            <a:ext cx="786384" cy="78638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39044" y="3625596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0"/>
          <p:cNvSpPr txBox="1"/>
          <p:nvPr/>
        </p:nvSpPr>
        <p:spPr>
          <a:xfrm>
            <a:off x="9966960" y="429768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Sem. 27–39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9948672" y="4526280"/>
            <a:ext cx="1773936" cy="1463040"/>
          </a:xfrm>
          <a:prstGeom prst="roundRect">
            <a:avLst>
              <a:gd fmla="val 875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10058400" y="4636008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Operação assistida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10058400" y="5148072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 e melhoria contínua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BUSINESS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Retorno estimado do investimento</a:t>
            </a:r>
            <a:endParaRPr sz="3600"/>
          </a:p>
        </p:txBody>
      </p:sp>
      <p:sp>
        <p:nvSpPr>
          <p:cNvPr id="378" name="Google Shape;378;p11"/>
          <p:cNvSpPr/>
          <p:nvPr/>
        </p:nvSpPr>
        <p:spPr>
          <a:xfrm>
            <a:off x="548640" y="1691640"/>
            <a:ext cx="4754880" cy="3063240"/>
          </a:xfrm>
          <a:prstGeom prst="roundRect">
            <a:avLst>
              <a:gd fmla="val 417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822960" y="1828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PREMISSAS (EDITÁVEIS)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822960" y="22402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Profissionais usuários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3657600" y="22402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Horas liberadas por profissional/mês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3657600" y="26974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 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 txBox="1"/>
          <p:nvPr/>
        </p:nvSpPr>
        <p:spPr>
          <a:xfrm>
            <a:off x="822960" y="3154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Custo-hora médio carregado (equipe mista)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 txBox="1"/>
          <p:nvPr/>
        </p:nvSpPr>
        <p:spPr>
          <a:xfrm>
            <a:off x="3657600" y="31546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R$ 95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822960" y="3611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Adoção no 1º ano pós go-live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3657600" y="361188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548640" y="4937760"/>
            <a:ext cx="4754880" cy="1143000"/>
          </a:xfrm>
          <a:prstGeom prst="roundRect">
            <a:avLst>
              <a:gd fmla="val 112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 txBox="1"/>
          <p:nvPr/>
        </p:nvSpPr>
        <p:spPr>
          <a:xfrm>
            <a:off x="822960" y="504748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BENEFÍCIO ANUAL ESTIMADO (ADOÇÃO PLENA)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 txBox="1"/>
          <p:nvPr/>
        </p:nvSpPr>
        <p:spPr>
          <a:xfrm>
            <a:off x="822960" y="534924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R$ 2,74 mi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1" name="Google Shape;391;p11"/>
          <p:cNvGraphicFramePr/>
          <p:nvPr/>
        </p:nvGraphicFramePr>
        <p:xfrm>
          <a:off x="5577840" y="1645920"/>
          <a:ext cx="6080760" cy="3611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92" name="Google Shape;392;p11"/>
          <p:cNvSpPr/>
          <p:nvPr/>
        </p:nvSpPr>
        <p:spPr>
          <a:xfrm>
            <a:off x="557784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rgbClr val="0E7C89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576072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meses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717804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payback a partir da assinatura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686800" y="5394960"/>
            <a:ext cx="2971800" cy="713232"/>
          </a:xfrm>
          <a:prstGeom prst="roundRect">
            <a:avLst>
              <a:gd fmla="val 17949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 txBox="1"/>
          <p:nvPr/>
        </p:nvSpPr>
        <p:spPr>
          <a:xfrm>
            <a:off x="8869680" y="5394960"/>
            <a:ext cx="1417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R$ 3,02 mi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10287000" y="5394960"/>
            <a:ext cx="13258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resultado líquido em 36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548640" y="6126480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Estimativa baseada em premissas informadas; não constitui garantia de resultado. 400 profissionais × 6 h/mês × R$ 95/h × 12 meses.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1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INVESTIMENTO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Investimento: pacote recomendado</a:t>
            </a:r>
            <a:endParaRPr sz="3600"/>
          </a:p>
        </p:txBody>
      </p:sp>
      <p:graphicFrame>
        <p:nvGraphicFramePr>
          <p:cNvPr id="407" name="Google Shape;407;p12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{A4130BEE-843B-4F0C-8625-8B27847A297A}</a:tableStyleId>
              </a:tblPr>
              <a:tblGrid>
                <a:gridCol w="2011675"/>
                <a:gridCol w="4846325"/>
                <a:gridCol w="2743200"/>
                <a:gridCol w="14932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Item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O que inclui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Modelo de cobrança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Valor (R$)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Prova de conceito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8 semanas · 1 unidade assistencial · 60 profissionais · PEP e laboratório (leitura)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crédito integral na implantação se contratada em até 60 dias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R$ 90.000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Implantação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Até 400 profissionais, PEP, exames e 200 protocolos, pseudonimização, console hospitalar, auditoria clínica, plano de contingência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Pontual · 40% assinatura, 40% homologação, 20%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R$ 320.000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Licença de 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400 profissionals × R$ 185/mês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R$ 888.000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Plataforma gerenciada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Hospedagem isolada, guardrails, observabilidade de IA, atualizações e Customer Success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R$ 230.000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Suporte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SLA hospitalar com operação 24/7, gestão de incidentes e sala de guerra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Anual, a partir do go-live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R$ 65.000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Consumo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Inclui até 120.000 solicitações por mês; excedente de R$ 0,60 por solicitação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Incluso até o limite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</a:rPr>
                        <a:t>Incluso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08" name="Google Shape;408;p12"/>
          <p:cNvSpPr/>
          <p:nvPr/>
        </p:nvSpPr>
        <p:spPr>
          <a:xfrm>
            <a:off x="54864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 txBox="1"/>
          <p:nvPr/>
        </p:nvSpPr>
        <p:spPr>
          <a:xfrm>
            <a:off x="77724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IMPLANTAÇÃO (PONTUAL)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77724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R$ 320.000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29768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 txBox="1"/>
          <p:nvPr/>
        </p:nvSpPr>
        <p:spPr>
          <a:xfrm>
            <a:off x="452628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RECORRENTE ANUAL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452628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R$ 1.183.000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8046720" y="5349240"/>
            <a:ext cx="3593592" cy="777240"/>
          </a:xfrm>
          <a:prstGeom prst="roundRect">
            <a:avLst>
              <a:gd fmla="val 16471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8275320" y="5413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INVESTIMENTO EM 36 MESES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8275320" y="5650992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R$ 3.277.500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548640" y="6144768"/>
            <a:ext cx="11064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Equivale a ~R$ 246 por profissional/mês (≈ US$ 47), com licença, plataforma e suporte incluídos. Valores em R$, sem impostos; proposta de referência, sujeita a aprovação comercial.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OPÇÕES DE CONTRATAÇÃO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Três pacotes para decidir</a:t>
            </a:r>
            <a:endParaRPr sz="3600"/>
          </a:p>
        </p:txBody>
      </p:sp>
      <p:sp>
        <p:nvSpPr>
          <p:cNvPr id="426" name="Google Shape;426;p13"/>
          <p:cNvSpPr/>
          <p:nvPr/>
        </p:nvSpPr>
        <p:spPr>
          <a:xfrm>
            <a:off x="54864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 txBox="1"/>
          <p:nvPr/>
        </p:nvSpPr>
        <p:spPr>
          <a:xfrm>
            <a:off x="82296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Essencial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82296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Unidade ou clínica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82296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R$ 582 mil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 txBox="1"/>
          <p:nvPr/>
        </p:nvSpPr>
        <p:spPr>
          <a:xfrm>
            <a:off x="82296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R$ 176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1" name="Google Shape;43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3"/>
          <p:cNvSpPr txBox="1"/>
          <p:nvPr/>
        </p:nvSpPr>
        <p:spPr>
          <a:xfrm>
            <a:off x="111556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200 profissionais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3"/>
          <p:cNvSpPr txBox="1"/>
          <p:nvPr/>
        </p:nvSpPr>
        <p:spPr>
          <a:xfrm>
            <a:off x="111556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unidade ou área assistencial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5" name="Google Shape;4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13"/>
          <p:cNvSpPr txBox="1"/>
          <p:nvPr/>
        </p:nvSpPr>
        <p:spPr>
          <a:xfrm>
            <a:off x="111556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PEP e laboratório (leitura)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3"/>
          <p:cNvSpPr txBox="1"/>
          <p:nvPr/>
        </p:nvSpPr>
        <p:spPr>
          <a:xfrm>
            <a:off x="111556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Suporte em horário comercial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9" name="Google Shape;4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3"/>
          <p:cNvSpPr txBox="1"/>
          <p:nvPr/>
        </p:nvSpPr>
        <p:spPr>
          <a:xfrm>
            <a:off x="111556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60 protocolos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429768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dk2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5440680" y="1554480"/>
            <a:ext cx="1325880" cy="27432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 txBox="1"/>
          <p:nvPr/>
        </p:nvSpPr>
        <p:spPr>
          <a:xfrm>
            <a:off x="5440680" y="155448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RECOMENDADO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 txBox="1"/>
          <p:nvPr/>
        </p:nvSpPr>
        <p:spPr>
          <a:xfrm>
            <a:off x="457200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Profissional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457200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Hospital de médio e grande porte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 txBox="1"/>
          <p:nvPr/>
        </p:nvSpPr>
        <p:spPr>
          <a:xfrm>
            <a:off x="457200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R$ 1,18 mi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 txBox="1"/>
          <p:nvPr/>
        </p:nvSpPr>
        <p:spPr>
          <a:xfrm>
            <a:off x="457200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R$ 320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8" name="Google Shape;44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3"/>
          <p:cNvSpPr txBox="1"/>
          <p:nvPr/>
        </p:nvSpPr>
        <p:spPr>
          <a:xfrm>
            <a:off x="486460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400 profissionais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0" name="Google Shape;45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3"/>
          <p:cNvSpPr txBox="1"/>
          <p:nvPr/>
        </p:nvSpPr>
        <p:spPr>
          <a:xfrm>
            <a:off x="486460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PEP, exames e protocolos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3"/>
          <p:cNvSpPr txBox="1"/>
          <p:nvPr/>
        </p:nvSpPr>
        <p:spPr>
          <a:xfrm>
            <a:off x="486460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Console hospitalar e auditoria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3"/>
          <p:cNvSpPr txBox="1"/>
          <p:nvPr/>
        </p:nvSpPr>
        <p:spPr>
          <a:xfrm>
            <a:off x="486460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SLA hospitalar 24/7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6" name="Google Shape;4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3"/>
          <p:cNvSpPr txBox="1"/>
          <p:nvPr/>
        </p:nvSpPr>
        <p:spPr>
          <a:xfrm>
            <a:off x="486460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Até 200 protocolos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8046720" y="1691640"/>
            <a:ext cx="3593592" cy="4434840"/>
          </a:xfrm>
          <a:prstGeom prst="roundRect">
            <a:avLst>
              <a:gd fmla="val 4580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 txBox="1"/>
          <p:nvPr/>
        </p:nvSpPr>
        <p:spPr>
          <a:xfrm>
            <a:off x="8321040" y="1938528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8321040" y="237744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Rede hospitalar multiunidade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8321040" y="2743200"/>
            <a:ext cx="3063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R$ 1,81 mi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8321040" y="3273552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por ano a partir do go-live · implantação R$ 448 mil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3" name="Google Shape;4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39044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3"/>
          <p:cNvSpPr txBox="1"/>
          <p:nvPr/>
        </p:nvSpPr>
        <p:spPr>
          <a:xfrm>
            <a:off x="8613648" y="384048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Até 640 profissionais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3342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3"/>
          <p:cNvSpPr txBox="1"/>
          <p:nvPr/>
        </p:nvSpPr>
        <p:spPr>
          <a:xfrm>
            <a:off x="8613648" y="4270248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Múltiplas unidades e PEPs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7640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3"/>
          <p:cNvSpPr txBox="1"/>
          <p:nvPr/>
        </p:nvSpPr>
        <p:spPr>
          <a:xfrm>
            <a:off x="8613648" y="4700016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 disponibilidade redundante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9" name="Google Shape;4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193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3"/>
          <p:cNvSpPr txBox="1"/>
          <p:nvPr/>
        </p:nvSpPr>
        <p:spPr>
          <a:xfrm>
            <a:off x="8613648" y="5129784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24/7 + gestor de incidentes dedicado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5623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3"/>
          <p:cNvSpPr txBox="1"/>
          <p:nvPr/>
        </p:nvSpPr>
        <p:spPr>
          <a:xfrm>
            <a:off x="8613648" y="5559552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Protocolos ilimitados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4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CONDIÇÕES COMERCIAIS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Condições e acordos de nível de serviço</a:t>
            </a:r>
            <a:endParaRPr sz="3600"/>
          </a:p>
        </p:txBody>
      </p:sp>
      <p:sp>
        <p:nvSpPr>
          <p:cNvPr id="481" name="Google Shape;481;p14"/>
          <p:cNvSpPr/>
          <p:nvPr/>
        </p:nvSpPr>
        <p:spPr>
          <a:xfrm>
            <a:off x="548640" y="1691640"/>
            <a:ext cx="56692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813816" y="1911096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3" name="Google Shape;4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688" y="20299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4"/>
          <p:cNvSpPr txBox="1"/>
          <p:nvPr/>
        </p:nvSpPr>
        <p:spPr>
          <a:xfrm>
            <a:off x="1463040" y="18745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2834640" y="187452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dias a partir da emissão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813816" y="2606040"/>
            <a:ext cx="475488" cy="47548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88" y="272491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4"/>
          <p:cNvSpPr txBox="1"/>
          <p:nvPr/>
        </p:nvSpPr>
        <p:spPr>
          <a:xfrm>
            <a:off x="1463040" y="256946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 txBox="1"/>
          <p:nvPr/>
        </p:nvSpPr>
        <p:spPr>
          <a:xfrm>
            <a:off x="2834640" y="2569464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Implantação em 3 parcelas (40/40/20); recorrente mensal, trimestral ou 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813816" y="3300984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688" y="3419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4"/>
          <p:cNvSpPr txBox="1"/>
          <p:nvPr/>
        </p:nvSpPr>
        <p:spPr>
          <a:xfrm>
            <a:off x="1463040" y="326440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Reajuste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2834640" y="3264408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Anual pelo IPCA, a partir do 13º mês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813816" y="3995928"/>
            <a:ext cx="475488" cy="47548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5" name="Google Shape;4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688" y="411480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4"/>
          <p:cNvSpPr txBox="1"/>
          <p:nvPr/>
        </p:nvSpPr>
        <p:spPr>
          <a:xfrm>
            <a:off x="1463040" y="395935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Prazo contratual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2834640" y="3959352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meses, com recorrente cobrado a partir do go-live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813816" y="4690872"/>
            <a:ext cx="475488" cy="47548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9" name="Google Shape;4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688" y="48097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4"/>
          <p:cNvSpPr txBox="1"/>
          <p:nvPr/>
        </p:nvSpPr>
        <p:spPr>
          <a:xfrm>
            <a:off x="1463040" y="465429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Impostos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2834640" y="4654296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sem impostos; incidências conforme legislação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4"/>
          <p:cNvSpPr/>
          <p:nvPr/>
        </p:nvSpPr>
        <p:spPr>
          <a:xfrm>
            <a:off x="813816" y="5385816"/>
            <a:ext cx="475488" cy="47548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3" name="Google Shape;5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688" y="55046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4"/>
          <p:cNvSpPr txBox="1"/>
          <p:nvPr/>
        </p:nvSpPr>
        <p:spPr>
          <a:xfrm>
            <a:off x="1463040" y="53492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Privacidade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2834640" y="5349240"/>
            <a:ext cx="3246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DPA e política de retenção definidos em contrato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 txBox="1"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SLAs DE SUPORTE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" name="Google Shape;507;p14"/>
          <p:cNvGraphicFramePr/>
          <p:nvPr/>
        </p:nvGraphicFramePr>
        <p:xfrm>
          <a:off x="649224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{A4130BEE-843B-4F0C-8625-8B27847A297A}</a:tableStyleId>
              </a:tblPr>
              <a:tblGrid>
                <a:gridCol w="1554475"/>
                <a:gridCol w="1920250"/>
                <a:gridCol w="16733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Severidade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1ª resposta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Resolução</a:t>
                      </a:r>
                      <a:endParaRPr sz="13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1 · Crítica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15 min (24/7)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2 · Alta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3 · Média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 h (comercial)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48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2"/>
                          </a:solidFill>
                        </a:rPr>
                        <a:t>4 · Baixa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&lt; 12 h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até 5 dias úteis</a:t>
                      </a:r>
                      <a:endParaRPr sz="1200" u="none" cap="none" strike="noStrike"/>
                    </a:p>
                  </a:txBody>
                  <a:tcPr marT="0" marB="0" marR="109725" marL="109725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08" name="Google Shape;508;p14"/>
          <p:cNvSpPr txBox="1"/>
          <p:nvPr/>
        </p:nvSpPr>
        <p:spPr>
          <a:xfrm>
            <a:off x="6492240" y="4160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INCENTIVOS (SUJEITOS À APROVAÇÃO)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649224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0F6EE"/>
          </a:solidFill>
          <a:ln cap="flat" cmpd="sng" w="9525">
            <a:solidFill>
              <a:srgbClr val="E0F6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4"/>
          <p:cNvSpPr txBox="1"/>
          <p:nvPr/>
        </p:nvSpPr>
        <p:spPr>
          <a:xfrm>
            <a:off x="662940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Crédito de 100% da PoC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662940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contratar em até 60 dias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098280" y="4526280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0F6EE"/>
          </a:solidFill>
          <a:ln cap="flat" cmpd="sng" w="9525">
            <a:solidFill>
              <a:srgbClr val="E0F6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 txBox="1"/>
          <p:nvPr/>
        </p:nvSpPr>
        <p:spPr>
          <a:xfrm>
            <a:off x="9235440" y="45994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Pagamento anual antecipado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9235440" y="48920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5% sobre o recorrente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649224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0F6EE"/>
          </a:solidFill>
          <a:ln cap="flat" cmpd="sng" w="9525">
            <a:solidFill>
              <a:srgbClr val="E0F6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662940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Contrato de 36 meses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 txBox="1"/>
          <p:nvPr/>
        </p:nvSpPr>
        <p:spPr>
          <a:xfrm>
            <a:off x="662940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8% sobre a licença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9098280" y="5330952"/>
            <a:ext cx="2514600" cy="713232"/>
          </a:xfrm>
          <a:prstGeom prst="roundRect">
            <a:avLst>
              <a:gd fmla="val 17949" name="adj"/>
            </a:avLst>
          </a:prstGeom>
          <a:solidFill>
            <a:srgbClr val="E0F6EE"/>
          </a:solidFill>
          <a:ln cap="flat" cmpd="sng" w="9525">
            <a:solidFill>
              <a:srgbClr val="E0F6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 txBox="1"/>
          <p:nvPr/>
        </p:nvSpPr>
        <p:spPr>
          <a:xfrm>
            <a:off x="9235440" y="540410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 até [data]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 txBox="1"/>
          <p:nvPr/>
        </p:nvSpPr>
        <p:spPr>
          <a:xfrm>
            <a:off x="9235440" y="569671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3% adicionais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5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GOVERNANÇA DO PROJETO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Quem faz o quê</a:t>
            </a:r>
            <a:endParaRPr sz="3600"/>
          </a:p>
        </p:txBody>
      </p:sp>
      <p:sp>
        <p:nvSpPr>
          <p:cNvPr id="529" name="Google Shape;529;p15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"/>
          <p:cNvSpPr txBox="1"/>
          <p:nvPr/>
        </p:nvSpPr>
        <p:spPr>
          <a:xfrm>
            <a:off x="822960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SYNAPSEAI SOLUTIONS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859536" y="2350008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268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5"/>
          <p:cNvSpPr txBox="1"/>
          <p:nvPr/>
        </p:nvSpPr>
        <p:spPr>
          <a:xfrm>
            <a:off x="1600200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Gerente de projeto / Customer Success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 txBox="1"/>
          <p:nvPr/>
        </p:nvSpPr>
        <p:spPr>
          <a:xfrm>
            <a:off x="1600200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Plano, cronograma e relacionamento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859536" y="3300984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268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5"/>
          <p:cNvSpPr txBox="1"/>
          <p:nvPr/>
        </p:nvSpPr>
        <p:spPr>
          <a:xfrm>
            <a:off x="1600200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Engenharia de Soluções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5"/>
          <p:cNvSpPr txBox="1"/>
          <p:nvPr/>
        </p:nvSpPr>
        <p:spPr>
          <a:xfrm>
            <a:off x="1600200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Arquitetura, PoC e integrações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859536" y="4251960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0" name="Google Shape;5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268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5"/>
          <p:cNvSpPr txBox="1"/>
          <p:nvPr/>
        </p:nvSpPr>
        <p:spPr>
          <a:xfrm>
            <a:off x="1600200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Especialista clínico (SME)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 txBox="1"/>
          <p:nvPr/>
        </p:nvSpPr>
        <p:spPr>
          <a:xfrm>
            <a:off x="1600200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 a precisão técnica das respostas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59536" y="5202936"/>
            <a:ext cx="566928" cy="566928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4" name="Google Shape;5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268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5"/>
          <p:cNvSpPr txBox="1"/>
          <p:nvPr/>
        </p:nvSpPr>
        <p:spPr>
          <a:xfrm>
            <a:off x="1600200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 Ops e Engenharia de Sustentação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 txBox="1"/>
          <p:nvPr/>
        </p:nvSpPr>
        <p:spPr>
          <a:xfrm>
            <a:off x="1600200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Qualidade da IA, latência e incidentes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190488" y="1691640"/>
            <a:ext cx="5440680" cy="4434840"/>
          </a:xfrm>
          <a:prstGeom prst="roundRect">
            <a:avLst>
              <a:gd fmla="val 2887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 txBox="1"/>
          <p:nvPr/>
        </p:nvSpPr>
        <p:spPr>
          <a:xfrm>
            <a:off x="6464808" y="1847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6501384" y="2350008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3116" y="2491740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5"/>
          <p:cNvSpPr txBox="1"/>
          <p:nvPr/>
        </p:nvSpPr>
        <p:spPr>
          <a:xfrm>
            <a:off x="7242048" y="230428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Patrocinador (Diretoria Clínica ou Técnica)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 txBox="1"/>
          <p:nvPr/>
        </p:nvSpPr>
        <p:spPr>
          <a:xfrm>
            <a:off x="7242048" y="2688336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Decisão, prioridades e patrocínio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6501384" y="3300984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4" name="Google Shape;55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43116" y="3442716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5"/>
          <p:cNvSpPr txBox="1"/>
          <p:nvPr/>
        </p:nvSpPr>
        <p:spPr>
          <a:xfrm>
            <a:off x="7242048" y="325526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TI hospitalar e integração com PEP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 txBox="1"/>
          <p:nvPr/>
        </p:nvSpPr>
        <p:spPr>
          <a:xfrm>
            <a:off x="7242048" y="363931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Acesso a fontes, rede e SSO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6501384" y="4251960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43116" y="439369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5"/>
          <p:cNvSpPr txBox="1"/>
          <p:nvPr/>
        </p:nvSpPr>
        <p:spPr>
          <a:xfrm>
            <a:off x="7242048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Segurança da informação, DPO e Qualidade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 txBox="1"/>
          <p:nvPr/>
        </p:nvSpPr>
        <p:spPr>
          <a:xfrm>
            <a:off x="7242048" y="459028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Política de dados e segurança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6501384" y="5202936"/>
            <a:ext cx="566928" cy="566928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2" name="Google Shape;56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43116" y="53446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15"/>
          <p:cNvSpPr txBox="1"/>
          <p:nvPr/>
        </p:nvSpPr>
        <p:spPr>
          <a:xfrm>
            <a:off x="7242048" y="515721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Profissionais-chave (médicos e enfermagem)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5"/>
          <p:cNvSpPr txBox="1"/>
          <p:nvPr/>
        </p:nvSpPr>
        <p:spPr>
          <a:xfrm>
            <a:off x="7242048" y="5541264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Validação e adoção no dia a 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5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6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RISCOS E MITIGAÇÃO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Riscos conhecidos e como tratamos</a:t>
            </a:r>
            <a:endParaRPr sz="3600"/>
          </a:p>
        </p:txBody>
      </p:sp>
      <p:graphicFrame>
        <p:nvGraphicFramePr>
          <p:cNvPr id="573" name="Google Shape;573;p16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{A4130BEE-843B-4F0C-8625-8B27847A297A}</a:tableStyleId>
              </a:tblPr>
              <a:tblGrid>
                <a:gridCol w="3931925"/>
                <a:gridCol w="71625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Risco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lt1"/>
                          </a:solidFill>
                        </a:rPr>
                        <a:t>Mitigação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Qualidade e frescor dos dados do PEP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Monitoramento de frescor, alertas de sincronização e sinalização nos resumos.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Uso fora do escopo (diagnóstico ou prescrição)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Guardrails clínicos, recusa explicativa e treinamento sobre limites de uso.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Indisponibilidade em ambiente crítico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SLA hospitalar, operação 24/7, plano de contingência e sala de guerra.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7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2"/>
                          </a:solidFill>
                        </a:rPr>
                        <a:t>Privacidade de dados de saúde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</a:rPr>
                        <a:t>Papéis e unidades, pseudonimização, suporte sem acesso a dados de pacientes.</a:t>
                      </a:r>
                      <a:endParaRPr sz="1300" u="none" cap="none" strike="noStrike"/>
                    </a:p>
                  </a:txBody>
                  <a:tcPr marT="0" marB="0" marR="137150" marL="137150" anchor="ctr">
                    <a:lnL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2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74" name="Google Shape;574;p16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fmla="val 22581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6"/>
          <p:cNvSpPr txBox="1"/>
          <p:nvPr/>
        </p:nvSpPr>
        <p:spPr>
          <a:xfrm>
            <a:off x="548640" y="5532120"/>
            <a:ext cx="11094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Governança: comitê quinzenal durante a implantação e mensal na operação assistida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POR QUE A SYNAPSEAI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7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Por que a SynapseAI para Saúde</a:t>
            </a:r>
            <a:endParaRPr sz="3600"/>
          </a:p>
        </p:txBody>
      </p:sp>
      <p:sp>
        <p:nvSpPr>
          <p:cNvPr id="584" name="Google Shape;584;p17"/>
          <p:cNvSpPr/>
          <p:nvPr/>
        </p:nvSpPr>
        <p:spPr>
          <a:xfrm>
            <a:off x="54864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7"/>
          <p:cNvSpPr txBox="1"/>
          <p:nvPr/>
        </p:nvSpPr>
        <p:spPr>
          <a:xfrm>
            <a:off x="77724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300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 txBox="1"/>
          <p:nvPr/>
        </p:nvSpPr>
        <p:spPr>
          <a:xfrm>
            <a:off x="224028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colaboradores em 7 áreas, de IA e engenharia a suporte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429768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7"/>
          <p:cNvSpPr txBox="1"/>
          <p:nvPr/>
        </p:nvSpPr>
        <p:spPr>
          <a:xfrm>
            <a:off x="452628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 txBox="1"/>
          <p:nvPr/>
        </p:nvSpPr>
        <p:spPr>
          <a:xfrm>
            <a:off x="598932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produtos de IA generativa para Finanças, Educação e Saúde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8046720" y="1691640"/>
            <a:ext cx="3593592" cy="1463040"/>
          </a:xfrm>
          <a:prstGeom prst="roundRect">
            <a:avLst>
              <a:gd fmla="val 10000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7"/>
          <p:cNvSpPr txBox="1"/>
          <p:nvPr/>
        </p:nvSpPr>
        <p:spPr>
          <a:xfrm>
            <a:off x="8275320" y="1691640"/>
            <a:ext cx="1463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D6E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7FD6E0"/>
                </a:solidFill>
                <a:latin typeface="Calibri"/>
                <a:ea typeface="Calibri"/>
                <a:cs typeface="Calibri"/>
                <a:sym typeface="Calibri"/>
              </a:rPr>
              <a:t>24/7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 txBox="1"/>
          <p:nvPr/>
        </p:nvSpPr>
        <p:spPr>
          <a:xfrm>
            <a:off x="9738360" y="1691640"/>
            <a:ext cx="1737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operação e plantão para produtos de alta criticidade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54864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795528" y="37216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5" name="Google Shape;5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40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17"/>
          <p:cNvSpPr txBox="1"/>
          <p:nvPr/>
        </p:nvSpPr>
        <p:spPr>
          <a:xfrm>
            <a:off x="160020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Verticalização por domínio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 txBox="1"/>
          <p:nvPr/>
        </p:nvSpPr>
        <p:spPr>
          <a:xfrm>
            <a:off x="160020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Cada produto nasce do contexto operacional e regulatório do setor.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6217920" y="34290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6464808" y="3721608"/>
            <a:ext cx="603504" cy="603504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0" name="Google Shape;6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684" y="38724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17"/>
          <p:cNvSpPr txBox="1"/>
          <p:nvPr/>
        </p:nvSpPr>
        <p:spPr>
          <a:xfrm>
            <a:off x="7269480" y="35935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IA explicável e auditável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 txBox="1"/>
          <p:nvPr/>
        </p:nvSpPr>
        <p:spPr>
          <a:xfrm>
            <a:off x="7269480" y="39593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Respostas ligadas a fontes confiáveis e registradas em trilha.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54864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7"/>
          <p:cNvSpPr/>
          <p:nvPr/>
        </p:nvSpPr>
        <p:spPr>
          <a:xfrm>
            <a:off x="795528" y="5093208"/>
            <a:ext cx="603504" cy="60350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5" name="Google Shape;6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7"/>
          <p:cNvSpPr txBox="1"/>
          <p:nvPr/>
        </p:nvSpPr>
        <p:spPr>
          <a:xfrm>
            <a:off x="160020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Compliance desde a concepção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7"/>
          <p:cNvSpPr txBox="1"/>
          <p:nvPr/>
        </p:nvSpPr>
        <p:spPr>
          <a:xfrm>
            <a:off x="160020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Isolamento por cliente, criptografia e controle de acesso rigoroso.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6217920" y="4800600"/>
            <a:ext cx="5422392" cy="1188720"/>
          </a:xfrm>
          <a:prstGeom prst="roundRect">
            <a:avLst>
              <a:gd fmla="val 10769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6464808" y="5093208"/>
            <a:ext cx="603504" cy="603504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0" name="Google Shape;61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5684" y="524408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17"/>
          <p:cNvSpPr txBox="1"/>
          <p:nvPr/>
        </p:nvSpPr>
        <p:spPr>
          <a:xfrm>
            <a:off x="7269480" y="496519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Parceria de longo prazo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7"/>
          <p:cNvSpPr txBox="1"/>
          <p:nvPr/>
        </p:nvSpPr>
        <p:spPr>
          <a:xfrm>
            <a:off x="7269480" y="53309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Customer Success, melhoria contínua e especialistas de domínio internos.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8"/>
          <p:cNvSpPr txBox="1"/>
          <p:nvPr/>
        </p:nvSpPr>
        <p:spPr>
          <a:xfrm>
            <a:off x="548640" y="3291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 txBox="1"/>
          <p:nvPr>
            <p:ph type="title"/>
          </p:nvPr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lang="en-US" sz="3600">
                <a:solidFill>
                  <a:schemeClr val="dk2"/>
                </a:solidFill>
              </a:rPr>
              <a:t>Do aceite ao kick-off</a:t>
            </a:r>
            <a:endParaRPr sz="3600"/>
          </a:p>
        </p:txBody>
      </p:sp>
      <p:sp>
        <p:nvSpPr>
          <p:cNvPr id="621" name="Google Shape;621;p18"/>
          <p:cNvSpPr/>
          <p:nvPr/>
        </p:nvSpPr>
        <p:spPr>
          <a:xfrm>
            <a:off x="548640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8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3" name="Google Shape;6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260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18"/>
          <p:cNvSpPr txBox="1"/>
          <p:nvPr/>
        </p:nvSpPr>
        <p:spPr>
          <a:xfrm>
            <a:off x="1554480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 txBox="1"/>
          <p:nvPr/>
        </p:nvSpPr>
        <p:spPr>
          <a:xfrm>
            <a:off x="777240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Validação técnica e de segurança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 txBox="1"/>
          <p:nvPr/>
        </p:nvSpPr>
        <p:spPr>
          <a:xfrm>
            <a:off x="777240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Sessão com TI, InfoSec e DPO para validar arquitetura e requisitos.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 txBox="1"/>
          <p:nvPr/>
        </p:nvSpPr>
        <p:spPr>
          <a:xfrm>
            <a:off x="777240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3346704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8"/>
          <p:cNvSpPr/>
          <p:nvPr/>
        </p:nvSpPr>
        <p:spPr>
          <a:xfrm>
            <a:off x="3575304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0" name="Google Shape;6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5324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18"/>
          <p:cNvSpPr txBox="1"/>
          <p:nvPr/>
        </p:nvSpPr>
        <p:spPr>
          <a:xfrm>
            <a:off x="4352544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 txBox="1"/>
          <p:nvPr/>
        </p:nvSpPr>
        <p:spPr>
          <a:xfrm>
            <a:off x="3575304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Ajustes de escopo e comercial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 txBox="1"/>
          <p:nvPr/>
        </p:nvSpPr>
        <p:spPr>
          <a:xfrm>
            <a:off x="3575304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Revisão final de pacote, condições e minuta contratual.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 txBox="1"/>
          <p:nvPr/>
        </p:nvSpPr>
        <p:spPr>
          <a:xfrm>
            <a:off x="3575304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/>
          <p:nvPr/>
        </p:nvSpPr>
        <p:spPr>
          <a:xfrm>
            <a:off x="6144768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8"/>
          <p:cNvSpPr/>
          <p:nvPr/>
        </p:nvSpPr>
        <p:spPr>
          <a:xfrm>
            <a:off x="6373368" y="1965960"/>
            <a:ext cx="640080" cy="64008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7" name="Google Shape;6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3388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8"/>
          <p:cNvSpPr txBox="1"/>
          <p:nvPr/>
        </p:nvSpPr>
        <p:spPr>
          <a:xfrm>
            <a:off x="7150608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 txBox="1"/>
          <p:nvPr/>
        </p:nvSpPr>
        <p:spPr>
          <a:xfrm>
            <a:off x="6373368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Assinatura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 txBox="1"/>
          <p:nvPr/>
        </p:nvSpPr>
        <p:spPr>
          <a:xfrm>
            <a:off x="6373368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Aceite da proposta e assinatura do contrato e do DPA.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 txBox="1"/>
          <p:nvPr/>
        </p:nvSpPr>
        <p:spPr>
          <a:xfrm>
            <a:off x="6373368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Até 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8942832" y="1691640"/>
            <a:ext cx="2606040" cy="3200400"/>
          </a:xfrm>
          <a:prstGeom prst="roundRect">
            <a:avLst>
              <a:gd fmla="val 4912" name="adj"/>
            </a:avLst>
          </a:prstGeom>
          <a:solidFill>
            <a:schemeClr val="lt1"/>
          </a:solidFill>
          <a:ln cap="flat" cmpd="sng" w="9525">
            <a:solidFill>
              <a:srgbClr val="DDE2E9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0A1F3A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8"/>
          <p:cNvSpPr/>
          <p:nvPr/>
        </p:nvSpPr>
        <p:spPr>
          <a:xfrm>
            <a:off x="9171432" y="1965960"/>
            <a:ext cx="640080" cy="640080"/>
          </a:xfrm>
          <a:prstGeom prst="ellipse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4" name="Google Shape;6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31452" y="21259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8"/>
          <p:cNvSpPr txBox="1"/>
          <p:nvPr/>
        </p:nvSpPr>
        <p:spPr>
          <a:xfrm>
            <a:off x="9948672" y="2148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PASSO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8"/>
          <p:cNvSpPr txBox="1"/>
          <p:nvPr/>
        </p:nvSpPr>
        <p:spPr>
          <a:xfrm>
            <a:off x="9171432" y="27889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Kick-off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 txBox="1"/>
          <p:nvPr/>
        </p:nvSpPr>
        <p:spPr>
          <a:xfrm>
            <a:off x="9171432" y="3429000"/>
            <a:ext cx="2194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Início da descoberta e da prova de conceito com o time do projeto.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 txBox="1"/>
          <p:nvPr/>
        </p:nvSpPr>
        <p:spPr>
          <a:xfrm>
            <a:off x="9171432" y="44348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C89"/>
                </a:solidFill>
                <a:latin typeface="Calibri"/>
                <a:ea typeface="Calibri"/>
                <a:cs typeface="Calibri"/>
                <a:sym typeface="Calibri"/>
              </a:rPr>
              <a:t>[data]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fmla="val 13333" name="adj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8"/>
          <p:cNvSpPr txBox="1"/>
          <p:nvPr/>
        </p:nvSpPr>
        <p:spPr>
          <a:xfrm>
            <a:off x="914400" y="5248656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Podemos confirmar a data de kick-off hoje?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8"/>
          <p:cNvSpPr txBox="1"/>
          <p:nvPr/>
        </p:nvSpPr>
        <p:spPr>
          <a:xfrm>
            <a:off x="914400" y="56692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Nome do responsável comercial  ·  Cargo  ·  Contato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8412480" y="5303520"/>
            <a:ext cx="3017520" cy="457200"/>
          </a:xfrm>
          <a:prstGeom prst="roundRect">
            <a:avLst>
              <a:gd fmla="val 50000" name="adj"/>
            </a:avLst>
          </a:prstGeom>
          <a:solidFill>
            <a:srgbClr val="0E7C89"/>
          </a:solidFill>
          <a:ln cap="flat" cmpd="sng" w="12700">
            <a:solidFill>
              <a:srgbClr val="0E7C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8"/>
          <p:cNvSpPr txBox="1"/>
          <p:nvPr/>
        </p:nvSpPr>
        <p:spPr>
          <a:xfrm>
            <a:off x="8412480" y="5303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clinicagpt.synapseai.com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 txBox="1"/>
          <p:nvPr>
            <p:ph idx="4294967295" type="sldNum"/>
          </p:nvPr>
        </p:nvSpPr>
        <p:spPr>
          <a:xfrm>
            <a:off x="10972800" y="6373368"/>
            <a:ext cx="667512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60677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6067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9"/>
          <p:cNvSpPr txBox="1"/>
          <p:nvPr>
            <p:ph type="title"/>
          </p:nvPr>
        </p:nvSpPr>
        <p:spPr>
          <a:xfrm>
            <a:off x="731520" y="2103120"/>
            <a:ext cx="7315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Obrigado</a:t>
            </a:r>
            <a:endParaRPr sz="6000"/>
          </a:p>
        </p:txBody>
      </p:sp>
      <p:sp>
        <p:nvSpPr>
          <p:cNvPr id="661" name="Google Shape;661;p19"/>
          <p:cNvSpPr txBox="1"/>
          <p:nvPr>
            <p:ph idx="1" type="body"/>
          </p:nvPr>
        </p:nvSpPr>
        <p:spPr>
          <a:xfrm>
            <a:off x="731520" y="356616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2200"/>
              <a:buNone/>
            </a:pPr>
            <a:r>
              <a:rPr lang="en-US" sz="2200">
                <a:solidFill>
                  <a:srgbClr val="B7C8DE"/>
                </a:solidFill>
              </a:rPr>
              <a:t>Vamos transformar esta proposta em resultado </a:t>
            </a:r>
            <a:endParaRPr sz="2200"/>
          </a:p>
        </p:txBody>
      </p:sp>
      <p:pic>
        <p:nvPicPr>
          <p:cNvPr descr="preencoded.png" id="662" name="Google Shape;6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5628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19"/>
          <p:cNvSpPr txBox="1"/>
          <p:nvPr/>
        </p:nvSpPr>
        <p:spPr>
          <a:xfrm>
            <a:off x="1143000" y="45262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Site institucional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 txBox="1"/>
          <p:nvPr/>
        </p:nvSpPr>
        <p:spPr>
          <a:xfrm>
            <a:off x="3291840" y="45262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5" name="Google Shape;6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50200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9"/>
          <p:cNvSpPr txBox="1"/>
          <p:nvPr/>
        </p:nvSpPr>
        <p:spPr>
          <a:xfrm>
            <a:off x="1143000" y="498348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8D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8DE"/>
                </a:solidFill>
                <a:latin typeface="Calibri"/>
                <a:ea typeface="Calibri"/>
                <a:cs typeface="Calibri"/>
                <a:sym typeface="Calibri"/>
              </a:rPr>
              <a:t>Documentação do produto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9"/>
          <p:cNvSpPr txBox="1"/>
          <p:nvPr/>
        </p:nvSpPr>
        <p:spPr>
          <a:xfrm>
            <a:off x="3291840" y="498348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docs.synapseai.com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ynapseAI">
  <a:themeElements>
    <a:clrScheme name="SynapseAI">
      <a:dk1>
        <a:srgbClr val="1B2430"/>
      </a:dk1>
      <a:lt1>
        <a:srgbClr val="FFFFFF"/>
      </a:lt1>
      <a:dk2>
        <a:srgbClr val="103050"/>
      </a:dk2>
      <a:lt2>
        <a:srgbClr val="F2F4F7"/>
      </a:lt2>
      <a:accent1>
        <a:srgbClr val="17A9B9"/>
      </a:accent1>
      <a:accent2>
        <a:srgbClr val="4DA3E8"/>
      </a:accent2>
      <a:accent3>
        <a:srgbClr val="8A7BE0"/>
      </a:accent3>
      <a:accent4>
        <a:srgbClr val="E8A23A"/>
      </a:accent4>
      <a:accent5>
        <a:srgbClr val="2FBF8F"/>
      </a:accent5>
      <a:accent6>
        <a:srgbClr val="606770"/>
      </a:accent6>
      <a:hlink>
        <a:srgbClr val="17A9B9"/>
      </a:hlink>
      <a:folHlink>
        <a:srgbClr val="60677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2026-10-03T05:14:31Z</dcterms:created>
  <dc:creator>SynapseAI Solutions</dc:creator>
</cp:coreProperties>
</file>