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lWUO/TzGX3wertUCHJCwhNQOo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B0CEBD-964E-45E6-82D1-974FFDA96569}">
  <a:tblStyle styleId="{B3B0CEBD-964E-45E6-82D1-974FFDA965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Fluxo por ano contratual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491</c:v>
                </c:pt>
                <c:pt idx="1">
                  <c:v>592</c:v>
                </c:pt>
                <c:pt idx="2">
                  <c:v>592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Benefício estimado</c:v>
                </c:pt>
              </c:strCache>
            </c:strRef>
          </c:tx>
          <c:spPr>
            <a:solidFill>
              <a:srgbClr val="E8A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643</c:v>
                </c:pt>
                <c:pt idx="1">
                  <c:v>1262</c:v>
                </c:pt>
                <c:pt idx="2">
                  <c:v>1377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 para leads em estágio final. Preencha o nome do cliente, o responsável comercial e a data de validade. Os valores são de referência e devem ser validados pela liderança comercial antes do envio.</a:t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em 30 segundos e vá direto ao resumo executivo. Em reuniões de fechamento, a decisão costuma estar nos slides de investimento, business case e condições.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Resuma em uma frase: o que vai ser entregue, quanto custa e em quanto tempo se paga. Os três indicadores à direita são calculados com as premissas do slide de business case.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Substitua os três cards pelas dores reais ouvidas nas reuniões com o cliente. Quanto mais específico, mais forte fica o business case.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apenas as funcionalidades ligadas às dores do slide anterior.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ponta a ponta e destaque as três garantias: fundamentação nos dados do cliente, rastreabilidade e humano no controle.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sistemas listados são exemplos típicos; o escopo exato de integração é fechado na PoC. Adapte os satélites aos sistemas reais do cliente.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Antecipe as perguntas de segurança e privacidade. Ofereça uma sessão técnica com a equipe de InfoSec do cliente.</a:t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Deixe claro o que está incluído e o que está fora. Itens fora do escopo viram propostas complementares.</a:t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prazos assumem acesso às fontes e disponibilidade do time do cliente. Calendário e janelas de entrada em produção são alinhados no kick-off.</a:t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Premissas ilustrativas e conservadoras (adoção de 80% no primeiro ano após o go-live). Valide cada premissa com o cliente e, se possível, substitua pelos números dele. Nunca apresente o retorno como garantia.</a:t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REFERÊNCIA. Âncoras de mercado (jun–set/2026): CoCounsel entre US$ 225 e 400+ por usuário/mês; Luminance entre US$ 99 e 350; Harvey a partir de ~US$ 1.200 por assento (mín. de 20 assentos); Ironclad (CLM) em torno de US$ 30–150 mil+/ano. Câmbio de referência: R$ 5,22/US$. Equivale a ~R$ 1.234 por usuário/mês (≈ US$ 236), com licença, plataforma e suporte incluídos. Preço em condição comercial competitiva: confirme margem e alçada de desconto com a liderança antes do envio.</a:t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pacote Profissional é o recomendado e corresponde ao cenário de referência. Use Essencial como porta de entrada e Enterprise para ampliar escopo e criticidade.</a:t>
            </a:r>
            <a:endParaRPr/>
          </a:p>
        </p:txBody>
      </p:sp>
      <p:sp>
        <p:nvSpPr>
          <p:cNvPr id="422" name="Google Shape;4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Condições e incentivos são sugestões e exigem aprovação da liderança comercial. Valide alçada de desconto antes de oferecer.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cliente que nomeie os responsáveis ainda antes da assinatura: isso reduz atrasos de início.</a:t>
            </a:r>
            <a:endParaRPr/>
          </a:p>
        </p:txBody>
      </p:sp>
      <p:sp>
        <p:nvSpPr>
          <p:cNvPr id="525" name="Google Shape;5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riscos de frente aumenta a confiança no fechamento. Complemente com riscos específicos do cliente.</a:t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Retome os três pontos que mais pesaram nas conversas anteriores.</a:t>
            </a:r>
            <a:endParaRPr/>
          </a:p>
        </p:txBody>
      </p:sp>
      <p:sp>
        <p:nvSpPr>
          <p:cNvPr id="580" name="Google Shape;5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uma data concreta para cada passo. Combine o responsável do cliente por cada etapa antes de encerrar a reunião.</a:t>
            </a:r>
            <a:endParaRPr/>
          </a:p>
        </p:txBody>
      </p:sp>
      <p:sp>
        <p:nvSpPr>
          <p:cNvPr id="617" name="Google Shape;6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Notas comerciais de preço. Âncoras de mercado (jun–set/2026): CoCounsel entre US$ 225 e 400+ por usuário/mês; Luminance entre US$ 99 e 350; Harvey a partir de ~US$ 1.200 por assento (mín. de 20 assentos); Ironclad (CLM) em torno de US$ 30–150 mil+/ano. Câmbio de referência: R$ 5,22/US$. Equivale a ~R$ 1.234 por usuário/mês (≈ US$ 236), com licença, plataforma e suporte incluídos. As referências de terceiros são estimativas públicas (jun–set/2026) e podem mudar; confirme antes de usar em negociação. Preços da SynapseAI são de referência e dependem de aprovação.</a:t>
            </a:r>
            <a:endParaRPr/>
          </a:p>
        </p:txBody>
      </p:sp>
      <p:sp>
        <p:nvSpPr>
          <p:cNvPr id="658" name="Google Shape;6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B7C8DE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>
  <p:cSld name="TI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dark.png" id="17" name="Google Shape;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B7C8DE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_ESCURO">
  <p:cSld name="TITULO_E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8" name="Google Shape;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8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29.png"/><Relationship Id="rId8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Relationship Id="rId9" Type="http://schemas.openxmlformats.org/officeDocument/2006/relationships/image" Target="../media/image34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78.png"/><Relationship Id="rId8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67.png"/><Relationship Id="rId6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PROPOSTA COMERCIAL · RISCO E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Proposta comercial: RiskGen</a:t>
            </a:r>
            <a:endParaRPr sz="4200"/>
          </a:p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000"/>
              <a:buNone/>
            </a:pPr>
            <a:r>
              <a:rPr lang="en-US" sz="2000">
                <a:solidFill>
                  <a:srgbClr val="B7C8DE"/>
                </a:solidFill>
              </a:rPr>
              <a:t>Risco, Compliance e Auditoria</a:t>
            </a:r>
            <a:endParaRPr sz="2000"/>
          </a:p>
        </p:txBody>
      </p:sp>
      <p:pic>
        <p:nvPicPr>
          <p:cNvPr descr="assets/sym_riskgen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11887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CONTEÚDO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esta proposta contém</a:t>
            </a:r>
            <a:endParaRPr sz="3600"/>
          </a:p>
        </p:txBody>
      </p:sp>
      <p:sp>
        <p:nvSpPr>
          <p:cNvPr id="48" name="Google Shape;48;p2"/>
          <p:cNvSpPr/>
          <p:nvPr/>
        </p:nvSpPr>
        <p:spPr>
          <a:xfrm>
            <a:off x="548640" y="16459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31520" y="1764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0876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Resumo e desafio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508760" y="2084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 que ouvimos e o objetivo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5603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26791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26791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08760" y="2670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08760" y="2999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funciona, arquitetura 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4747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31520" y="3593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08760" y="35844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 e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08760" y="3913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Fases, entregáveis e governança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3891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50876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 e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0876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Valores, pacotes e retorno estimado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3035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31520" y="54223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31520" y="54223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508760" y="5413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Condições e próximos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508760" y="5742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SLAs, condições comerciais e assinatura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1645920"/>
            <a:ext cx="4050792" cy="4462272"/>
          </a:xfrm>
          <a:prstGeom prst="roundRect">
            <a:avLst>
              <a:gd fmla="val 4063" name="adj"/>
            </a:avLst>
          </a:prstGeom>
          <a:solidFill>
            <a:srgbClr val="FDF1DD"/>
          </a:solidFill>
          <a:ln cap="flat" cmpd="sng" w="12700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riskgen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96596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589520" y="4343400"/>
            <a:ext cx="4050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RiskGen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818120" y="4846320"/>
            <a:ext cx="3593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Risco, Compliance e Auditoria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09560" y="5532120"/>
            <a:ext cx="3410712" cy="329184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909560" y="5532120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Cenário de referência: 40 usuários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Resumo da proposta</a:t>
            </a:r>
            <a:endParaRPr sz="3600"/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Padronizar e acelerar a análise de risco em documentos extensos, com evidências rastreáveis e a revisão final sempre humana.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34701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Acervo de até 5.000 documentos, 5 normas e 10 políticas, matriz de severidade, modelos de parecer, trilha imutável.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44302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Implantação de R$ 145 mil e recorrente de R$ 592 mil por ano a partir do go-live.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53903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Prova de conceito e implantação com go-live em cerca de 20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498080" y="16916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R$ 491 mil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01200" y="169164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investimento no 1º ano contratual (implantação + recorrente a partir do go-live)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49808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9 meses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01200" y="320040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estimado a partir da assinatura, com premissas conservadoras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98080" y="470916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20 semanas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601200" y="470916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o go-live, após descoberta, PoC, integração e homologação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ouvimos do seu time</a:t>
            </a:r>
            <a:endParaRPr sz="3600"/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Revisão manual e desigual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Contratos extensos revisados à mão, com variação entre analistas e prazos longos.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Mudança regulatória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Difícil refletir novas normas em contratos e políticas vigentes com rapidez.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Auditoria trabalhosa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Reunir evidências dispersas para auditorias internas e externas consome semanas.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fmla="val 1166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53721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Padronizar e acelerar a análise de risco em documentos extensos, com evidências rastreáveis e a revisão final sempre humana.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 SOLUÇÃO · RISCO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RiskGen: o que você recebe</a:t>
            </a:r>
            <a:endParaRPr sz="3600"/>
          </a:p>
        </p:txBody>
      </p:sp>
      <p:sp>
        <p:nvSpPr>
          <p:cNvPr id="142" name="Google Shape;142;p5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fmla="val 4390" name="adj"/>
            </a:avLst>
          </a:prstGeom>
          <a:solidFill>
            <a:srgbClr val="FDF1DD"/>
          </a:solidFill>
          <a:ln cap="flat" cmpd="sng" w="12700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riskgen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202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RiskGen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Risco, Compliance e Auditoria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Risco e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riskgen.synapseai.com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Linguagem jurídica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LLM ajustado à linguagem jurídica e regulatória.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Evidência primeiro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Nenhum achado sem trecho localizável no documento.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3772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Pronto para auditoria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Trilha imutável e pacote de evidências exportável.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6508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Sigilo preservado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Nuvem privada ou on-premise, com isolamento por cliente.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fmla="val 2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Apoio à decisão: a decisão final é sempre do profissional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dado ao resultado, em cinco etapas</a:t>
            </a:r>
            <a:endParaRPr sz="3600"/>
          </a:p>
        </p:txBody>
      </p:sp>
      <p:sp>
        <p:nvSpPr>
          <p:cNvPr id="179" name="Google Shape;179;p6"/>
          <p:cNvSpPr/>
          <p:nvPr/>
        </p:nvSpPr>
        <p:spPr>
          <a:xfrm>
            <a:off x="548640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58368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Enviar documento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Contratos, políticas e normas, com versão e 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79192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2798064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962656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2907792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Segmentar e indexar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35224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Cláusulas, páginas e anexos localizáveis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4928616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5047488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5212080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157216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Analisar e comparar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184648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Contrato × norma × política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7178040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6"/>
          <p:cNvSpPr/>
          <p:nvPr/>
        </p:nvSpPr>
        <p:spPr>
          <a:xfrm>
            <a:off x="7296912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461504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92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406640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Validar evidências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434072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achado com trecho e justificativa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9427464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9546336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0928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50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9656064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683496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Trilha imutável e pacote de auditoria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86384" y="5010912"/>
            <a:ext cx="621792" cy="62179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83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60020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Evidência textual em cada achado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35424" y="5010912"/>
            <a:ext cx="621792" cy="62179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087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34924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Trilha imutável e versionamento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04672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284464" y="5010912"/>
            <a:ext cx="621792" cy="62179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91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909828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Parecer é rascunho: aprovação humana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ARQUITETURA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Integra com o seu ecossistema</a:t>
            </a:r>
            <a:endParaRPr sz="3600"/>
          </a:p>
        </p:txBody>
      </p:sp>
      <p:cxnSp>
        <p:nvCxnSpPr>
          <p:cNvPr id="233" name="Google Shape;233;p7"/>
          <p:cNvCxnSpPr/>
          <p:nvPr/>
        </p:nvCxnSpPr>
        <p:spPr>
          <a:xfrm>
            <a:off x="6095848" y="20848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6095848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609584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6095848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6095848" y="39136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 flipH="1" rot="10800000">
            <a:off x="3153916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93532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153916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861408" y="2679192"/>
            <a:ext cx="2468880" cy="246888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riskgen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295351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4998568" y="395935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RiskGen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07128" y="17465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44288" y="18562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8588" y="19705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5620360" y="17465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Gestão de contratos (CLM)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849060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86220" y="2391875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520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8562292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Repositório de documentos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906764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920480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910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978088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Bases normativas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849060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986220" y="4978189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0520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8562292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Políticas internas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07128" y="54041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44288" y="55138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8588" y="5628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620360" y="54041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SIEM e auditoria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965196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102356" y="4978189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6656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2678428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SSO / provedor de identidade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660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376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06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45984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REST e webhooks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65196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102356" y="2391875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6656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2678428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Cofre de credenciais e KMS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Segurança e conformidade</a:t>
            </a:r>
            <a:endParaRPr sz="3600"/>
          </a:p>
        </p:txBody>
      </p:sp>
      <p:sp>
        <p:nvSpPr>
          <p:cNvPr id="284" name="Google Shape;284;p8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por cliente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Índices, documentos e chaves exclusivos do seu tenant.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Criptografia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 trânsito e em repouso, com chaves por cliente.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perfil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Escopo por carteira de contratos, área e tipo de documento.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Trilha imutável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Eventos encadeados por hash, com verificação de integridade.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Versionamento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Documentos e análises vinculados à versão exata analisada.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106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Minimização, retenção configurável e controle de acesso.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ESCOPO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Escopo, fases e entregáveis</a:t>
            </a:r>
            <a:endParaRPr sz="3600"/>
          </a:p>
        </p:txBody>
      </p:sp>
      <p:graphicFrame>
        <p:nvGraphicFramePr>
          <p:cNvPr id="322" name="Google Shape;322;p9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{B3B0CEBD-964E-45E6-82D1-974FFDA96569}</a:tableStyleId>
              </a:tblPr>
              <a:tblGrid>
                <a:gridCol w="2286000"/>
                <a:gridCol w="5394950"/>
                <a:gridCol w="2194550"/>
                <a:gridCol w="12189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Fase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Entregáveis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Responsáveis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Duração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0 · Prova de conceito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200 contratos analisados; 1 norma e 1 política carregadas; matriz de severidade piloto; 10 usuários; relatório de resultados da PoC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Jurídico/Compliance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6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1 · Implantação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Acervo de até 5.000 documentos; 5 normas e 10 políticas; modelos de parecer; trilha imutável; API e webhooks; treinamento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 do cliente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13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2 · Operação assistida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Calibração da matriz de severidade, atualização da base normativa, verificação de integridade e relatório mensal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90 dias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9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fmla="val 17500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Premissas do cenário de referência: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usuários · 1.500 documentos/mês · nuvem privada. Itens fora do escopo (integrações adicionais, customizações e ambientes extras) são orçados à parte.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Cronograma até o go-live e a operação</a:t>
            </a:r>
            <a:endParaRPr sz="3600"/>
          </a:p>
        </p:txBody>
      </p:sp>
      <p:cxnSp>
        <p:nvCxnSpPr>
          <p:cNvPr id="333" name="Google Shape;333;p10"/>
          <p:cNvCxnSpPr/>
          <p:nvPr/>
        </p:nvCxnSpPr>
        <p:spPr>
          <a:xfrm>
            <a:off x="914400" y="3822192"/>
            <a:ext cx="10360152" cy="0"/>
          </a:xfrm>
          <a:prstGeom prst="straightConnector1">
            <a:avLst/>
          </a:prstGeom>
          <a:noFill/>
          <a:ln cap="flat" cmpd="sng" w="317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97840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0292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1–2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4632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594360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94360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Requisitos, fontes e critérios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2871216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2395728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3–8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77440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487168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487168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6 semanas com dados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764024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 txBox="1"/>
          <p:nvPr/>
        </p:nvSpPr>
        <p:spPr>
          <a:xfrm>
            <a:off x="428853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9–15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270248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4379976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79976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Conectores, perfis e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656832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428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6181344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16–19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63056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272784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272784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segurança e 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549640" y="3429000"/>
            <a:ext cx="786384" cy="786384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236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807415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055864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165592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165592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Entrada em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4244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904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96696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21–33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948672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10058400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assistida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0058400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 e melhoria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Retorno estimado do investimento</a:t>
            </a:r>
            <a:endParaRPr sz="3600"/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475488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PREMISSAS (EDITÁVEIS)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Contratos revisados por 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3657600" y="2240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economizadas por contrato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657600" y="2697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1,5 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Custo-hora médio carregado (jurídico)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657600" y="31546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R$ 170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Adoção no 1º ano pós go-live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3657600" y="36118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640" y="4937760"/>
            <a:ext cx="4754880" cy="1143000"/>
          </a:xfrm>
          <a:prstGeom prst="roundRect">
            <a:avLst>
              <a:gd fmla="val 112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822960" y="5047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BENEFÍCIO ANUAL ESTIMADO (ADOÇÃO PLENA)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822960" y="53492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R$ 1,38 mi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11"/>
          <p:cNvGraphicFramePr/>
          <p:nvPr/>
        </p:nvGraphicFramePr>
        <p:xfrm>
          <a:off x="5577840" y="1645920"/>
          <a:ext cx="608076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2" name="Google Shape;392;p11"/>
          <p:cNvSpPr/>
          <p:nvPr/>
        </p:nvSpPr>
        <p:spPr>
          <a:xfrm>
            <a:off x="557784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rgbClr val="0E7C8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576072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 meses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717804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a partir da assinatura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8680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886968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R$ 1,61 mi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1028700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líquido em 36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Estimativa baseada em premissas informadas; não constitui garantia de resultado. 450 contratos/mês × 1,5 h × R$ 170/h × 12 meses.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Investimento: pacote recomendado</a:t>
            </a:r>
            <a:endParaRPr sz="3600"/>
          </a:p>
        </p:txBody>
      </p:sp>
      <p:graphicFrame>
        <p:nvGraphicFramePr>
          <p:cNvPr id="407" name="Google Shape;407;p1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{B3B0CEBD-964E-45E6-82D1-974FFDA96569}</a:tableStyleId>
              </a:tblPr>
              <a:tblGrid>
                <a:gridCol w="2011675"/>
                <a:gridCol w="4846325"/>
                <a:gridCol w="2743200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Item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 que inclui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Modelo de cobrança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Valor (R$)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Prova de conceito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6 semanas · 200 contratos · 1 norma e 1 política · 10 usuários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crédito integral na implantação se contratada em até 60 dias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R$ 50.000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Implantação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Acervo de até 5.000 documentos, 5 normas e 10 políticas, matriz de severidade, modelos de parecer, trilha imutável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40% assinatura, 40% homologação, 20%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R$ 145.000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Licença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40 usuários × R$ 880/mês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R$ 422.400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Plataforma gerenciada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Hospedagem isolada, guardrails, observabilidade de IA, atualizações e 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R$ 105.000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Suporte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Suporte 24/7 para severidades 1 e 2, com verificação de integridade da trilha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R$ 65.000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Consumo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Inclui até 1.500 documentos por mês; excedente de R$ 14 por documento (até 100 páginas)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Incluso até o limite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Incluso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12"/>
          <p:cNvSpPr/>
          <p:nvPr/>
        </p:nvSpPr>
        <p:spPr>
          <a:xfrm>
            <a:off x="54864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77724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IMPLANTAÇÃO (PONTUAL)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R$ 145.000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9768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452628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RECORRENTE 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452628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R$ 592.400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827532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INVESTIMENTO EM 36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27532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R$ 1.675.367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548640" y="614476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Equivale a ~R$ 1.234 por usuário/mês (≈ US$ 236), com licença, plataforma e suporte incluídos. Valores em R$, sem impostos; proposta de referência, sujeita a aprovação comercial.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OPÇÕES DE CONTRATAÇÃO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Três pacotes para decidir</a:t>
            </a:r>
            <a:endParaRPr sz="3600"/>
          </a:p>
        </p:txBody>
      </p:sp>
      <p:sp>
        <p:nvSpPr>
          <p:cNvPr id="426" name="Google Shape;426;p13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82296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Essencial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82296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Equipe jurídica ou de compliance única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R$ 274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2296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R$ 80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 txBox="1"/>
          <p:nvPr/>
        </p:nvSpPr>
        <p:spPr>
          <a:xfrm>
            <a:off x="111556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20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 txBox="1"/>
          <p:nvPr/>
        </p:nvSpPr>
        <p:spPr>
          <a:xfrm>
            <a:off x="111556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700 documentos/mês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111556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norma e 3 políticas na 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3"/>
          <p:cNvSpPr txBox="1"/>
          <p:nvPr/>
        </p:nvSpPr>
        <p:spPr>
          <a:xfrm>
            <a:off x="111556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em horário comercial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111556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Nuvem privada dedicada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dk2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440680" y="155448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5440680" y="1554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457200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Jurídico, compliance e auditoria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R$ 592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R$ 145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 txBox="1"/>
          <p:nvPr/>
        </p:nvSpPr>
        <p:spPr>
          <a:xfrm>
            <a:off x="486460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40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 txBox="1"/>
          <p:nvPr/>
        </p:nvSpPr>
        <p:spPr>
          <a:xfrm>
            <a:off x="486460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1.500 documentos/mês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 txBox="1"/>
          <p:nvPr/>
        </p:nvSpPr>
        <p:spPr>
          <a:xfrm>
            <a:off x="486460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normas e 10 políticas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 txBox="1"/>
          <p:nvPr/>
        </p:nvSpPr>
        <p:spPr>
          <a:xfrm>
            <a:off x="486460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Suporte 24/7 (severidades 1 e 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486460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Trilha imutável e pacotes de auditoria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832104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32104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Operação regulada de grande porte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32104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R$ 909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32104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R$ 203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 txBox="1"/>
          <p:nvPr/>
        </p:nvSpPr>
        <p:spPr>
          <a:xfrm>
            <a:off x="861364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65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861364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4.000 documentos/mês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 txBox="1"/>
          <p:nvPr/>
        </p:nvSpPr>
        <p:spPr>
          <a:xfrm>
            <a:off x="861364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normativa ampliada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/>
        </p:nvSpPr>
        <p:spPr>
          <a:xfrm>
            <a:off x="861364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24/7 + gestor de incidentes dedicado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861364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Ambientes redundantes e SIEM integrado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CONDIÇÕES COMERCIAIS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Condições e acordos de nível de serviço</a:t>
            </a:r>
            <a:endParaRPr sz="3600"/>
          </a:p>
        </p:txBody>
      </p:sp>
      <p:sp>
        <p:nvSpPr>
          <p:cNvPr id="481" name="Google Shape;481;p14"/>
          <p:cNvSpPr/>
          <p:nvPr/>
        </p:nvSpPr>
        <p:spPr>
          <a:xfrm>
            <a:off x="548640" y="1691640"/>
            <a:ext cx="56692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 txBox="1"/>
          <p:nvPr/>
        </p:nvSpPr>
        <p:spPr>
          <a:xfrm>
            <a:off x="146304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2834640" y="187452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dias a partir da emissão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 txBox="1"/>
          <p:nvPr/>
        </p:nvSpPr>
        <p:spPr>
          <a:xfrm>
            <a:off x="1463040" y="25694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2834640" y="256946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Implantação em 3 parcelas (40/40/20); recorrente mensal, trimestral ou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 txBox="1"/>
          <p:nvPr/>
        </p:nvSpPr>
        <p:spPr>
          <a:xfrm>
            <a:off x="1463040" y="32644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Reajuste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2834640" y="32644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 pelo IPCA, a partir do 13º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4"/>
          <p:cNvSpPr txBox="1"/>
          <p:nvPr/>
        </p:nvSpPr>
        <p:spPr>
          <a:xfrm>
            <a:off x="1463040" y="395935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 contratual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2834640" y="395935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meses, com recorrente cobrado a partir do go-live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48097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4"/>
          <p:cNvSpPr txBox="1"/>
          <p:nvPr/>
        </p:nvSpPr>
        <p:spPr>
          <a:xfrm>
            <a:off x="1463040" y="46542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Impostos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2834640" y="4654296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sem impostos; incidências conforme legislação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" y="5504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 txBox="1"/>
          <p:nvPr/>
        </p:nvSpPr>
        <p:spPr>
          <a:xfrm>
            <a:off x="1463040" y="5349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834640" y="53492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DPA e política de retenção definidos em contrato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SLAs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4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{B3B0CEBD-964E-45E6-82D1-974FFDA96569}</a:tableStyleId>
              </a:tblPr>
              <a:tblGrid>
                <a:gridCol w="1554475"/>
                <a:gridCol w="1920250"/>
                <a:gridCol w="1673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Severidade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1ª resposta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Resolução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1 · Crítica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15 min (24/7)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2 · Alta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3 · Média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 (comercial)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4 · Baixa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12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5 dias úteis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4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INCENTIVOS (SUJEITOS À APROVAÇÃO)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49224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FDF1DD"/>
          </a:solidFill>
          <a:ln cap="flat" cmpd="sng" w="9525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662940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Crédito de 100% da PoC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62940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contratar em até 60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09828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FDF1DD"/>
          </a:solidFill>
          <a:ln cap="flat" cmpd="sng" w="9525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923544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 anual antecipado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923544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sobre o recorrente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49224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FDF1DD"/>
          </a:solidFill>
          <a:ln cap="flat" cmpd="sng" w="9525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62940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Contrato de 36 meses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662940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8% sobre a licença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909828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FDF1DD"/>
          </a:solidFill>
          <a:ln cap="flat" cmpd="sng" w="9525">
            <a:solidFill>
              <a:srgbClr val="FDF1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923544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 até [data]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23544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GOVERNANÇA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Quem faz o quê</a:t>
            </a:r>
            <a:endParaRPr sz="3600"/>
          </a:p>
        </p:txBody>
      </p:sp>
      <p:sp>
        <p:nvSpPr>
          <p:cNvPr id="529" name="Google Shape;529;p15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 txBox="1"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59536" y="2350008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1600200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Gerente de projeto / Customer Success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600200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Plano, cronograma e relacionamento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59536" y="3300984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5"/>
          <p:cNvSpPr txBox="1"/>
          <p:nvPr/>
        </p:nvSpPr>
        <p:spPr>
          <a:xfrm>
            <a:off x="1600200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Engenharia de Soluções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1600200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Arquitetura, PoC e integrações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59536" y="4251960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68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Especialista jurídico e regulatório (SME)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600200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 a precisão técnica das respostas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268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1600200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Ops e Engenharia de Sustentação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600200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 da IA, latência e incidentes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190488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501384" y="2350008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116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 txBox="1"/>
          <p:nvPr/>
        </p:nvSpPr>
        <p:spPr>
          <a:xfrm>
            <a:off x="7242048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Patrocinador (Jurídico ou Compliance)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7242048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Decisão, prioridades e patrocínio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501384" y="3300984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116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 txBox="1"/>
          <p:nvPr/>
        </p:nvSpPr>
        <p:spPr>
          <a:xfrm>
            <a:off x="7242048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 e arquitetura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7242048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 a fontes, rede e 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501384" y="425196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3116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 txBox="1"/>
          <p:nvPr/>
        </p:nvSpPr>
        <p:spPr>
          <a:xfrm>
            <a:off x="72420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da informação e DPO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7242048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Política de dados e segurança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6501384" y="5202936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3116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 txBox="1"/>
          <p:nvPr/>
        </p:nvSpPr>
        <p:spPr>
          <a:xfrm>
            <a:off x="7242048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Analistas de contratos e auditoria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242048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Validação e adoção no dia a 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RISCOS E MITIGAÇÃO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Riscos conhecidos e como tratamos</a:t>
            </a:r>
            <a:endParaRPr sz="3600"/>
          </a:p>
        </p:txBody>
      </p:sp>
      <p:graphicFrame>
        <p:nvGraphicFramePr>
          <p:cNvPr id="573" name="Google Shape;573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{B3B0CEBD-964E-45E6-82D1-974FFDA96569}</a:tableStyleId>
              </a:tblPr>
              <a:tblGrid>
                <a:gridCol w="3931925"/>
                <a:gridCol w="7162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Risco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Mitigação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Documentos digitalizados de baixa qualidade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OCR com sinalização de páginas de baixa confiança e revisão manual dessas páginas.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Base normativa desatualizada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Carga versionada de normas com vigência e rotina trimestral de revisão.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Severidade não calibrada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Matriz definida com Jurídico e Compliance e ajustada pela taxa de confirmação dos achados.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Dependência de revisão humana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Fluxo de revisão priorizado por severidade, com parecer padronizado.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16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fmla="val 2258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Governança: comitê quinzenal durante a implantação e mensal na operação assistida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POR QUE A SYNAPSEAI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Por que a SynapseAI para Risco e Compliance</a:t>
            </a:r>
            <a:endParaRPr sz="3600"/>
          </a:p>
        </p:txBody>
      </p:sp>
      <p:sp>
        <p:nvSpPr>
          <p:cNvPr id="584" name="Google Shape;584;p17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77724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 txBox="1"/>
          <p:nvPr/>
        </p:nvSpPr>
        <p:spPr>
          <a:xfrm>
            <a:off x="224028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colaboradores em 7 áreas, de IA e engenharia a suporte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452628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 txBox="1"/>
          <p:nvPr/>
        </p:nvSpPr>
        <p:spPr>
          <a:xfrm>
            <a:off x="598932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 de IA generativa para Finanças, Educação e Saúde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827532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9738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operação e plantão para produtos de alta criticidade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54864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795528" y="37216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7"/>
          <p:cNvSpPr txBox="1"/>
          <p:nvPr/>
        </p:nvSpPr>
        <p:spPr>
          <a:xfrm>
            <a:off x="160020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Verticalização por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 txBox="1"/>
          <p:nvPr/>
        </p:nvSpPr>
        <p:spPr>
          <a:xfrm>
            <a:off x="160020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produto nasce do contexto operacional e regulatório do setor.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21792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6464808" y="3721608"/>
            <a:ext cx="603504" cy="603504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7"/>
          <p:cNvSpPr txBox="1"/>
          <p:nvPr/>
        </p:nvSpPr>
        <p:spPr>
          <a:xfrm>
            <a:off x="726948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IA explicável e 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726948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Respostas ligadas a fontes confiáveis e registradas em trilha.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864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795528" y="50932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5" name="Google Shape;6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7"/>
          <p:cNvSpPr txBox="1"/>
          <p:nvPr/>
        </p:nvSpPr>
        <p:spPr>
          <a:xfrm>
            <a:off x="160020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Compliance desde a concepção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160020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Isolamento por cliente, criptografia e controle de acesso rigoroso.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21792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6464808" y="5093208"/>
            <a:ext cx="603504" cy="603504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0" name="Google Shape;61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68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 txBox="1"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Parceria de longo 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 txBox="1"/>
          <p:nvPr/>
        </p:nvSpPr>
        <p:spPr>
          <a:xfrm>
            <a:off x="726948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Success, melhoria contínua e especialistas de domínio internos.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aceite ao kick-off</a:t>
            </a:r>
            <a:endParaRPr sz="3600"/>
          </a:p>
        </p:txBody>
      </p:sp>
      <p:sp>
        <p:nvSpPr>
          <p:cNvPr id="621" name="Google Shape;621;p18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8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777240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Validação técnica e de segurança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Sessão com TI, InfoSec e DPO para validar arquitetura e requisitos.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8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0" name="Google Shape;6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324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8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3575304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 de escopo e comercial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3575304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Revisão final de pacote, condições e minuta contratual.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388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8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6373368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/>
        </p:nvSpPr>
        <p:spPr>
          <a:xfrm>
            <a:off x="6373368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Aceite da proposta e assinatura do contrato e do DPA.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4" name="Google Shape;6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1452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9171432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Kick-off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 txBox="1"/>
          <p:nvPr/>
        </p:nvSpPr>
        <p:spPr>
          <a:xfrm>
            <a:off x="9171432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Início da descoberta e da prova de conceito com o time do projeto.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fmla="val 1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914400" y="524865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confirmar a data de kick-off hoje?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91440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Nome do responsável comercial  ·  Cargo  ·  Contato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8412480" y="5303520"/>
            <a:ext cx="3017520" cy="45720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riskgen.synapseai.com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Obrigado</a:t>
            </a:r>
            <a:endParaRPr sz="6000"/>
          </a:p>
        </p:txBody>
      </p:sp>
      <p:sp>
        <p:nvSpPr>
          <p:cNvPr id="661" name="Google Shape;661;p19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200"/>
              <a:buNone/>
            </a:pPr>
            <a:r>
              <a:rPr lang="en-US" sz="2200">
                <a:solidFill>
                  <a:srgbClr val="B7C8DE"/>
                </a:solidFill>
              </a:rPr>
              <a:t>Vamos transformar esta proposta em resultado</a:t>
            </a:r>
            <a:endParaRPr sz="2200"/>
          </a:p>
        </p:txBody>
      </p:sp>
      <p:pic>
        <p:nvPicPr>
          <p:cNvPr descr="preencoded.png" id="662" name="Google Shape;6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562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9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Site institucional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020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9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Documentação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docs.synapseai.com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2026-10-03T05:14:30Z</dcterms:created>
  <dc:creator>SynapseAI Solutions</dc:creator>
</cp:coreProperties>
</file>