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ZHPOoYEceyFfMpHOKr6+mWSjI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6EEB0E-134B-4EDC-AF56-DD698DA65BD2}">
  <a:tblStyle styleId="{D46EEB0E-134B-4EDC-AF56-DD698DA65BD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Fluxo por ano contratual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371</c:v>
                </c:pt>
                <c:pt idx="1">
                  <c:v>502</c:v>
                </c:pt>
                <c:pt idx="2">
                  <c:v>502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Benefício estimado</c:v>
                </c:pt>
              </c:strCache>
            </c:strRef>
          </c:tx>
          <c:spPr>
            <a:solidFill>
              <a:srgbClr val="4DA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456</c:v>
                </c:pt>
                <c:pt idx="1">
                  <c:v>1027</c:v>
                </c:pt>
                <c:pt idx="2">
                  <c:v>1141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Proposta para leads em estágio final. Preencha o nome do cliente, o responsável comercial e a data de validade. Os valores são de referência e devem ser validados pela liderança comercial antes do envio.</a:t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em 30 segundos e vá direto ao resumo executivo. Em reuniões de fechamento, a decisão costuma estar nos slides de investimento, business case e condições.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Resuma em uma frase: o que vai ser entregue, quanto custa e em quanto tempo se paga. Os três indicadores à direita são calculados com as premissas do slide de business case.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Substitua os três cards pelas dores reais ouvidas nas reuniões com o cliente. Quanto mais específico, mais forte fica o business case.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apenas as funcionalidades ligadas às dores do slide anterior.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fluxo ponta a ponta e destaque as três garantias: fundamentação nos dados do cliente, rastreabilidade e humano no controle.</a:t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sistemas listados são exemplos típicos; o escopo exato de integração é fechado na PoC. Adapte os satélites aos sistemas reais do cliente.</a:t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Antecipe as perguntas de segurança e privacidade. Ofereça uma sessão técnica com a equipe de InfoSec do cliente.</a:t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Deixe claro o que está incluído e o que está fora. Itens fora do escopo viram propostas complementares.</a:t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prazos assumem acesso às fontes e disponibilidade do time do cliente. Calendário e janelas de entrada em produção são alinhados no kick-off.</a:t>
            </a:r>
            <a:endParaRPr/>
          </a:p>
        </p:txBody>
      </p:sp>
      <p:sp>
        <p:nvSpPr>
          <p:cNvPr id="329" name="Google Shape;3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Premissas ilustrativas e conservadoras (adoção de 80% no primeiro ano após o go-live). Valide cada premissa com o cliente e, se possível, substitua pelos números dele. Nunca apresente o retorno como garantia.</a:t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DE REFERÊNCIA. Âncoras de mercado (jun–set/2026): Khanmigo para distritos escolares ~US$ 15 por aluno/ano (outras fontes citam US$ 35–90); soluções de tutoria de edtech tipicamente US$ 5–15 por aluno/ano. Câmbio de referência: R$ 5,22/US$. Equivale a ~R$ 63 por aluno ativo/ano (≈ US$ 12), com licença, plataforma e suporte incluídos. Preço em condição comercial competitiva: confirme margem e alçada de desconto com a liderança antes do envio.</a:t>
            </a:r>
            <a:endParaRPr/>
          </a:p>
        </p:txBody>
      </p:sp>
      <p:sp>
        <p:nvSpPr>
          <p:cNvPr id="405" name="Google Shape;4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pacote Profissional é o recomendado e corresponde ao cenário de referência. Use Essencial como porta de entrada e Enterprise para ampliar escopo e criticidade.</a:t>
            </a:r>
            <a:endParaRPr/>
          </a:p>
        </p:txBody>
      </p:sp>
      <p:sp>
        <p:nvSpPr>
          <p:cNvPr id="424" name="Google Shape;4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Condições e incentivos são sugestões e exigem aprovação da liderança comercial. Valide alçada de desconto antes de oferecer.</a:t>
            </a:r>
            <a:endParaRPr/>
          </a:p>
        </p:txBody>
      </p:sp>
      <p:sp>
        <p:nvSpPr>
          <p:cNvPr id="479" name="Google Shape;4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ao cliente que nomeie os responsáveis ainda antes da assinatura: isso reduz atrasos de início.</a:t>
            </a:r>
            <a:endParaRPr/>
          </a:p>
        </p:txBody>
      </p:sp>
      <p:sp>
        <p:nvSpPr>
          <p:cNvPr id="527" name="Google Shape;52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riscos de frente aumenta a confiança no fechamento. Complemente com riscos específicos do cliente.</a:t>
            </a:r>
            <a:endParaRPr/>
          </a:p>
        </p:txBody>
      </p:sp>
      <p:sp>
        <p:nvSpPr>
          <p:cNvPr id="571" name="Google Shape;57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Retome os três pontos que mais pesaram nas conversas anteriores.</a:t>
            </a:r>
            <a:endParaRPr/>
          </a:p>
        </p:txBody>
      </p:sp>
      <p:sp>
        <p:nvSpPr>
          <p:cNvPr id="582" name="Google Shape;5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uma data concreta para cada passo. Combine o responsável do cliente por cada etapa antes de encerrar a reunião.</a:t>
            </a:r>
            <a:endParaRPr/>
          </a:p>
        </p:txBody>
      </p:sp>
      <p:sp>
        <p:nvSpPr>
          <p:cNvPr id="619" name="Google Shape;6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Notas comerciais de preço. Âncoras de mercado (jun–set/2026): Khanmigo para distritos escolares ~US$ 15 por aluno/ano (outras fontes citam US$ 35–90); soluções de tutoria de edtech tipicamente US$ 5–15 por aluno/ano. Câmbio de referência: R$ 5,22/US$. Equivale a ~R$ 63 por aluno ativo/ano (≈ US$ 12), com licença, plataforma e suporte incluídos. As referências de terceiros são estimativas públicas (jun–set/2026) e podem mudar; confirme antes de usar em negociação. Preços da SynapseAI são de referência e dependem de aprovação.</a:t>
            </a:r>
            <a:endParaRPr/>
          </a:p>
        </p:txBody>
      </p:sp>
      <p:sp>
        <p:nvSpPr>
          <p:cNvPr id="660" name="Google Shape;66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B7C8DE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">
  <p:cSld name="TI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dark.png" id="17" name="Google Shape;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2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2" name="Google Shape;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3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3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B7C8DE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_ESCURO">
  <p:cSld name="TITULO_E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8" name="Google Shape;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6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10" Type="http://schemas.openxmlformats.org/officeDocument/2006/relationships/image" Target="../media/image22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9" Type="http://schemas.openxmlformats.org/officeDocument/2006/relationships/image" Target="../media/image6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25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Relationship Id="rId6" Type="http://schemas.openxmlformats.org/officeDocument/2006/relationships/image" Target="../media/image41.png"/><Relationship Id="rId7" Type="http://schemas.openxmlformats.org/officeDocument/2006/relationships/image" Target="../media/image26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2.png"/><Relationship Id="rId6" Type="http://schemas.openxmlformats.org/officeDocument/2006/relationships/image" Target="../media/image45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Relationship Id="rId4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70.png"/><Relationship Id="rId6" Type="http://schemas.openxmlformats.org/officeDocument/2006/relationships/image" Target="../media/image66.png"/><Relationship Id="rId7" Type="http://schemas.openxmlformats.org/officeDocument/2006/relationships/image" Target="../media/image64.png"/><Relationship Id="rId8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9.png"/><Relationship Id="rId4" Type="http://schemas.openxmlformats.org/officeDocument/2006/relationships/image" Target="../media/image78.png"/><Relationship Id="rId9" Type="http://schemas.openxmlformats.org/officeDocument/2006/relationships/image" Target="../media/image37.png"/><Relationship Id="rId5" Type="http://schemas.openxmlformats.org/officeDocument/2006/relationships/image" Target="../media/image74.png"/><Relationship Id="rId6" Type="http://schemas.openxmlformats.org/officeDocument/2006/relationships/image" Target="../media/image4.png"/><Relationship Id="rId7" Type="http://schemas.openxmlformats.org/officeDocument/2006/relationships/image" Target="../media/image72.png"/><Relationship Id="rId8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9.png"/><Relationship Id="rId5" Type="http://schemas.openxmlformats.org/officeDocument/2006/relationships/image" Target="../media/image68.png"/><Relationship Id="rId6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86.png"/><Relationship Id="rId5" Type="http://schemas.openxmlformats.org/officeDocument/2006/relationships/image" Target="../media/image66.png"/><Relationship Id="rId6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5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PROPOSTA COMERCIAL · EDUCAÇÃO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Proposta comercial: EduMentor AI</a:t>
            </a:r>
            <a:endParaRPr sz="4200"/>
          </a:p>
        </p:txBody>
      </p:sp>
      <p:sp>
        <p:nvSpPr>
          <p:cNvPr id="39" name="Google Shape;39;p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000"/>
              <a:buNone/>
            </a:pPr>
            <a:r>
              <a:rPr lang="en-US" sz="2000">
                <a:solidFill>
                  <a:srgbClr val="B7C8DE"/>
                </a:solidFill>
              </a:rPr>
              <a:t>Tutor Educacional Inteligente</a:t>
            </a:r>
            <a:endParaRPr sz="2000"/>
          </a:p>
        </p:txBody>
      </p:sp>
      <p:pic>
        <p:nvPicPr>
          <p:cNvPr descr="assets/sym_edumentor.png"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0" y="1188720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CONTEÚDO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esta proposta contém</a:t>
            </a:r>
            <a:endParaRPr sz="3600"/>
          </a:p>
        </p:txBody>
      </p:sp>
      <p:sp>
        <p:nvSpPr>
          <p:cNvPr id="48" name="Google Shape;48;p2"/>
          <p:cNvSpPr/>
          <p:nvPr/>
        </p:nvSpPr>
        <p:spPr>
          <a:xfrm>
            <a:off x="548640" y="16459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31520" y="1764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508760" y="17556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Resumo e desafio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508760" y="2084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 que ouvimos e o objetivo do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25603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1520" y="26791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31520" y="26791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508760" y="2670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solução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508760" y="2999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Como funciona, arquitetura e segurança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34747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31520" y="35935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31520" y="3593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08760" y="35844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 e cronograma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508760" y="3913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Fases, entregáveis e governança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43891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508760" y="4498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 e business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50876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Valores, pacotes e retorno estimado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3035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31520" y="54223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31520" y="54223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508760" y="54132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Condições e próximos passos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508760" y="57424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SLAs, condições comerciais e assinatura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589520" y="1645920"/>
            <a:ext cx="4050792" cy="4462272"/>
          </a:xfrm>
          <a:prstGeom prst="roundRect">
            <a:avLst>
              <a:gd fmla="val 4063" name="adj"/>
            </a:avLst>
          </a:prstGeom>
          <a:solidFill>
            <a:srgbClr val="E6F1FB"/>
          </a:solidFill>
          <a:ln cap="flat" cmpd="sng" w="12700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edumentor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196596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7589520" y="4343400"/>
            <a:ext cx="4050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EduMentor AI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818120" y="4846320"/>
            <a:ext cx="3593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 Educacional Inteligente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909560" y="5532120"/>
            <a:ext cx="3410712" cy="329184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7909560" y="5532120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Cenário de referência: 8.000 alunos ativos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Resumo da proposta</a:t>
            </a:r>
            <a:endParaRPr sz="3600"/>
          </a:p>
        </p:txBody>
      </p:sp>
      <p:sp>
        <p:nvSpPr>
          <p:cNvPr id="87" name="Google Shape;87;p3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Oferecer aprendizado personalizado em escala e dar aos docentes visibilidade sobre dificuldades individuais e coletivas, sem substituí-los.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347014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 LMS (Moodle e Canvas), curadoria de materiais, painel docente, PWA, privacidade LGPD, treinamento de docentes.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44302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Implantação de R$ 120 mil e recorrente de R$ 502 mil por ano a partir do go-live.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53903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Prova de conceito e implantação com go-live em cerca de 24 semanas.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7498080" y="169164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R$ 371 mil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601200" y="169164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investimento no 1º ano contratual (implantação + recorrente a partir do go-live)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7498080" y="320040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10 meses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601200" y="320040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estimado a partir da assinatura, com premissas conservadoras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498080" y="470916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24 semanas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601200" y="470916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o go-live, após descoberta, PoC, integração e homologação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ENTENDIMENTO DO DESAFIO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ouvimos do seu time</a:t>
            </a:r>
            <a:endParaRPr sz="3600"/>
          </a:p>
        </p:txBody>
      </p:sp>
      <p:sp>
        <p:nvSpPr>
          <p:cNvPr id="117" name="Google Shape;117;p4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Turmas numerosas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Acompanhar o ritmo e as dificuldades de cada aluno é inviável só com a equipe docente.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Lacunas detectadas tarde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Alunos em risco são identificados quando a evasão ou a reprovação já ocorreu.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Pouca visão consolidada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Docentes não têm um retrato das dificuldades coletivas da turma.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fmla="val 1166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53721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OBJETIVO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Oferecer aprendizado personalizado em escala e dar aos docentes visibilidade sobre dificuldades individuais e coletivas, sem substituí-los.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 SOLUÇÃO · EDUCAÇÃO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EduMentor AI: o que você recebe</a:t>
            </a:r>
            <a:endParaRPr sz="3600"/>
          </a:p>
        </p:txBody>
      </p:sp>
      <p:sp>
        <p:nvSpPr>
          <p:cNvPr id="142" name="Google Shape;142;p5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fmla="val 4390" name="adj"/>
            </a:avLst>
          </a:prstGeom>
          <a:solidFill>
            <a:srgbClr val="E6F1FB"/>
          </a:solidFill>
          <a:ln cap="flat" cmpd="sng" w="12700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edumentor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9202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EduMentor AI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 Educacional Inteligente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Educação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edumentor.synapseai.com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772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Adaptação por aluno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Nível, profundidade e formato ajustados a cada pessoa.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Camada sobre o seu LMS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Integra com Moodle, Canvas e Blackboard por API.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3772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Visão docente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Alertas, lacunas coletivas e métricas pedagógicas.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6508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Escala de milhares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Projetado para milhares de alunos simultâneos.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fmla="val 2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Apoio à decisão: a decisão final é sempre do profissional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dado ao resultado, em cinco etapas</a:t>
            </a:r>
            <a:endParaRPr sz="3600"/>
          </a:p>
        </p:txBody>
      </p:sp>
      <p:sp>
        <p:nvSpPr>
          <p:cNvPr id="179" name="Google Shape;179;p6"/>
          <p:cNvSpPr/>
          <p:nvPr/>
        </p:nvSpPr>
        <p:spPr>
          <a:xfrm>
            <a:off x="548640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234440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58368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Conectar o LMS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Cursos, turmas, matrículas e materiais por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2679192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6"/>
          <p:cNvSpPr/>
          <p:nvPr/>
        </p:nvSpPr>
        <p:spPr>
          <a:xfrm>
            <a:off x="2798064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962656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483864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44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2907792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Curadoria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35224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Docente valida os materiais por turma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4928616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6"/>
          <p:cNvSpPr/>
          <p:nvPr/>
        </p:nvSpPr>
        <p:spPr>
          <a:xfrm>
            <a:off x="5047488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5212080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733288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6168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5157216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Tutoria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184648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Explicações e exercícios adaptados ao nível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7178040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6"/>
          <p:cNvSpPr/>
          <p:nvPr/>
        </p:nvSpPr>
        <p:spPr>
          <a:xfrm>
            <a:off x="7296912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7461504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982712" y="2011680"/>
            <a:ext cx="731520" cy="7315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5592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7406640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Adaptar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434072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Memória pedagógica por aluno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9427464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6"/>
          <p:cNvSpPr/>
          <p:nvPr/>
        </p:nvSpPr>
        <p:spPr>
          <a:xfrm>
            <a:off x="9546336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9710928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232136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15016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9656064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Acompanhar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9683496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Alertas e métricas para docentes e instituição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786384" y="5010912"/>
            <a:ext cx="621792" cy="62179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83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160020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Respostas baseadas nos materiais da turma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9768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535424" y="5010912"/>
            <a:ext cx="621792" cy="62179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087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534924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Privacidade por perfil e LGPD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04672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284464" y="5010912"/>
            <a:ext cx="621792" cy="62179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3991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909828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Complementa o docente, não o substitui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ARQUITETURA E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Integra com o seu ecossistema</a:t>
            </a:r>
            <a:endParaRPr sz="3600"/>
          </a:p>
        </p:txBody>
      </p:sp>
      <p:cxnSp>
        <p:nvCxnSpPr>
          <p:cNvPr id="233" name="Google Shape;233;p7"/>
          <p:cNvCxnSpPr/>
          <p:nvPr/>
        </p:nvCxnSpPr>
        <p:spPr>
          <a:xfrm>
            <a:off x="6095848" y="20848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 flipH="1" rot="10800000">
            <a:off x="6095848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7"/>
          <p:cNvCxnSpPr/>
          <p:nvPr/>
        </p:nvCxnSpPr>
        <p:spPr>
          <a:xfrm>
            <a:off x="609584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>
            <a:off x="6095848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>
            <a:off x="6095848" y="39136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 flipH="1" rot="10800000">
            <a:off x="3153916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193532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3153916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4861408" y="2679192"/>
            <a:ext cx="2468880" cy="246888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edumentor.png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648" y="295351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4998568" y="395935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EduMentor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907128" y="17465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044288" y="18562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8588" y="19705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5620360" y="17465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Moodle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849060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986220" y="2391875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0520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 txBox="1"/>
          <p:nvPr/>
        </p:nvSpPr>
        <p:spPr>
          <a:xfrm>
            <a:off x="8562292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906764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920480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1910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/>
        </p:nvSpPr>
        <p:spPr>
          <a:xfrm>
            <a:off x="978088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849060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986220" y="4978189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0520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 txBox="1"/>
          <p:nvPr/>
        </p:nvSpPr>
        <p:spPr>
          <a:xfrm>
            <a:off x="8562292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SSO institucional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907128" y="54041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044288" y="55138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8588" y="56281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5620360" y="54041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Sistema acadêmico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965196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102356" y="4978189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16656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2678428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 móvel (PWA)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74660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8376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806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45984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965196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102356" y="2391875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16656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2678428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 e data lake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SEGURANÇA E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Segurança e conformidade</a:t>
            </a:r>
            <a:endParaRPr sz="3600"/>
          </a:p>
        </p:txBody>
      </p:sp>
      <p:sp>
        <p:nvSpPr>
          <p:cNvPr id="284" name="Google Shape;284;p8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Isolamento por instituição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Dados, índices e chaves exclusivos da sua instituição.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Criptografia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 trânsito e em repouso, com chaves por cliente.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10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Acesso por perfil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Aluno, professor e instituição com escopos distintos.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98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Dados de estudantes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Memória pedagógica com retenção e exclusão configuráveis.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202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Trilha de acesso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Registro de acessos e ações administrativas.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106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LGPD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Base legal, finalidade e retenção definidas com seu DPO.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ESCOPO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Escopo, fases e entregáveis</a:t>
            </a:r>
            <a:endParaRPr sz="3600"/>
          </a:p>
        </p:txBody>
      </p:sp>
      <p:graphicFrame>
        <p:nvGraphicFramePr>
          <p:cNvPr id="322" name="Google Shape;322;p9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{D46EEB0E-134B-4EDC-AF56-DD698DA65BD2}</a:tableStyleId>
              </a:tblPr>
              <a:tblGrid>
                <a:gridCol w="2286000"/>
                <a:gridCol w="5394950"/>
                <a:gridCol w="2194550"/>
                <a:gridCol w="12189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Fase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Entregáveis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Responsáveis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Duração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0 · Prova de conceito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 curso e até 500 alunos; 1 LMS integrado; curadoria dos materiais; painel docente piloto; relatório de resultados da PoC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Pró-reitoria/Docentes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8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1 · Implantação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Moodle e Canvas; curadoria de materiais por disciplina; painel docente; PWA; privacidade LGPD; treinamento de docentes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TI acadêmica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13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2 · Operação assistida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Acompanhamento de métricas pedagógicas, ajustes de adaptação, capacidade para provas e relatório periódico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Primeiro semestre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9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fmla="val 17500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Premissas do cenário de referência: 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8.000 alunos ativos · 150 docentes · Moodle e Canvas. Itens fora do escopo (integrações adicionais, customizações e ambientes extras) são orçados à parte.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Cronograma até o go-live e a operação</a:t>
            </a:r>
            <a:endParaRPr sz="3600"/>
          </a:p>
        </p:txBody>
      </p:sp>
      <p:cxnSp>
        <p:nvCxnSpPr>
          <p:cNvPr id="333" name="Google Shape;333;p10"/>
          <p:cNvCxnSpPr/>
          <p:nvPr/>
        </p:nvCxnSpPr>
        <p:spPr>
          <a:xfrm>
            <a:off x="914400" y="3822192"/>
            <a:ext cx="10360152" cy="0"/>
          </a:xfrm>
          <a:prstGeom prst="straightConnector1">
            <a:avLst/>
          </a:prstGeom>
          <a:noFill/>
          <a:ln cap="flat" cmpd="sng" w="317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0"/>
          <p:cNvSpPr/>
          <p:nvPr/>
        </p:nvSpPr>
        <p:spPr>
          <a:xfrm>
            <a:off x="97840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00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502920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1–2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84632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594360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Descoberta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94360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Requisitos, fontes e critérios de sucesso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2871216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2395728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3–10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377440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2487168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2487168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 semanas com dados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764024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620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 txBox="1"/>
          <p:nvPr/>
        </p:nvSpPr>
        <p:spPr>
          <a:xfrm>
            <a:off x="4288536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11–18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270248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4379976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4379976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Conectores, perfis e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656832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3428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6181344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19–23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163056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272784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Homologação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6272784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Qualidade, segurança e carga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8549640" y="3429000"/>
            <a:ext cx="786384" cy="78638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6236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8074152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055864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8165592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8165592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Entrada em produção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044244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904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0"/>
          <p:cNvSpPr txBox="1"/>
          <p:nvPr/>
        </p:nvSpPr>
        <p:spPr>
          <a:xfrm>
            <a:off x="9966960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25–36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948672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10058400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Operação assistida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10058400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 e melhoria contínua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BUSINESS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Retorno estimado do investimento</a:t>
            </a:r>
            <a:endParaRPr sz="3600"/>
          </a:p>
        </p:txBody>
      </p:sp>
      <p:sp>
        <p:nvSpPr>
          <p:cNvPr id="378" name="Google Shape;378;p11"/>
          <p:cNvSpPr/>
          <p:nvPr/>
        </p:nvSpPr>
        <p:spPr>
          <a:xfrm>
            <a:off x="548640" y="1691640"/>
            <a:ext cx="4754880" cy="3063240"/>
          </a:xfrm>
          <a:prstGeom prst="roundRect">
            <a:avLst>
              <a:gd fmla="val 4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PREMISSAS (EDITÁVEIS)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Alunos ativos / docentes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3657600" y="22402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8.000 / 150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Evasão evitada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3657600" y="2697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0,6 p.p. (48 alunos)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Receita anual por aluno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3657600" y="31546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R$ 14.400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82296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Horas docentes liberadas por 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3657600" y="36118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822960" y="40690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Adoção no 1º ano pós go-live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3657600" y="40690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548640" y="4937760"/>
            <a:ext cx="4754880" cy="1143000"/>
          </a:xfrm>
          <a:prstGeom prst="roundRect">
            <a:avLst>
              <a:gd fmla="val 112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 txBox="1"/>
          <p:nvPr/>
        </p:nvSpPr>
        <p:spPr>
          <a:xfrm>
            <a:off x="822960" y="504748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BENEFÍCIO ANUAL ESTIMADO (ADOÇÃO PLENA)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822960" y="53492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R$ 1,14 mi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3" name="Google Shape;393;p11"/>
          <p:cNvGraphicFramePr/>
          <p:nvPr/>
        </p:nvGraphicFramePr>
        <p:xfrm>
          <a:off x="5577840" y="1645920"/>
          <a:ext cx="608076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94" name="Google Shape;394;p11"/>
          <p:cNvSpPr/>
          <p:nvPr/>
        </p:nvSpPr>
        <p:spPr>
          <a:xfrm>
            <a:off x="557784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rgbClr val="0E7C8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 txBox="1"/>
          <p:nvPr/>
        </p:nvSpPr>
        <p:spPr>
          <a:xfrm>
            <a:off x="576072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meses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717804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a partir da assinatura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868680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 txBox="1"/>
          <p:nvPr/>
        </p:nvSpPr>
        <p:spPr>
          <a:xfrm>
            <a:off x="886968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R$ 1,25 mi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/>
        </p:nvSpPr>
        <p:spPr>
          <a:xfrm>
            <a:off x="1028700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líquido em 36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 txBox="1"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Estimativa baseada em premissas informadas; não constitui garantia de resultado. 48 alunos × R$ 14.400 de receita anual por aluno; 150 docentes × 4 h/mês × 10 meses × R$ 75/h.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Investimento: pacote recomendado</a:t>
            </a:r>
            <a:endParaRPr sz="3600"/>
          </a:p>
        </p:txBody>
      </p:sp>
      <p:graphicFrame>
        <p:nvGraphicFramePr>
          <p:cNvPr id="409" name="Google Shape;409;p12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{D46EEB0E-134B-4EDC-AF56-DD698DA65BD2}</a:tableStyleId>
              </a:tblPr>
              <a:tblGrid>
                <a:gridCol w="2011675"/>
                <a:gridCol w="4846325"/>
                <a:gridCol w="2743200"/>
                <a:gridCol w="14932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Item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O que inclui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Modelo de cobrança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Valor (R$)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Prova de conceito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8 semanas · 1 curso · até 500 alunos · 1 LMS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crédito integral na implantação se contratada em até 60 dias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R$ 35.000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Implantação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2 LMS (Moodle e Canvas), curadoria de materiais, painel docente, PWA, privacidade LGPD, treinamento de docentes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40% assinatura, 40% homologação, 20%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R$ 120.000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Licença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8.000 aluno ativos × R$ 44/ano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R$ 352.000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Plataforma gerenciada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Hospedagem isolada, guardrails, observabilidade de IA, atualizações e 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R$ 105.000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Suporte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Suporte estendido em períodos de provas e matrículas, com plantão N3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R$ 45.000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Consumo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Interações ilimitadas por aluno ativo, com política de uso justo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Incluso até o limite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Incluso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12"/>
          <p:cNvSpPr/>
          <p:nvPr/>
        </p:nvSpPr>
        <p:spPr>
          <a:xfrm>
            <a:off x="54864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 txBox="1"/>
          <p:nvPr/>
        </p:nvSpPr>
        <p:spPr>
          <a:xfrm>
            <a:off x="77724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IMPLANTAÇÃO (PONTUAL)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77724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R$ 120.000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29768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 txBox="1"/>
          <p:nvPr/>
        </p:nvSpPr>
        <p:spPr>
          <a:xfrm>
            <a:off x="452628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RECORRENTE ANUAL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452628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R$ 502.000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804672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827532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INVESTIMENTO EM 36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827532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R$ 1.375.000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548640" y="6144768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Equivale a ~R$ 63 por aluno ativo/ano (≈ US$ 12), com licença, plataforma e suporte incluídos. Valores em R$, sem impostos; proposta de referência, sujeita a aprovação comercial.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OPÇÕES DE CONTRATAÇÃO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Três pacotes para decidir</a:t>
            </a:r>
            <a:endParaRPr sz="3600"/>
          </a:p>
        </p:txBody>
      </p:sp>
      <p:sp>
        <p:nvSpPr>
          <p:cNvPr id="428" name="Google Shape;428;p13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 txBox="1"/>
          <p:nvPr/>
        </p:nvSpPr>
        <p:spPr>
          <a:xfrm>
            <a:off x="82296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Essencial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82296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Piloto por curso ou campus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 txBox="1"/>
          <p:nvPr/>
        </p:nvSpPr>
        <p:spPr>
          <a:xfrm>
            <a:off x="82296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R$ 239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82296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R$ 66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 txBox="1"/>
          <p:nvPr/>
        </p:nvSpPr>
        <p:spPr>
          <a:xfrm>
            <a:off x="111556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4.000 alunos ativos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 txBox="1"/>
          <p:nvPr/>
        </p:nvSpPr>
        <p:spPr>
          <a:xfrm>
            <a:off x="111556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LMS integrado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3"/>
          <p:cNvSpPr txBox="1"/>
          <p:nvPr/>
        </p:nvSpPr>
        <p:spPr>
          <a:xfrm>
            <a:off x="111556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Curadoria de até 40 disciplinas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3"/>
          <p:cNvSpPr txBox="1"/>
          <p:nvPr/>
        </p:nvSpPr>
        <p:spPr>
          <a:xfrm>
            <a:off x="111556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em horário comercial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1" name="Google Shape;4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3"/>
          <p:cNvSpPr txBox="1"/>
          <p:nvPr/>
        </p:nvSpPr>
        <p:spPr>
          <a:xfrm>
            <a:off x="111556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Painel docente básico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dk2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5440680" y="1554480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 txBox="1"/>
          <p:nvPr/>
        </p:nvSpPr>
        <p:spPr>
          <a:xfrm>
            <a:off x="5440680" y="1554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>
            <a:off x="457200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Profissional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457200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Instituição com 8 mil alunos ativos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457200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R$ 502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 txBox="1"/>
          <p:nvPr/>
        </p:nvSpPr>
        <p:spPr>
          <a:xfrm>
            <a:off x="457200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R$ 120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3"/>
          <p:cNvSpPr txBox="1"/>
          <p:nvPr/>
        </p:nvSpPr>
        <p:spPr>
          <a:xfrm>
            <a:off x="486460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8.000 alunos ativos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3"/>
          <p:cNvSpPr txBox="1"/>
          <p:nvPr/>
        </p:nvSpPr>
        <p:spPr>
          <a:xfrm>
            <a:off x="486460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LMS integrados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3"/>
          <p:cNvSpPr txBox="1"/>
          <p:nvPr/>
        </p:nvSpPr>
        <p:spPr>
          <a:xfrm>
            <a:off x="486460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Curadoria de até 120 disciplinas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3"/>
          <p:cNvSpPr txBox="1"/>
          <p:nvPr/>
        </p:nvSpPr>
        <p:spPr>
          <a:xfrm>
            <a:off x="486460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Suporte estendido em provas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8" name="Google Shape;4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3"/>
          <p:cNvSpPr txBox="1"/>
          <p:nvPr/>
        </p:nvSpPr>
        <p:spPr>
          <a:xfrm>
            <a:off x="486460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Painel docente completo e PWA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832104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832104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Rede com múltiplos campi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 txBox="1"/>
          <p:nvPr/>
        </p:nvSpPr>
        <p:spPr>
          <a:xfrm>
            <a:off x="832104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R$ 770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 txBox="1"/>
          <p:nvPr/>
        </p:nvSpPr>
        <p:spPr>
          <a:xfrm>
            <a:off x="832104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R$ 168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 txBox="1"/>
          <p:nvPr/>
        </p:nvSpPr>
        <p:spPr>
          <a:xfrm>
            <a:off x="861364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13.000 alunos ativos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 txBox="1"/>
          <p:nvPr/>
        </p:nvSpPr>
        <p:spPr>
          <a:xfrm>
            <a:off x="861364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LMS ou mais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 txBox="1"/>
          <p:nvPr/>
        </p:nvSpPr>
        <p:spPr>
          <a:xfrm>
            <a:off x="861364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Curadoria sem limite de disciplinas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3"/>
          <p:cNvSpPr txBox="1"/>
          <p:nvPr/>
        </p:nvSpPr>
        <p:spPr>
          <a:xfrm>
            <a:off x="861364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Plantão 24/7 em períodos críticos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3"/>
          <p:cNvSpPr txBox="1"/>
          <p:nvPr/>
        </p:nvSpPr>
        <p:spPr>
          <a:xfrm>
            <a:off x="861364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institucional e BI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CONDIÇÕES COMERCIAIS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Condições e acordos de nível de serviço</a:t>
            </a:r>
            <a:endParaRPr sz="3600"/>
          </a:p>
        </p:txBody>
      </p:sp>
      <p:sp>
        <p:nvSpPr>
          <p:cNvPr id="483" name="Google Shape;483;p14"/>
          <p:cNvSpPr/>
          <p:nvPr/>
        </p:nvSpPr>
        <p:spPr>
          <a:xfrm>
            <a:off x="548640" y="1691640"/>
            <a:ext cx="56692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4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5" name="Google Shape;4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4"/>
          <p:cNvSpPr txBox="1"/>
          <p:nvPr/>
        </p:nvSpPr>
        <p:spPr>
          <a:xfrm>
            <a:off x="1463040" y="1874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2834640" y="187452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dias a partir da emissão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9" name="Google Shape;4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724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4"/>
          <p:cNvSpPr txBox="1"/>
          <p:nvPr/>
        </p:nvSpPr>
        <p:spPr>
          <a:xfrm>
            <a:off x="1463040" y="25694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 txBox="1"/>
          <p:nvPr/>
        </p:nvSpPr>
        <p:spPr>
          <a:xfrm>
            <a:off x="2834640" y="2569464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Implantação em 3 parcelas (40/40/20); recorrente mensal, trimestral ou 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3" name="Google Shape;4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3419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4"/>
          <p:cNvSpPr txBox="1"/>
          <p:nvPr/>
        </p:nvSpPr>
        <p:spPr>
          <a:xfrm>
            <a:off x="1463040" y="326440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Reajuste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2834640" y="326440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 pelo IPCA, a partir do 13º 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4"/>
          <p:cNvSpPr txBox="1"/>
          <p:nvPr/>
        </p:nvSpPr>
        <p:spPr>
          <a:xfrm>
            <a:off x="1463040" y="395935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 contratual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 txBox="1"/>
          <p:nvPr/>
        </p:nvSpPr>
        <p:spPr>
          <a:xfrm>
            <a:off x="2834640" y="395935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meses, com recorrente cobrado a partir do go-live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1" name="Google Shape;5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48097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4"/>
          <p:cNvSpPr txBox="1"/>
          <p:nvPr/>
        </p:nvSpPr>
        <p:spPr>
          <a:xfrm>
            <a:off x="1463040" y="465429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Impostos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 txBox="1"/>
          <p:nvPr/>
        </p:nvSpPr>
        <p:spPr>
          <a:xfrm>
            <a:off x="2834640" y="4654296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sem impostos; incidências conforme legislação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5" name="Google Shape;5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688" y="5504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4"/>
          <p:cNvSpPr txBox="1"/>
          <p:nvPr/>
        </p:nvSpPr>
        <p:spPr>
          <a:xfrm>
            <a:off x="1463040" y="53492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 txBox="1"/>
          <p:nvPr/>
        </p:nvSpPr>
        <p:spPr>
          <a:xfrm>
            <a:off x="2834640" y="53492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DPA e política de retenção definidos em contrato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SLAs DE 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9" name="Google Shape;509;p14"/>
          <p:cNvGraphicFramePr/>
          <p:nvPr/>
        </p:nvGraphicFramePr>
        <p:xfrm>
          <a:off x="64922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{D46EEB0E-134B-4EDC-AF56-DD698DA65BD2}</a:tableStyleId>
              </a:tblPr>
              <a:tblGrid>
                <a:gridCol w="1554475"/>
                <a:gridCol w="1920250"/>
                <a:gridCol w="1673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Severidade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1ª resposta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Resolução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1 · Crítica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15 min (24/7)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2 · Alta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3 · Média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 (comercial)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4 · Baixa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12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5 dias úteis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10" name="Google Shape;510;p14"/>
          <p:cNvSpPr txBox="1"/>
          <p:nvPr/>
        </p:nvSpPr>
        <p:spPr>
          <a:xfrm>
            <a:off x="6492240" y="4160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INCENTIVOS (SUJEITOS À APROVAÇÃO)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649224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6F1FB"/>
          </a:solidFill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 txBox="1"/>
          <p:nvPr/>
        </p:nvSpPr>
        <p:spPr>
          <a:xfrm>
            <a:off x="662940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Crédito de 100% da PoC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662940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contratar em até 60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909828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6F1FB"/>
          </a:solidFill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 txBox="1"/>
          <p:nvPr/>
        </p:nvSpPr>
        <p:spPr>
          <a:xfrm>
            <a:off x="923544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 anual antecipado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 txBox="1"/>
          <p:nvPr/>
        </p:nvSpPr>
        <p:spPr>
          <a:xfrm>
            <a:off x="923544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sobre o recorrente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649224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6F1FB"/>
          </a:solidFill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 txBox="1"/>
          <p:nvPr/>
        </p:nvSpPr>
        <p:spPr>
          <a:xfrm>
            <a:off x="662940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Contrato de 36 meses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662940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8% sobre a licença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909828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6F1FB"/>
          </a:solidFill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 txBox="1"/>
          <p:nvPr/>
        </p:nvSpPr>
        <p:spPr>
          <a:xfrm>
            <a:off x="923544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 até [data]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923544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3% adicionais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GOVERNANÇA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Quem faz o quê</a:t>
            </a:r>
            <a:endParaRPr sz="3600"/>
          </a:p>
        </p:txBody>
      </p:sp>
      <p:sp>
        <p:nvSpPr>
          <p:cNvPr id="531" name="Google Shape;531;p15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 txBox="1"/>
          <p:nvPr/>
        </p:nvSpPr>
        <p:spPr>
          <a:xfrm>
            <a:off x="822960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859536" y="2350008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4" name="Google Shape;5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5"/>
          <p:cNvSpPr txBox="1"/>
          <p:nvPr/>
        </p:nvSpPr>
        <p:spPr>
          <a:xfrm>
            <a:off x="1600200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Gerente de projeto / Customer Success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1600200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Plano, cronograma e relacionamento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859536" y="3300984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8" name="Google Shape;53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268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5"/>
          <p:cNvSpPr txBox="1"/>
          <p:nvPr/>
        </p:nvSpPr>
        <p:spPr>
          <a:xfrm>
            <a:off x="1600200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Engenharia de Soluções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1600200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Arquitetura, PoC e integrações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859536" y="4251960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2" name="Google Shape;5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268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5"/>
          <p:cNvSpPr txBox="1"/>
          <p:nvPr/>
        </p:nvSpPr>
        <p:spPr>
          <a:xfrm>
            <a:off x="1600200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Especialista pedagógico (SME)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 txBox="1"/>
          <p:nvPr/>
        </p:nvSpPr>
        <p:spPr>
          <a:xfrm>
            <a:off x="1600200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 a precisão técnica das respostas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859536" y="520293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6" name="Google Shape;54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268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5"/>
          <p:cNvSpPr txBox="1"/>
          <p:nvPr/>
        </p:nvSpPr>
        <p:spPr>
          <a:xfrm>
            <a:off x="1600200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Ops e Engenharia de Sustentação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 txBox="1"/>
          <p:nvPr/>
        </p:nvSpPr>
        <p:spPr>
          <a:xfrm>
            <a:off x="1600200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 da IA, latência e incidentes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6190488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 txBox="1"/>
          <p:nvPr/>
        </p:nvSpPr>
        <p:spPr>
          <a:xfrm>
            <a:off x="6464808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6501384" y="2350008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2" name="Google Shape;5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116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5"/>
          <p:cNvSpPr txBox="1"/>
          <p:nvPr/>
        </p:nvSpPr>
        <p:spPr>
          <a:xfrm>
            <a:off x="7242048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Patrocinador (Reitoria ou Pró-reitoria)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7242048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Decisão, prioridades e patrocínio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6501384" y="3300984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6" name="Google Shape;55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3116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5"/>
          <p:cNvSpPr txBox="1"/>
          <p:nvPr/>
        </p:nvSpPr>
        <p:spPr>
          <a:xfrm>
            <a:off x="7242048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 acadêmica e integrações com LMS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7242048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Acesso a fontes, rede e SSO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6501384" y="4251960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0" name="Google Shape;56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43116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5"/>
          <p:cNvSpPr txBox="1"/>
          <p:nvPr/>
        </p:nvSpPr>
        <p:spPr>
          <a:xfrm>
            <a:off x="7242048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Segurança da informação e DPO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7242048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Política de dados e segurança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6501384" y="5202936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4" name="Google Shape;56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3116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5"/>
          <p:cNvSpPr txBox="1"/>
          <p:nvPr/>
        </p:nvSpPr>
        <p:spPr>
          <a:xfrm>
            <a:off x="7242048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Docentes-piloto e coordenação de curso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 txBox="1"/>
          <p:nvPr/>
        </p:nvSpPr>
        <p:spPr>
          <a:xfrm>
            <a:off x="7242048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Validação e adoção no dia a 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RISCOS E MITIGAÇÃO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Riscos conhecidos e como tratamos</a:t>
            </a:r>
            <a:endParaRPr sz="3600"/>
          </a:p>
        </p:txBody>
      </p:sp>
      <p:graphicFrame>
        <p:nvGraphicFramePr>
          <p:cNvPr id="575" name="Google Shape;575;p1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{D46EEB0E-134B-4EDC-AF56-DD698DA65BD2}</a:tableStyleId>
              </a:tblPr>
              <a:tblGrid>
                <a:gridCol w="3931925"/>
                <a:gridCol w="7162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Risco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Mitigação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Materiais desatualizados ou incompletos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Curadoria docente obrigatória e métrica de cobertura por curso.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Adoção por alunos e docentes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Docentes-piloto, trilhas de onboarding e métricas de engajamento.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Picos de uso em provas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Planejamento de capacidade com Customer Success e suporte estendido.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Privacidade de estudantes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Perfis, retenção configurável e definição de base legal com o DPO.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6" name="Google Shape;576;p16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fmla="val 2258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6"/>
          <p:cNvSpPr txBox="1"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Governança: comitê quinzenal durante a implantação e mensal na operação assistida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POR QUE A SYNAPSEAI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Por que a SynapseAI para Educação</a:t>
            </a:r>
            <a:endParaRPr sz="3600"/>
          </a:p>
        </p:txBody>
      </p:sp>
      <p:sp>
        <p:nvSpPr>
          <p:cNvPr id="586" name="Google Shape;586;p17"/>
          <p:cNvSpPr/>
          <p:nvPr/>
        </p:nvSpPr>
        <p:spPr>
          <a:xfrm>
            <a:off x="54864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"/>
          <p:cNvSpPr txBox="1"/>
          <p:nvPr/>
        </p:nvSpPr>
        <p:spPr>
          <a:xfrm>
            <a:off x="77724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 txBox="1"/>
          <p:nvPr/>
        </p:nvSpPr>
        <p:spPr>
          <a:xfrm>
            <a:off x="224028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colaboradores em 7 áreas, de IA e engenharia a suporte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429768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7"/>
          <p:cNvSpPr txBox="1"/>
          <p:nvPr/>
        </p:nvSpPr>
        <p:spPr>
          <a:xfrm>
            <a:off x="452628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 txBox="1"/>
          <p:nvPr/>
        </p:nvSpPr>
        <p:spPr>
          <a:xfrm>
            <a:off x="598932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produtos de IA generativa para Finanças, Educação e Saúde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804672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 txBox="1"/>
          <p:nvPr/>
        </p:nvSpPr>
        <p:spPr>
          <a:xfrm>
            <a:off x="827532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24/7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7"/>
          <p:cNvSpPr txBox="1"/>
          <p:nvPr/>
        </p:nvSpPr>
        <p:spPr>
          <a:xfrm>
            <a:off x="973836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operação e plantão para produtos de alta criticidade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54864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7"/>
          <p:cNvSpPr/>
          <p:nvPr/>
        </p:nvSpPr>
        <p:spPr>
          <a:xfrm>
            <a:off x="795528" y="37216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7" name="Google Shape;5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7"/>
          <p:cNvSpPr txBox="1"/>
          <p:nvPr/>
        </p:nvSpPr>
        <p:spPr>
          <a:xfrm>
            <a:off x="160020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Verticalização por domínio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 txBox="1"/>
          <p:nvPr/>
        </p:nvSpPr>
        <p:spPr>
          <a:xfrm>
            <a:off x="160020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produto nasce do contexto operacional e regulatório do setor.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621792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7"/>
          <p:cNvSpPr/>
          <p:nvPr/>
        </p:nvSpPr>
        <p:spPr>
          <a:xfrm>
            <a:off x="6464808" y="3721608"/>
            <a:ext cx="603504" cy="60350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2" name="Google Shape;6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68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7"/>
          <p:cNvSpPr txBox="1"/>
          <p:nvPr/>
        </p:nvSpPr>
        <p:spPr>
          <a:xfrm>
            <a:off x="726948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IA explicável e auditável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 txBox="1"/>
          <p:nvPr/>
        </p:nvSpPr>
        <p:spPr>
          <a:xfrm>
            <a:off x="726948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Respostas ligadas a fontes confiáveis e registradas em trilha.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54864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795528" y="50932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7" name="Google Shape;6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7"/>
          <p:cNvSpPr txBox="1"/>
          <p:nvPr/>
        </p:nvSpPr>
        <p:spPr>
          <a:xfrm>
            <a:off x="160020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Compliance desde a concepção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 txBox="1"/>
          <p:nvPr/>
        </p:nvSpPr>
        <p:spPr>
          <a:xfrm>
            <a:off x="160020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Isolamento por cliente, criptografia e controle de acesso rigoroso.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621792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6464808" y="5093208"/>
            <a:ext cx="603504" cy="603504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2" name="Google Shape;61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568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7"/>
          <p:cNvSpPr txBox="1"/>
          <p:nvPr/>
        </p:nvSpPr>
        <p:spPr>
          <a:xfrm>
            <a:off x="726948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Parceria de longo 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 txBox="1"/>
          <p:nvPr/>
        </p:nvSpPr>
        <p:spPr>
          <a:xfrm>
            <a:off x="726948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Success, melhoria contínua e especialistas de domínio internos.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aceite ao kick-off</a:t>
            </a:r>
            <a:endParaRPr sz="3600"/>
          </a:p>
        </p:txBody>
      </p:sp>
      <p:sp>
        <p:nvSpPr>
          <p:cNvPr id="623" name="Google Shape;623;p18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8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5" name="Google Shape;6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18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777240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Validação técnica e de segurança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 txBox="1"/>
          <p:nvPr/>
        </p:nvSpPr>
        <p:spPr>
          <a:xfrm>
            <a:off x="777240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Sessão com TI, InfoSec e DPO para validar arquitetura e requisitos.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8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2" name="Google Shape;63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5324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8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3575304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Ajustes de escopo e comercial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 txBox="1"/>
          <p:nvPr/>
        </p:nvSpPr>
        <p:spPr>
          <a:xfrm>
            <a:off x="3575304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Revisão final de pacote, condições e minuta contratual.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8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9" name="Google Shape;6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3388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18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 txBox="1"/>
          <p:nvPr/>
        </p:nvSpPr>
        <p:spPr>
          <a:xfrm>
            <a:off x="6373368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 txBox="1"/>
          <p:nvPr/>
        </p:nvSpPr>
        <p:spPr>
          <a:xfrm>
            <a:off x="6373368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Aceite da proposta e assinatura do contrato e do DPA.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8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8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8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6" name="Google Shape;6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1452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18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9171432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Kick-off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 txBox="1"/>
          <p:nvPr/>
        </p:nvSpPr>
        <p:spPr>
          <a:xfrm>
            <a:off x="9171432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Início da descoberta e da prova de conceito com o time do projeto.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fmla="val 1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8"/>
          <p:cNvSpPr txBox="1"/>
          <p:nvPr/>
        </p:nvSpPr>
        <p:spPr>
          <a:xfrm>
            <a:off x="914400" y="524865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confirmar a data de kick-off hoje?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 txBox="1"/>
          <p:nvPr/>
        </p:nvSpPr>
        <p:spPr>
          <a:xfrm>
            <a:off x="914400" y="5669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Nome do responsável comercial  ·  Cargo  ·  Contato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8412480" y="5303520"/>
            <a:ext cx="3017520" cy="45720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8"/>
          <p:cNvSpPr txBox="1"/>
          <p:nvPr/>
        </p:nvSpPr>
        <p:spPr>
          <a:xfrm>
            <a:off x="8412480" y="5303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edumentor.synapseai.com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9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Obrigado</a:t>
            </a:r>
            <a:endParaRPr sz="6000"/>
          </a:p>
        </p:txBody>
      </p:sp>
      <p:sp>
        <p:nvSpPr>
          <p:cNvPr id="663" name="Google Shape;663;p19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200"/>
              <a:buNone/>
            </a:pPr>
            <a:r>
              <a:rPr lang="en-US" sz="2200">
                <a:solidFill>
                  <a:srgbClr val="B7C8DE"/>
                </a:solidFill>
              </a:rPr>
              <a:t>Vamos transformar esta proposta em resultado</a:t>
            </a:r>
            <a:endParaRPr sz="2200"/>
          </a:p>
        </p:txBody>
      </p:sp>
      <p:pic>
        <p:nvPicPr>
          <p:cNvPr descr="preencoded.png" id="664" name="Google Shape;6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562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19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Site institucional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9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7" name="Google Shape;6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5020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9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Documentação do 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9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docs.synapseai.com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2026-10-03T05:14:31Z</dcterms:created>
  <dc:creator>SynapseAI Solutions</dc:creator>
</cp:coreProperties>
</file>