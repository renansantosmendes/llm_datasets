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3e5a5ca-e8bc-f92c-341a-8c92fe6eb6ee}">
          <p14:sldIdLst>
            <p14:sldId id="256"/>
          </p14:sldIdLst>
        </p14:section>
        <p14:section name="Solução" id="{1623da88-582a-f9ba-da94-05ad8320e3c1}">
          <p14:sldIdLst>
            <p14:sldId id="257"/>
            <p14:sldId id="258"/>
            <p14:sldId id="259"/>
            <p14:sldId id="260"/>
          </p14:sldIdLst>
        </p14:section>
        <p14:section name="Planos" id="{24afd7e5-331a-ff3a-5f01-75c950694ebf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Fechamento" id="{5abe6d1c-1cbf-3138-3279-af8a45341e85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5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3050"/>
                </a:solidFill>
                <a:latin typeface="+mn-lt"/>
              </a:rPr>
              <a:t>Por mês: custo do plano × valor estimado (R$)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do plano</c:v>
                </c:pt>
              </c:strCache>
            </c:strRef>
          </c:tx>
          <c:spPr>
            <a:solidFill>
              <a:srgbClr val="9AA6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Growth</c:v>
                  </c:pt>
                  <c:pt idx="2">
                    <c:v>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490</c:v>
                </c:pt>
                <c:pt idx="1">
                  <c:v>1490</c:v>
                </c:pt>
                <c:pt idx="2">
                  <c:v>3490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Valor estimado gerado</c:v>
                </c:pt>
              </c:strCache>
            </c:strRef>
          </c:tx>
          <c:spPr>
            <a:solidFill>
              <a:srgbClr val="17A9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Growth</c:v>
                  </c:pt>
                  <c:pt idx="2">
                    <c:v>Pro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1400</c:v>
                </c:pt>
                <c:pt idx="1">
                  <c:v>4200</c:v>
                </c:pt>
                <c:pt idx="2">
                  <c:v>11200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entrada para PMEs. Os planos são uma oferta de autoatendimento em ambiente gerenciado, com isolamento lógico por cliente. Os preços são de referência e dependem de aprovação comercial e de validação técnica do modelo de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em uma frase: preço de entrada, teste grátis, sem fidelidade e começo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qual das três dores é a mais urgente para o cliente e conduza a conversa a partir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só as duas ou três funcionalidades ligadas à dor escolhida no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que não é preciso time de TI e que o teste é grátis.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Growth é o recomendado para a maioria das PMEs. Mensal sem fidelidade; anual com 2 meses grátis. Âncoras de mercado (jun–set/2026): ChatGPT Business a US$ 20–25 por usuário/mês (mín. 2 assentos) e Microsoft 365 Copilot Business a US$ 18–21, ambos genéricos e sem conexão com ERP; FP&amp;A para pequenas empresas: Fathom Starter ~US$ 53–65/mês, PlanGuru US$ 99–399/mês, Jirav ~US$ 833/mês e Cube Essentials US$ 1.250/mês. Starter equivale a ~R$ 98 por usuário/mês (≈ US$ 19); Growth, ~R$ 99,33 (≈ US$ 19); Pro, ~R$ 87,25 (≈ US$ 17). Preços de referência: confirme aprovação comercial antes do envio.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tabela para mostrar o caminho de crescimento até o Enterprise (nuvem privada ou on-premise, com SLAs 24/7).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Premissas ilustrativas e editáveis; valide com o cliente. Não apresente como garantia de resultado. Âncoras de mercado (jun–set/2026): ChatGPT Business a US$ 20–25 por usuário/mês (mín. 2 assentos) e Microsoft 365 Copilot Business a US$ 18–21, ambos genéricos e sem conexão com ERP; FP&amp;A para pequenas empresas: Fathom Starter ~US$ 53–65/mês, PlanGuru US$ 99–399/mês, Jirav ~US$ 833/mês e Cube Essentials US$ 1.250/mês.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planos Starter usam ambiente gerenciado com isolamento lógico por cliente; nuvem privada e on-premise ficam no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tempos de resposta dos planos de entrada são propostos e precisam ser validados com a área de Suporte. Os SLAs 24/7 do Enterprise seguem a matriz de severidade da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Condições propostas para a oferta de entrada; valide com financeiro e jurídico antes do envio.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para contornar objeções comuns de PMEs: complexidade, segurança, risco de ficar preso e crescimento.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o cliente criar a conta durante a reunião. Quanto mais rápido o primeiro uso, maior a conversão.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comerciais. Âncoras de mercado (jun–set/2026): ChatGPT Business a US$ 20–25 por usuário/mês (mín. 2 assentos) e Microsoft 365 Copilot Business a US$ 18–21, ambos genéricos e sem conexão com ERP; FP&amp;A para pequenas empresas: Fathom Starter ~US$ 53–65/mês, PlanGuru US$ 99–399/mês, Jirav ~US$ 833/mês e Cube Essentials US$ 1.250/mês. Starter equivale a ~R$ 98 por usuário/mês (≈ US$ 19); Growth, ~R$ 99,33 (≈ US$ 19); Pro, ~R$ 87,25 (≈ US$ 17). Valores de referência: confirme com a liderança comercial, e valide com produto e engenharia o modelo de entrega em ambiente gerenciado antes de vender.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APA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TITULO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FECHAMENTO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76656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SynapseAI Solutions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B7C8DE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46888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SynapseAI Solutions  ·  Proposta para PMEs  ·  Valores sem impostos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76656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SynapseAI Solutions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B7C8D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73152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FD6E0"/>
                </a:solidFill>
              </a:rPr>
              <a:t>PROPOSTA COMERCIAL · PLANOS STARTER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FinBrain para pequenas e médias empresas</a:t>
            </a:r>
            <a:endParaRPr lang="en-US" sz="4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7C8DE"/>
                </a:solidFill>
              </a:rPr>
              <a:t>Comece a partir de R$ 490/mês, com 14 dias de teste grátis e sem fidelidade</a:t>
            </a:r>
            <a:endParaRPr lang="en-US" sz="2000" dirty="0"/>
          </a:p>
        </p:txBody>
      </p:sp>
      <p:sp>
        <p:nvSpPr>
          <p:cNvPr id="5" name="Responsável"/>
          <p:cNvSpPr txBox="1"/>
          <p:nvPr/>
        </p:nvSpPr>
        <p:spPr>
          <a:xfrm>
            <a:off x="731520" y="5166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Preparada para [Nome do cliente]  ·  Nome do responsável comercial  ·  Contato</a:t>
            </a:r>
            <a:endParaRPr lang="en-US" sz="1400" dirty="0"/>
          </a:p>
        </p:txBody>
      </p:sp>
      <p:pic>
        <p:nvPicPr>
          <p:cNvPr id="6" name="Símbolo FinBrain" descr="assets/sym_fin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18872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RESUMO DA OFERTA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FinBrain ao alcance de uma PME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FinBrain: copiloto financeiro corporativo em planos simples, para quem não tem time de TI nem orçamento de grande empresa.</a:t>
            </a:r>
            <a:endParaRPr lang="en-US" sz="2000" dirty="0"/>
          </a:p>
        </p:txBody>
      </p:sp>
      <p:sp>
        <p:nvSpPr>
          <p:cNvPr id="6" name="Ícone fundo"/>
          <p:cNvSpPr/>
          <p:nvPr/>
        </p:nvSpPr>
        <p:spPr>
          <a:xfrm>
            <a:off x="585216" y="332841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FaGi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34701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Teste grátis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355701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14 dias sem cartão de crédito, com todos os recursos do plano escolhido.</a:t>
            </a:r>
            <a:endParaRPr lang="en-US" sz="1300" dirty="0"/>
          </a:p>
        </p:txBody>
      </p:sp>
      <p:sp>
        <p:nvSpPr>
          <p:cNvPr id="10" name="Ícone fundo"/>
          <p:cNvSpPr/>
          <p:nvPr/>
        </p:nvSpPr>
        <p:spPr>
          <a:xfrm>
            <a:off x="585216" y="4288536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Ícone FaB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443026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4206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Sem fidelidade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451713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Plano mensal, com cancelamento a qualquer momento. No anual, 2 meses grátis.</a:t>
            </a:r>
            <a:endParaRPr lang="en-US" sz="1300" dirty="0"/>
          </a:p>
        </p:txBody>
      </p:sp>
      <p:sp>
        <p:nvSpPr>
          <p:cNvPr id="14" name="Ícone fundo"/>
          <p:cNvSpPr/>
          <p:nvPr/>
        </p:nvSpPr>
        <p:spPr>
          <a:xfrm>
            <a:off x="585216" y="5248656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Ícone FaRock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539038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5166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Comece rápido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371600" y="547725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Primeiros resultados em 1 dia: para conectar a primeira fonte, com assistente guiado.</a:t>
            </a:r>
            <a:endParaRPr lang="en-US" sz="1300" dirty="0"/>
          </a:p>
        </p:txBody>
      </p:sp>
      <p:sp>
        <p:nvSpPr>
          <p:cNvPr id="18" name="Indicador"/>
          <p:cNvSpPr/>
          <p:nvPr/>
        </p:nvSpPr>
        <p:spPr>
          <a:xfrm>
            <a:off x="7269480" y="1691640"/>
            <a:ext cx="4370832" cy="1325880"/>
          </a:xfrm>
          <a:prstGeom prst="roundRect">
            <a:avLst>
              <a:gd name="adj" fmla="val 11034"/>
            </a:avLst>
          </a:prstGeom>
          <a:solidFill>
            <a:srgbClr val="0E7C89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7498080" y="1691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R$ 490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9646920" y="169164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por mês no plano Starter, a partir de</a:t>
            </a:r>
            <a:endParaRPr lang="en-US" sz="1300" dirty="0"/>
          </a:p>
        </p:txBody>
      </p:sp>
      <p:sp>
        <p:nvSpPr>
          <p:cNvPr id="21" name="Indicador"/>
          <p:cNvSpPr/>
          <p:nvPr/>
        </p:nvSpPr>
        <p:spPr>
          <a:xfrm>
            <a:off x="7269480" y="3200400"/>
            <a:ext cx="4370832" cy="1325880"/>
          </a:xfrm>
          <a:prstGeom prst="roundRect">
            <a:avLst>
              <a:gd name="adj" fmla="val 1103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7498080" y="32004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E0"/>
                </a:solidFill>
              </a:rPr>
              <a:t>14 dias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9646920" y="320040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 teste grátis, sem cartão</a:t>
            </a:r>
            <a:endParaRPr lang="en-US" sz="1300" dirty="0"/>
          </a:p>
        </p:txBody>
      </p:sp>
      <p:sp>
        <p:nvSpPr>
          <p:cNvPr id="24" name="Indicador"/>
          <p:cNvSpPr/>
          <p:nvPr/>
        </p:nvSpPr>
        <p:spPr>
          <a:xfrm>
            <a:off x="7269480" y="4709160"/>
            <a:ext cx="4370832" cy="1325880"/>
          </a:xfrm>
          <a:prstGeom prst="roundRect">
            <a:avLst>
              <a:gd name="adj" fmla="val 1103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7498080" y="47091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6E0"/>
                </a:solidFill>
              </a:rPr>
              <a:t>1 dia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9646920" y="470916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para os primeiros resultados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O DESAFIO DA PEQUENA EMPRESA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 que costuma travar o seu negócio</a:t>
            </a:r>
            <a:endParaRPr lang="en-US" sz="3600" dirty="0"/>
          </a:p>
        </p:txBody>
      </p:sp>
      <p:sp>
        <p:nvSpPr>
          <p:cNvPr id="5" name="Dor"/>
          <p:cNvSpPr/>
          <p:nvPr/>
        </p:nvSpPr>
        <p:spPr>
          <a:xfrm>
            <a:off x="54864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Sem time de dados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Planilhas e ERP não conversam; cada pergunta vira horas de consolidação manual.</a:t>
            </a:r>
            <a:endParaRPr lang="en-US" sz="1400" dirty="0"/>
          </a:p>
        </p:txBody>
      </p:sp>
      <p:sp>
        <p:nvSpPr>
          <p:cNvPr id="9" name="Dor"/>
          <p:cNvSpPr/>
          <p:nvPr/>
        </p:nvSpPr>
        <p:spPr>
          <a:xfrm>
            <a:off x="429768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02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Decisões no escuro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Margem, caixa e orçamento só são vistos depois do fechamento do mês.</a:t>
            </a:r>
            <a:endParaRPr lang="en-US" sz="1400" dirty="0"/>
          </a:p>
        </p:txBody>
      </p:sp>
      <p:sp>
        <p:nvSpPr>
          <p:cNvPr id="13" name="Dor"/>
          <p:cNvSpPr/>
          <p:nvPr/>
        </p:nvSpPr>
        <p:spPr>
          <a:xfrm>
            <a:off x="8046720" y="1691640"/>
            <a:ext cx="3593592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2104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03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Ferramentas caras e complexas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2004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FP&amp;A tradicional exige consultoria e projetos fora do alcance de uma PME.</a:t>
            </a:r>
            <a:endParaRPr lang="en-US" sz="1400" dirty="0"/>
          </a:p>
        </p:txBody>
      </p:sp>
      <p:sp>
        <p:nvSpPr>
          <p:cNvPr id="17" name="Faixa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Ícone fundo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FaBullsey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537210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82880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6E0"/>
                </a:solidFill>
              </a:rPr>
              <a:t>A PROPOSTA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828800" y="544068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Planos de entrada, simples e sem projeto de TI, para começar a usar o FinBrain ainda esta semana.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A SOLUÇÃO · FINANÇAS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FinBrain: o que você ganha</a:t>
            </a:r>
            <a:endParaRPr lang="en-US" sz="3600" dirty="0"/>
          </a:p>
        </p:txBody>
      </p:sp>
      <p:sp>
        <p:nvSpPr>
          <p:cNvPr id="5" name="Painel produto"/>
          <p:cNvSpPr/>
          <p:nvPr/>
        </p:nvSpPr>
        <p:spPr>
          <a:xfrm>
            <a:off x="548640" y="1645920"/>
            <a:ext cx="3749040" cy="4526280"/>
          </a:xfrm>
          <a:prstGeom prst="roundRect">
            <a:avLst>
              <a:gd name="adj" fmla="val 439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pic>
        <p:nvPicPr>
          <p:cNvPr id="6" name="Símbolo FinBrain" descr="assets/sym_fin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20240"/>
            <a:ext cx="2011680" cy="2011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FinBrain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617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Copiloto Financeiro Corporativo</a:t>
            </a:r>
            <a:endParaRPr lang="en-US" sz="1400" dirty="0"/>
          </a:p>
        </p:txBody>
      </p:sp>
      <p:sp>
        <p:nvSpPr>
          <p:cNvPr id="9" name="Etiqueta"/>
          <p:cNvSpPr/>
          <p:nvPr/>
        </p:nvSpPr>
        <p:spPr>
          <a:xfrm>
            <a:off x="1463040" y="5257800"/>
            <a:ext cx="192024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463040" y="5257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Finanças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669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finbrain.synapseai.com</a:t>
            </a:r>
            <a:endParaRPr lang="en-US" sz="1100" dirty="0"/>
          </a:p>
        </p:txBody>
      </p:sp>
      <p:sp>
        <p:nvSpPr>
          <p:cNvPr id="12" name="Diferencial"/>
          <p:cNvSpPr/>
          <p:nvPr/>
        </p:nvSpPr>
        <p:spPr>
          <a:xfrm>
            <a:off x="4663440" y="164592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4892040" y="19202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Ícone FaBullsey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72" y="206197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77840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Feito para finanças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89204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LLM e catálogo de métricas ajustados à linguagem financeira.</a:t>
            </a:r>
            <a:endParaRPr lang="en-US" sz="1250" dirty="0"/>
          </a:p>
        </p:txBody>
      </p:sp>
      <p:sp>
        <p:nvSpPr>
          <p:cNvPr id="17" name="Diferencial"/>
          <p:cNvSpPr/>
          <p:nvPr/>
        </p:nvSpPr>
        <p:spPr>
          <a:xfrm>
            <a:off x="8266176" y="164592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8" name="Ícone fundo"/>
          <p:cNvSpPr/>
          <p:nvPr/>
        </p:nvSpPr>
        <p:spPr>
          <a:xfrm>
            <a:off x="8494776" y="19202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FaSear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06197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80576" y="1874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Resposta com fonte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494776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Cada número vem com fórmula, fonte e versão.</a:t>
            </a:r>
            <a:endParaRPr lang="en-US" sz="1250" dirty="0"/>
          </a:p>
        </p:txBody>
      </p:sp>
      <p:sp>
        <p:nvSpPr>
          <p:cNvPr id="22" name="Diferencial"/>
          <p:cNvSpPr/>
          <p:nvPr/>
        </p:nvSpPr>
        <p:spPr>
          <a:xfrm>
            <a:off x="4663440" y="361188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3" name="Ícone fundo"/>
          <p:cNvSpPr/>
          <p:nvPr/>
        </p:nvSpPr>
        <p:spPr>
          <a:xfrm>
            <a:off x="4892040" y="3886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Ícone FaPlu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772" y="4027932"/>
            <a:ext cx="283464" cy="28346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77840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Conecta o que você já usa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4892040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ERP, planilhas e PDFs contábeis, sem projeto de TI.</a:t>
            </a:r>
            <a:endParaRPr lang="en-US" sz="1250" dirty="0"/>
          </a:p>
        </p:txBody>
      </p:sp>
      <p:sp>
        <p:nvSpPr>
          <p:cNvPr id="27" name="Diferencial"/>
          <p:cNvSpPr/>
          <p:nvPr/>
        </p:nvSpPr>
        <p:spPr>
          <a:xfrm>
            <a:off x="8266176" y="3611880"/>
            <a:ext cx="3374136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8" name="Ícone fundo"/>
          <p:cNvSpPr/>
          <p:nvPr/>
        </p:nvSpPr>
        <p:spPr>
          <a:xfrm>
            <a:off x="8494776" y="3886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Ícone FaUserShiel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08" y="4027932"/>
            <a:ext cx="283464" cy="28346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180576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Você decide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8494776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Copiloto de apoio: a decisão final é sua.</a:t>
            </a:r>
            <a:endParaRPr lang="en-US" sz="1250" dirty="0"/>
          </a:p>
        </p:txBody>
      </p:sp>
      <p:sp>
        <p:nvSpPr>
          <p:cNvPr id="32" name="Faixa"/>
          <p:cNvSpPr/>
          <p:nvPr/>
        </p:nvSpPr>
        <p:spPr>
          <a:xfrm>
            <a:off x="4663440" y="5623560"/>
            <a:ext cx="6976872" cy="548640"/>
          </a:xfrm>
          <a:prstGeom prst="roundRect">
            <a:avLst>
              <a:gd name="adj" fmla="val 2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663440" y="5623560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Apoio à decisão: a decisão final é sempre sua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COMO COMEÇAR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 cadastro ao primeiro resultado</a:t>
            </a:r>
            <a:endParaRPr lang="en-US" sz="3600" dirty="0"/>
          </a:p>
        </p:txBody>
      </p:sp>
      <p:sp>
        <p:nvSpPr>
          <p:cNvPr id="5" name="Passo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UserTi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Crie sua conta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Cadastro em minutos, sem cartão de crédito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</a:t>
            </a:r>
            <a:endParaRPr lang="en-US" sz="1300" dirty="0"/>
          </a:p>
        </p:txBody>
      </p:sp>
      <p:sp>
        <p:nvSpPr>
          <p:cNvPr id="12" name="Passo"/>
          <p:cNvSpPr/>
          <p:nvPr/>
        </p:nvSpPr>
        <p:spPr>
          <a:xfrm>
            <a:off x="3346704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Plu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52544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575304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Conecte seus dados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575304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ERP, planilhas e PDFs com assistente guiado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3575304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1–2</a:t>
            </a:r>
            <a:endParaRPr lang="en-US" sz="1300" dirty="0"/>
          </a:p>
        </p:txBody>
      </p:sp>
      <p:sp>
        <p:nvSpPr>
          <p:cNvPr id="19" name="Passo"/>
          <p:cNvSpPr/>
          <p:nvPr/>
        </p:nvSpPr>
        <p:spPr>
          <a:xfrm>
            <a:off x="6144768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125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50608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3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373368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Pergunte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373368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Modelos prontos de métricas e de relatório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373368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Semana 1</a:t>
            </a:r>
            <a:endParaRPr lang="en-US" sz="1300" dirty="0"/>
          </a:p>
        </p:txBody>
      </p:sp>
      <p:sp>
        <p:nvSpPr>
          <p:cNvPr id="26" name="Passo"/>
          <p:cNvSpPr/>
          <p:nvPr/>
        </p:nvSpPr>
        <p:spPr>
          <a:xfrm>
            <a:off x="8942832" y="1691640"/>
            <a:ext cx="2606040" cy="320040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7" name="Ícone fundo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Ícone FaChartLi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1259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948672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9"/>
                </a:solidFill>
              </a:rPr>
              <a:t>PASSO 4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9171432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Decida o plano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171432" y="3383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Ao fim dos 14 dias, escolha o que cabe no seu negócio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9171432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14</a:t>
            </a:r>
            <a:endParaRPr lang="en-US" sz="1300" dirty="0"/>
          </a:p>
        </p:txBody>
      </p:sp>
      <p:sp>
        <p:nvSpPr>
          <p:cNvPr id="33" name="Faixa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Ícone fundo"/>
          <p:cNvSpPr/>
          <p:nvPr/>
        </p:nvSpPr>
        <p:spPr>
          <a:xfrm>
            <a:off x="914400" y="527608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Ícone FaHeads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436108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828800" y="52303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Quer ajuda? Onboarding assistido opcional: conexão assistida de ERP e planilhas.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828800" y="565099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Valor único: R$ 1.500 (Starter), R$ 2.900 (Growth) ou R$ 5.900 (Pro). O autoatendimento é gratuito.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PLANOS STARTER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Escolha o plano do tamanho do seu negócio</a:t>
            </a:r>
            <a:endParaRPr lang="en-US" sz="3600" dirty="0"/>
          </a:p>
        </p:txBody>
      </p:sp>
      <p:sp>
        <p:nvSpPr>
          <p:cNvPr id="5" name="Plano Starter"/>
          <p:cNvSpPr/>
          <p:nvPr/>
        </p:nvSpPr>
        <p:spPr>
          <a:xfrm>
            <a:off x="54864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Starter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Pequenos negócios com ERP ou planilhas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R$ 490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ou R$ 4.900 /ano (2 meses grátis)</a:t>
            </a:r>
            <a:endParaRPr lang="en-US" sz="1200" dirty="0"/>
          </a:p>
        </p:txBody>
      </p:sp>
      <p:pic>
        <p:nvPicPr>
          <p:cNvPr id="10" name="Marc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85616"/>
            <a:ext cx="164592" cy="1645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5 usuários</a:t>
            </a:r>
            <a:endParaRPr lang="en-US" sz="1250" dirty="0"/>
          </a:p>
        </p:txBody>
      </p:sp>
      <p:pic>
        <p:nvPicPr>
          <p:cNvPr id="12" name="Mar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7880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2 fontes: ERP ou planilhas e PDFs</a:t>
            </a:r>
            <a:endParaRPr lang="en-US" sz="1250" dirty="0"/>
          </a:p>
        </p:txBody>
      </p:sp>
      <p:pic>
        <p:nvPicPr>
          <p:cNvPr id="14" name="Marc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3.000 consultas por mês</a:t>
            </a:r>
            <a:endParaRPr lang="en-US" sz="1250" dirty="0"/>
          </a:p>
        </p:txBody>
      </p:sp>
      <p:pic>
        <p:nvPicPr>
          <p:cNvPr id="16" name="Mar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65192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Catálogo de até 30 métricas</a:t>
            </a:r>
            <a:endParaRPr lang="en-US" sz="1250" dirty="0"/>
          </a:p>
        </p:txBody>
      </p:sp>
      <p:pic>
        <p:nvPicPr>
          <p:cNvPr id="18" name="Marc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58384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9728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3 modelos de relatório</a:t>
            </a:r>
            <a:endParaRPr lang="en-US" sz="1250" dirty="0"/>
          </a:p>
        </p:txBody>
      </p:sp>
      <p:pic>
        <p:nvPicPr>
          <p:cNvPr id="20" name="Marc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751576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9728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Suporte por e-mail</a:t>
            </a:r>
            <a:endParaRPr lang="en-US" sz="1250" dirty="0"/>
          </a:p>
        </p:txBody>
      </p:sp>
      <p:sp>
        <p:nvSpPr>
          <p:cNvPr id="22" name="Plano Growth"/>
          <p:cNvSpPr/>
          <p:nvPr/>
        </p:nvSpPr>
        <p:spPr>
          <a:xfrm>
            <a:off x="429768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3" name="Etiqueta"/>
          <p:cNvSpPr/>
          <p:nvPr/>
        </p:nvSpPr>
        <p:spPr>
          <a:xfrm>
            <a:off x="5394960" y="15544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539496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MAIS ESCOLHIDO</a:t>
            </a:r>
            <a:endParaRPr lang="en-US" sz="1050" dirty="0"/>
          </a:p>
        </p:txBody>
      </p:sp>
      <p:sp>
        <p:nvSpPr>
          <p:cNvPr id="25" name="Text 16"/>
          <p:cNvSpPr txBox="1"/>
          <p:nvPr/>
        </p:nvSpPr>
        <p:spPr>
          <a:xfrm>
            <a:off x="457200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Growth</a:t>
            </a:r>
            <a:endParaRPr lang="en-US" sz="2200" dirty="0"/>
          </a:p>
        </p:txBody>
      </p:sp>
      <p:sp>
        <p:nvSpPr>
          <p:cNvPr id="26" name="Text 17"/>
          <p:cNvSpPr txBox="1"/>
          <p:nvPr/>
        </p:nvSpPr>
        <p:spPr>
          <a:xfrm>
            <a:off x="457200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8DE"/>
                </a:solidFill>
              </a:rPr>
              <a:t>Empresas em crescimento, com FP&amp;A enxuto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457200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7FD6E0"/>
                </a:solidFill>
              </a:rPr>
              <a:t>R$ 1.490</a:t>
            </a:r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 /mês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457200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C8DE"/>
                </a:solidFill>
              </a:rPr>
              <a:t>ou R$ 14.900 /ano (2 meses grátis)</a:t>
            </a:r>
            <a:endParaRPr lang="en-US" sz="1200" dirty="0"/>
          </a:p>
        </p:txBody>
      </p:sp>
      <p:pic>
        <p:nvPicPr>
          <p:cNvPr id="29" name="Marca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785616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84632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Até 15 usuários</a:t>
            </a:r>
            <a:endParaRPr lang="en-US" sz="1250" dirty="0"/>
          </a:p>
        </p:txBody>
      </p:sp>
      <p:pic>
        <p:nvPicPr>
          <p:cNvPr id="31" name="Marc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178808"/>
            <a:ext cx="164592" cy="16459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484632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4 fontes: ERP, DW, planilhas e PDFs</a:t>
            </a:r>
            <a:endParaRPr lang="en-US" sz="1250" dirty="0"/>
          </a:p>
        </p:txBody>
      </p:sp>
      <p:pic>
        <p:nvPicPr>
          <p:cNvPr id="33" name="Marca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572000"/>
            <a:ext cx="164592" cy="16459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84632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12.000 consultas por mês</a:t>
            </a:r>
            <a:endParaRPr lang="en-US" sz="1250" dirty="0"/>
          </a:p>
        </p:txBody>
      </p:sp>
      <p:pic>
        <p:nvPicPr>
          <p:cNvPr id="35" name="Marca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965192"/>
            <a:ext cx="164592" cy="164592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484632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Cenários e análises comparativas</a:t>
            </a:r>
            <a:endParaRPr lang="en-US" sz="1250" dirty="0"/>
          </a:p>
        </p:txBody>
      </p:sp>
      <p:pic>
        <p:nvPicPr>
          <p:cNvPr id="37" name="Marca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5358384"/>
            <a:ext cx="164592" cy="16459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484632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Catálogo de até 80 métricas</a:t>
            </a:r>
            <a:endParaRPr lang="en-US" sz="1250" dirty="0"/>
          </a:p>
        </p:txBody>
      </p:sp>
      <p:pic>
        <p:nvPicPr>
          <p:cNvPr id="39" name="Marca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5751576"/>
            <a:ext cx="164592" cy="164592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484632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Chat em horário comercial</a:t>
            </a:r>
            <a:endParaRPr lang="en-US" sz="1250" dirty="0"/>
          </a:p>
        </p:txBody>
      </p:sp>
      <p:sp>
        <p:nvSpPr>
          <p:cNvPr id="41" name="Plano Pro"/>
          <p:cNvSpPr/>
          <p:nvPr/>
        </p:nvSpPr>
        <p:spPr>
          <a:xfrm>
            <a:off x="8046720" y="1691640"/>
            <a:ext cx="3593592" cy="4434840"/>
          </a:xfrm>
          <a:prstGeom prst="roundRect">
            <a:avLst>
              <a:gd name="adj" fmla="val 4580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42" name="Text 27"/>
          <p:cNvSpPr txBox="1"/>
          <p:nvPr/>
        </p:nvSpPr>
        <p:spPr>
          <a:xfrm>
            <a:off x="832104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</a:t>
            </a:r>
            <a:endParaRPr lang="en-US" sz="2200" dirty="0"/>
          </a:p>
        </p:txBody>
      </p:sp>
      <p:sp>
        <p:nvSpPr>
          <p:cNvPr id="43" name="Text 28"/>
          <p:cNvSpPr txBox="1"/>
          <p:nvPr/>
        </p:nvSpPr>
        <p:spPr>
          <a:xfrm>
            <a:off x="832104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Médias empresas com várias áreas</a:t>
            </a:r>
            <a:endParaRPr lang="en-US" sz="1200" dirty="0"/>
          </a:p>
        </p:txBody>
      </p:sp>
      <p:sp>
        <p:nvSpPr>
          <p:cNvPr id="44" name="Text 29"/>
          <p:cNvSpPr txBox="1"/>
          <p:nvPr/>
        </p:nvSpPr>
        <p:spPr>
          <a:xfrm>
            <a:off x="83210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C89"/>
                </a:solidFill>
              </a:rPr>
              <a:t>R$ 3.490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/mês</a:t>
            </a:r>
            <a:endParaRPr lang="en-US" sz="1400" dirty="0"/>
          </a:p>
        </p:txBody>
      </p:sp>
      <p:sp>
        <p:nvSpPr>
          <p:cNvPr id="45" name="Text 30"/>
          <p:cNvSpPr txBox="1"/>
          <p:nvPr/>
        </p:nvSpPr>
        <p:spPr>
          <a:xfrm>
            <a:off x="832104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ou R$ 34.900 /ano (2 meses grátis)</a:t>
            </a:r>
            <a:endParaRPr lang="en-US" sz="1200" dirty="0"/>
          </a:p>
        </p:txBody>
      </p:sp>
      <p:pic>
        <p:nvPicPr>
          <p:cNvPr id="46" name="Marca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1040" y="3785616"/>
            <a:ext cx="164592" cy="164592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859536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Até 40 usuários</a:t>
            </a:r>
            <a:endParaRPr lang="en-US" sz="1250" dirty="0"/>
          </a:p>
        </p:txBody>
      </p:sp>
      <p:pic>
        <p:nvPicPr>
          <p:cNvPr id="48" name="Marca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1040" y="4178808"/>
            <a:ext cx="164592" cy="164592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595360" y="4096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6 fontes e conectores de BI</a:t>
            </a:r>
            <a:endParaRPr lang="en-US" sz="1250" dirty="0"/>
          </a:p>
        </p:txBody>
      </p:sp>
      <p:pic>
        <p:nvPicPr>
          <p:cNvPr id="50" name="Marca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1040" y="4572000"/>
            <a:ext cx="164592" cy="164592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8595360" y="4489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40.000 consultas por mês</a:t>
            </a:r>
            <a:endParaRPr lang="en-US" sz="1250" dirty="0"/>
          </a:p>
        </p:txBody>
      </p:sp>
      <p:pic>
        <p:nvPicPr>
          <p:cNvPr id="52" name="Marca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1040" y="4965192"/>
            <a:ext cx="164592" cy="164592"/>
          </a:xfrm>
          <a:prstGeom prst="rect">
            <a:avLst/>
          </a:prstGeom>
        </p:spPr>
      </p:pic>
      <p:sp>
        <p:nvSpPr>
          <p:cNvPr id="53" name="Text 34"/>
          <p:cNvSpPr txBox="1"/>
          <p:nvPr/>
        </p:nvSpPr>
        <p:spPr>
          <a:xfrm>
            <a:off x="8595360" y="4882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SSO e perfis por centro de custo</a:t>
            </a:r>
            <a:endParaRPr lang="en-US" sz="1250" dirty="0"/>
          </a:p>
        </p:txBody>
      </p:sp>
      <p:pic>
        <p:nvPicPr>
          <p:cNvPr id="54" name="Marca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21040" y="5358384"/>
            <a:ext cx="164592" cy="164592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8595360" y="5276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Catálogo de até 200 métricas</a:t>
            </a:r>
            <a:endParaRPr lang="en-US" sz="1250" dirty="0"/>
          </a:p>
        </p:txBody>
      </p:sp>
      <p:pic>
        <p:nvPicPr>
          <p:cNvPr id="56" name="Marca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1040" y="5751576"/>
            <a:ext cx="164592" cy="164592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8595360" y="5669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Suporte prioritário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COMPARATIVO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Compare os planos lado a lado</a:t>
            </a:r>
            <a:endParaRPr lang="en-US" sz="3600" dirty="0"/>
          </a:p>
        </p:txBody>
      </p:sp>
      <p:graphicFrame>
        <p:nvGraphicFramePr>
          <p:cNvPr id="8" name="Tabela compar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1920240"/>
                <a:gridCol w="1920240"/>
                <a:gridCol w="249905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Recurso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Starter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Growth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Enterprise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Preço mensal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R$ 490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R$ 1.490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R$ 3.490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consulta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Preço anual (2 meses grátis)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R$ 4.900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R$ 14.900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R$ 34.900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consulta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Usuários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Até 5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Até 15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Até 40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medida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Consultas por mês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3.000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12.000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40.000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contrato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Fontes de dados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6 + BI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Sob escopo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Cenários e comparativos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Incluído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SSO e perfis por centro de custo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Incluído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Suporte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E-mail (1 dia útil)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Chat (4 h úteis)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Prioritário (2 h úteis)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24/7 com SLAs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Hospedagem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tx2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Ambiente gerenciado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Nuvem privada ou on-premise</a:t>
                      </a:r>
                      <a:endParaRPr lang="en-US" sz="125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623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Consulta excedente: R$ 0,60. Usuário adicional: R$ 95/mês (Starter), R$ 85 (Growth) e R$ 75 (Pro).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RETORNO DO INVESTIMENTO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Quanto o plano se paga</a:t>
            </a:r>
            <a:endParaRPr lang="en-US" sz="3600" dirty="0"/>
          </a:p>
        </p:txBody>
      </p:sp>
      <p:sp>
        <p:nvSpPr>
          <p:cNvPr id="5" name="Premissas"/>
          <p:cNvSpPr/>
          <p:nvPr/>
        </p:nvSpPr>
        <p:spPr>
          <a:xfrm>
            <a:off x="548640" y="1691640"/>
            <a:ext cx="4754880" cy="2926080"/>
          </a:xfrm>
          <a:prstGeom prst="roundRect">
            <a:avLst>
              <a:gd name="adj" fmla="val 4375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PREMISSAS (EDITÁVEIS)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Horas economizadas por usuário/mês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 h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Custo-hora médio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R$ 70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Usuários por plano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 / 15 / 40</a:t>
            </a:r>
            <a:endParaRPr lang="en-US" sz="1300" dirty="0"/>
          </a:p>
        </p:txBody>
      </p:sp>
      <p:sp>
        <p:nvSpPr>
          <p:cNvPr id="13" name="Break-even"/>
          <p:cNvSpPr/>
          <p:nvPr/>
        </p:nvSpPr>
        <p:spPr>
          <a:xfrm>
            <a:off x="548640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STARTER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2,9×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7 h/mês</a:t>
            </a:r>
            <a:endParaRPr lang="en-US" sz="1050" dirty="0"/>
          </a:p>
        </p:txBody>
      </p:sp>
      <p:sp>
        <p:nvSpPr>
          <p:cNvPr id="17" name="Break-even"/>
          <p:cNvSpPr/>
          <p:nvPr/>
        </p:nvSpPr>
        <p:spPr>
          <a:xfrm>
            <a:off x="2157984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rgbClr val="0E7C89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49424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GROWTH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249424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2,8×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2249424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22 h/mês</a:t>
            </a:r>
            <a:endParaRPr lang="en-US" sz="1050" dirty="0"/>
          </a:p>
        </p:txBody>
      </p:sp>
      <p:sp>
        <p:nvSpPr>
          <p:cNvPr id="21" name="Break-even"/>
          <p:cNvSpPr/>
          <p:nvPr/>
        </p:nvSpPr>
        <p:spPr>
          <a:xfrm>
            <a:off x="3767328" y="4754880"/>
            <a:ext cx="1536192" cy="1325880"/>
          </a:xfrm>
          <a:prstGeom prst="roundRect">
            <a:avLst>
              <a:gd name="adj" fmla="val 96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58768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FD6E0"/>
                </a:solidFill>
              </a:rPr>
              <a:t>PRO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3858768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3,2×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3858768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empata com 50 h/mês</a:t>
            </a:r>
            <a:endParaRPr lang="en-US" sz="10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577840" y="1645920"/>
          <a:ext cx="60807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548640" y="61264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Estimativa ilustrativa; não constitui garantia de resultado.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SEGURANÇA E PRIVACIDADE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Segurança de grande empresa, na escala da sua</a:t>
            </a:r>
            <a:endParaRPr lang="en-US" sz="3600" dirty="0"/>
          </a:p>
        </p:txBody>
      </p:sp>
      <p:sp>
        <p:nvSpPr>
          <p:cNvPr id="5" name="Controle"/>
          <p:cNvSpPr/>
          <p:nvPr/>
        </p:nvSpPr>
        <p:spPr>
          <a:xfrm>
            <a:off x="54864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Us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Isolamento por cliente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Seus dados e índices ficam separados dos de outros clientes.</a:t>
            </a:r>
            <a:endParaRPr lang="en-US" sz="1350" dirty="0"/>
          </a:p>
        </p:txBody>
      </p:sp>
      <p:sp>
        <p:nvSpPr>
          <p:cNvPr id="10" name="Controle"/>
          <p:cNvSpPr/>
          <p:nvPr/>
        </p:nvSpPr>
        <p:spPr>
          <a:xfrm>
            <a:off x="429768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1" name="Ícone fundo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Ícone Fa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1259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Criptografia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Em trânsito e em repouso.</a:t>
            </a:r>
            <a:endParaRPr lang="en-US" sz="1350" dirty="0"/>
          </a:p>
        </p:txBody>
      </p:sp>
      <p:sp>
        <p:nvSpPr>
          <p:cNvPr id="15" name="Controle"/>
          <p:cNvSpPr/>
          <p:nvPr/>
        </p:nvSpPr>
        <p:spPr>
          <a:xfrm>
            <a:off x="8046720" y="169164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6" name="Ícone fundo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Ícone FaKe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1259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44000" y="1965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Acesso por perfil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Cada pessoa vê apenas o que o seu papel permite.</a:t>
            </a:r>
            <a:endParaRPr lang="en-US" sz="1350" dirty="0"/>
          </a:p>
        </p:txBody>
      </p:sp>
      <p:sp>
        <p:nvSpPr>
          <p:cNvPr id="20" name="Controle"/>
          <p:cNvSpPr/>
          <p:nvPr/>
        </p:nvSpPr>
        <p:spPr>
          <a:xfrm>
            <a:off x="54864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1" name="Ícone fundo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Ícone FaHistory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205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4592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Trilha de auditoria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Registro de acessos, consultas e ações.</a:t>
            </a:r>
            <a:endParaRPr lang="en-US" sz="1350" dirty="0"/>
          </a:p>
        </p:txBody>
      </p:sp>
      <p:sp>
        <p:nvSpPr>
          <p:cNvPr id="25" name="Controle"/>
          <p:cNvSpPr/>
          <p:nvPr/>
        </p:nvSpPr>
        <p:spPr>
          <a:xfrm>
            <a:off x="429768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6" name="Ícone fundo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7" name="Ícone FaBalanceScal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32054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9496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LGPD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Tratamento alinhado à LGPD, com retenção configurável.</a:t>
            </a:r>
            <a:endParaRPr lang="en-US" sz="1350" dirty="0"/>
          </a:p>
        </p:txBody>
      </p:sp>
      <p:sp>
        <p:nvSpPr>
          <p:cNvPr id="30" name="Controle"/>
          <p:cNvSpPr/>
          <p:nvPr/>
        </p:nvSpPr>
        <p:spPr>
          <a:xfrm>
            <a:off x="8046720" y="3886200"/>
            <a:ext cx="3593592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1" name="Ícone fundo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Ícone FaUserShiel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320540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14400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Humano no controle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2104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Respostas são apoio à decisão, sempre revisáveis.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SUPORTE E CRESCIMENTO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Suporte que acompanha o seu crescimento</a:t>
            </a:r>
            <a:endParaRPr lang="en-US" sz="3600" dirty="0"/>
          </a:p>
        </p:txBody>
      </p:sp>
      <p:sp>
        <p:nvSpPr>
          <p:cNvPr id="5" name="Suporte"/>
          <p:cNvSpPr/>
          <p:nvPr/>
        </p:nvSpPr>
        <p:spPr>
          <a:xfrm>
            <a:off x="548640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Boo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Autoatendimento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Base de conhecimento, tutoriais e comunidade</a:t>
            </a:r>
            <a:endParaRPr lang="en-US" sz="1250" dirty="0"/>
          </a:p>
        </p:txBody>
      </p:sp>
      <p:sp>
        <p:nvSpPr>
          <p:cNvPr id="10" name="Etiqueta"/>
          <p:cNvSpPr/>
          <p:nvPr/>
        </p:nvSpPr>
        <p:spPr>
          <a:xfrm>
            <a:off x="777240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Todos os planos</a:t>
            </a:r>
            <a:endParaRPr lang="en-US" sz="1100" dirty="0"/>
          </a:p>
        </p:txBody>
      </p:sp>
      <p:sp>
        <p:nvSpPr>
          <p:cNvPr id="12" name="Suporte"/>
          <p:cNvSpPr/>
          <p:nvPr/>
        </p:nvSpPr>
        <p:spPr>
          <a:xfrm>
            <a:off x="3346704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Heads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1259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75304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E-mail e chat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575304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Starter: 1 dia útil · Growth: 4 h úteis</a:t>
            </a:r>
            <a:endParaRPr lang="en-US" sz="1250" dirty="0"/>
          </a:p>
        </p:txBody>
      </p:sp>
      <p:sp>
        <p:nvSpPr>
          <p:cNvPr id="17" name="Etiqueta"/>
          <p:cNvSpPr/>
          <p:nvPr/>
        </p:nvSpPr>
        <p:spPr>
          <a:xfrm>
            <a:off x="3575304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575304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Starter e Growth</a:t>
            </a:r>
            <a:endParaRPr lang="en-US" sz="1100" dirty="0"/>
          </a:p>
        </p:txBody>
      </p:sp>
      <p:sp>
        <p:nvSpPr>
          <p:cNvPr id="19" name="Suporte"/>
          <p:cNvSpPr/>
          <p:nvPr/>
        </p:nvSpPr>
        <p:spPr>
          <a:xfrm>
            <a:off x="6144768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Sta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125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73368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Suporte prioritário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373368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Pro: resposta em até 2 h úteis</a:t>
            </a:r>
            <a:endParaRPr lang="en-US" sz="1250" dirty="0"/>
          </a:p>
        </p:txBody>
      </p:sp>
      <p:sp>
        <p:nvSpPr>
          <p:cNvPr id="24" name="Etiqueta"/>
          <p:cNvSpPr/>
          <p:nvPr/>
        </p:nvSpPr>
        <p:spPr>
          <a:xfrm>
            <a:off x="6373368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373368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</a:t>
            </a:r>
            <a:endParaRPr lang="en-US" sz="1100" dirty="0"/>
          </a:p>
        </p:txBody>
      </p:sp>
      <p:sp>
        <p:nvSpPr>
          <p:cNvPr id="26" name="Suporte"/>
          <p:cNvSpPr/>
          <p:nvPr/>
        </p:nvSpPr>
        <p:spPr>
          <a:xfrm>
            <a:off x="8942832" y="1691640"/>
            <a:ext cx="2606040" cy="2834640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7" name="Ícone fundo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Ícone FaClou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1259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71432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Enterprise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9171432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Nuvem privada ou on-premise, SLAs 24/7 e projeto dedicado</a:t>
            </a:r>
            <a:endParaRPr lang="en-US" sz="1250" dirty="0"/>
          </a:p>
        </p:txBody>
      </p:sp>
      <p:sp>
        <p:nvSpPr>
          <p:cNvPr id="31" name="Etiqueta"/>
          <p:cNvSpPr/>
          <p:nvPr/>
        </p:nvSpPr>
        <p:spPr>
          <a:xfrm>
            <a:off x="9171432" y="4023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171432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Sob consulta</a:t>
            </a:r>
            <a:endParaRPr lang="en-US" sz="1100" dirty="0"/>
          </a:p>
        </p:txBody>
      </p:sp>
      <p:sp>
        <p:nvSpPr>
          <p:cNvPr id="33" name="Faixa"/>
          <p:cNvSpPr/>
          <p:nvPr/>
        </p:nvSpPr>
        <p:spPr>
          <a:xfrm>
            <a:off x="548640" y="4800600"/>
            <a:ext cx="11094415" cy="128016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Ícone fundo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Ícone FaArrowU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28066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828800" y="4956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Caminho de upgrade sem retrabalho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1828800" y="537667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Mude de plano a qualquer momento, com ajuste proporcional. Ao crescer, migre para o Enterprise (nuvem privada ou on-premise, SSO, integrações sob medida e SLAs 24/7) mantendo configurações e histórico.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CONDIÇÕES COMERCIAIS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Condições simples, sem letra miúda</a:t>
            </a:r>
            <a:endParaRPr lang="en-US" sz="3600" dirty="0"/>
          </a:p>
        </p:txBody>
      </p:sp>
      <p:sp>
        <p:nvSpPr>
          <p:cNvPr id="5" name="Condições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2887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13816" y="1911096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Ícone FaGi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299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Teste grátis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14 dias, sem cartão e sem compromisso</a:t>
            </a:r>
            <a:endParaRPr lang="en-US" sz="1250" dirty="0"/>
          </a:p>
        </p:txBody>
      </p:sp>
      <p:sp>
        <p:nvSpPr>
          <p:cNvPr id="10" name="Ícone fundo"/>
          <p:cNvSpPr/>
          <p:nvPr/>
        </p:nvSpPr>
        <p:spPr>
          <a:xfrm>
            <a:off x="813816" y="260604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Ícone FaB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2491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2569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 fidelidade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3291840" y="25694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Plano mensal, cancelamento a qualquer momento</a:t>
            </a:r>
            <a:endParaRPr lang="en-US" sz="1250" dirty="0"/>
          </a:p>
        </p:txBody>
      </p:sp>
      <p:sp>
        <p:nvSpPr>
          <p:cNvPr id="14" name="Ícone fundo"/>
          <p:cNvSpPr/>
          <p:nvPr/>
        </p:nvSpPr>
        <p:spPr>
          <a:xfrm>
            <a:off x="813816" y="3300984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Ícone FaPercen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1985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Plano anual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3291840" y="3264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Pague 10 meses e use 12 (2 meses grátis)</a:t>
            </a:r>
            <a:endParaRPr lang="en-US" sz="1250" dirty="0"/>
          </a:p>
        </p:txBody>
      </p:sp>
      <p:sp>
        <p:nvSpPr>
          <p:cNvPr id="18" name="Ícone fundo"/>
          <p:cNvSpPr/>
          <p:nvPr/>
        </p:nvSpPr>
        <p:spPr>
          <a:xfrm>
            <a:off x="813816" y="39959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FaCreditCar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114800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3959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Pagamento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3291840" y="39593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Cartão, Pix ou boleto; faturamento mensal ou anual</a:t>
            </a:r>
            <a:endParaRPr lang="en-US" sz="1250" dirty="0"/>
          </a:p>
        </p:txBody>
      </p:sp>
      <p:sp>
        <p:nvSpPr>
          <p:cNvPr id="22" name="Ícone fundo"/>
          <p:cNvSpPr/>
          <p:nvPr/>
        </p:nvSpPr>
        <p:spPr>
          <a:xfrm>
            <a:off x="813816" y="4690872"/>
            <a:ext cx="475488" cy="4754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Ícone FaArrowU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809744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63040" y="46542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Upgrade e downgrade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3291840" y="46542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qualquer momento, com ajuste proporcional</a:t>
            </a:r>
            <a:endParaRPr lang="en-US" sz="1250" dirty="0"/>
          </a:p>
        </p:txBody>
      </p:sp>
      <p:sp>
        <p:nvSpPr>
          <p:cNvPr id="26" name="Ícone fundo"/>
          <p:cNvSpPr/>
          <p:nvPr/>
        </p:nvSpPr>
        <p:spPr>
          <a:xfrm>
            <a:off x="813816" y="538581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Ícone FaFileAlt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504688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63040" y="5349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Impostos e reajuste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3291840" y="5349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Valores sem impostos; reajuste anual pelo IPCA</a:t>
            </a:r>
            <a:endParaRPr lang="en-US" sz="1250" dirty="0"/>
          </a:p>
        </p:txBody>
      </p:sp>
      <p:sp>
        <p:nvSpPr>
          <p:cNvPr id="30" name="Excedentes"/>
          <p:cNvSpPr/>
          <p:nvPr/>
        </p:nvSpPr>
        <p:spPr>
          <a:xfrm>
            <a:off x="7452360" y="1691640"/>
            <a:ext cx="4187952" cy="4434840"/>
          </a:xfrm>
          <a:prstGeom prst="roundRect">
            <a:avLst>
              <a:gd name="adj" fmla="val 3057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31" name="Text 22"/>
          <p:cNvSpPr txBox="1"/>
          <p:nvPr/>
        </p:nvSpPr>
        <p:spPr>
          <a:xfrm>
            <a:off x="77266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EXCEDENTES E EXTRAS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7726680" y="2240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Consulta excedente: R$ 0,60. Usuário adicional: R$ 95/mês (Starter), R$ 85 (Growth) e R$ 75 (Pro).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77266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ONBOARDING ASSISTIDO (OPCIONAL)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7726680" y="4023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Pagamento único de R$ 1.500 (Starter), R$ 2.900 (Growth) ou R$ 5.900 (Pro), com conexão assistida de ERP e planilhas.</a:t>
            </a:r>
            <a:endParaRPr lang="en-US" sz="1300" dirty="0"/>
          </a:p>
        </p:txBody>
      </p:sp>
      <p:sp>
        <p:nvSpPr>
          <p:cNvPr id="35" name="Etiqueta"/>
          <p:cNvSpPr/>
          <p:nvPr/>
        </p:nvSpPr>
        <p:spPr>
          <a:xfrm>
            <a:off x="7726680" y="534924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772668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Autoatendimento: gratuito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PERGUNTAS FREQUENTES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Perguntas que costumamos ouvir</a:t>
            </a:r>
            <a:endParaRPr lang="en-US" sz="3600" dirty="0"/>
          </a:p>
        </p:txBody>
      </p:sp>
      <p:sp>
        <p:nvSpPr>
          <p:cNvPr id="5" name="FAQ"/>
          <p:cNvSpPr/>
          <p:nvPr/>
        </p:nvSpPr>
        <p:spPr>
          <a:xfrm>
            <a:off x="548640" y="169164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Marca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Funciona com o meu ERP ou com planilhas?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Sim. Conectamos ERP, planilhas e PDFs contábeis com acesso somente leitura. Se o seu ERP não estiver na lista, a API cobre o restante.</a:t>
            </a:r>
            <a:endParaRPr lang="en-US" sz="1300" dirty="0"/>
          </a:p>
        </p:txBody>
      </p:sp>
      <p:sp>
        <p:nvSpPr>
          <p:cNvPr id="10" name="FAQ"/>
          <p:cNvSpPr/>
          <p:nvPr/>
        </p:nvSpPr>
        <p:spPr>
          <a:xfrm>
            <a:off x="6217920" y="169164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1" name="Marca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19202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Preciso de equipe de TI para começar?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Não. O cadastro e a conexão guiada são feitos por você. Se preferir, o onboarding assistido é opcional.</a:t>
            </a:r>
            <a:endParaRPr lang="en-US" sz="1300" dirty="0"/>
          </a:p>
        </p:txBody>
      </p:sp>
      <p:sp>
        <p:nvSpPr>
          <p:cNvPr id="15" name="FAQ"/>
          <p:cNvSpPr/>
          <p:nvPr/>
        </p:nvSpPr>
        <p:spPr>
          <a:xfrm>
            <a:off x="548640" y="393192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6" name="Marca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1605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Meus dados ficam seguros?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Sim. Cada cliente tem índices e dados isolados, com criptografia em trânsito e em repouso e trilha de auditoria.</a:t>
            </a:r>
            <a:endParaRPr lang="en-US" sz="1300" dirty="0"/>
          </a:p>
        </p:txBody>
      </p:sp>
      <p:sp>
        <p:nvSpPr>
          <p:cNvPr id="20" name="FAQ"/>
          <p:cNvSpPr/>
          <p:nvPr/>
        </p:nvSpPr>
        <p:spPr>
          <a:xfrm>
            <a:off x="6217920" y="3931920"/>
            <a:ext cx="5422392" cy="2057400"/>
          </a:xfrm>
          <a:prstGeom prst="roundRect">
            <a:avLst>
              <a:gd name="adj" fmla="val 6222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1" name="Marca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41605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 se eu crescer ou quiser sair?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Você muda de plano quando quiser e, ao crescer, migra para o Enterprise. No plano mensal, cancela a qualquer momento.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mada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PRÓXIMOS PASSOS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Comece hoje, sem compromisso</a:t>
            </a:r>
            <a:endParaRPr lang="en-US" sz="3600" dirty="0"/>
          </a:p>
        </p:txBody>
      </p:sp>
      <p:sp>
        <p:nvSpPr>
          <p:cNvPr id="5" name="Passo"/>
          <p:cNvSpPr/>
          <p:nvPr/>
        </p:nvSpPr>
        <p:spPr>
          <a:xfrm>
            <a:off x="54864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6" name="Ícone fundo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FaUserTi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2880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Crie a conta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Cadastro em minutos, sem cartão de crédito.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Hoje</a:t>
            </a:r>
            <a:endParaRPr lang="en-US" sz="1300" dirty="0"/>
          </a:p>
        </p:txBody>
      </p:sp>
      <p:sp>
        <p:nvSpPr>
          <p:cNvPr id="12" name="Passo"/>
          <p:cNvSpPr/>
          <p:nvPr/>
        </p:nvSpPr>
        <p:spPr>
          <a:xfrm>
            <a:off x="429768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13" name="Ícone fundo"/>
          <p:cNvSpPr/>
          <p:nvPr/>
        </p:nvSpPr>
        <p:spPr>
          <a:xfrm>
            <a:off x="4572000" y="20116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Ícone FaPlu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7784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Teste por 14 dias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Conecte seus dados e faça as primeiras perguntas.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Dias 1–14</a:t>
            </a:r>
            <a:endParaRPr lang="en-US" sz="1300" dirty="0"/>
          </a:p>
        </p:txBody>
      </p:sp>
      <p:sp>
        <p:nvSpPr>
          <p:cNvPr id="19" name="Passo"/>
          <p:cNvSpPr/>
          <p:nvPr/>
        </p:nvSpPr>
        <p:spPr>
          <a:xfrm>
            <a:off x="8046720" y="1691640"/>
            <a:ext cx="359359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F3A">
                <a:alpha val="10000"/>
              </a:srgbClr>
            </a:outerShdw>
          </a:effectLst>
        </p:spPr>
      </p:sp>
      <p:sp>
        <p:nvSpPr>
          <p:cNvPr id="20" name="Ícone fundo"/>
          <p:cNvSpPr/>
          <p:nvPr/>
        </p:nvSpPr>
        <p:spPr>
          <a:xfrm>
            <a:off x="8321040" y="20116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Ícone FaCheck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94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9"/>
                </a:solidFill>
              </a:rPr>
              <a:t>PASSO 3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Escolha o plano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Starter, Growth ou Pro: o que cabe no seu negócio.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9"/>
                </a:solidFill>
              </a:rPr>
              <a:t>Dia 14</a:t>
            </a:r>
            <a:endParaRPr lang="en-US" sz="1300" dirty="0"/>
          </a:p>
        </p:txBody>
      </p:sp>
      <p:sp>
        <p:nvSpPr>
          <p:cNvPr id="26" name="Faixa"/>
          <p:cNvSpPr/>
          <p:nvPr/>
        </p:nvSpPr>
        <p:spPr>
          <a:xfrm>
            <a:off x="548640" y="5029200"/>
            <a:ext cx="11094415" cy="1051560"/>
          </a:xfrm>
          <a:prstGeom prst="roundRect">
            <a:avLst>
              <a:gd name="adj" fmla="val 1217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14400" y="517550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Quer começar agora?</a:t>
            </a:r>
            <a:endParaRPr lang="en-US" sz="2200" dirty="0"/>
          </a:p>
        </p:txBody>
      </p:sp>
      <p:sp>
        <p:nvSpPr>
          <p:cNvPr id="28" name="Text 22"/>
          <p:cNvSpPr txBox="1"/>
          <p:nvPr/>
        </p:nvSpPr>
        <p:spPr>
          <a:xfrm>
            <a:off x="914400" y="5614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C8DE"/>
                </a:solidFill>
              </a:rPr>
              <a:t>Nome do responsável comercial  ·  Cargo  ·  Contato</a:t>
            </a:r>
            <a:endParaRPr lang="en-US" sz="1400" dirty="0"/>
          </a:p>
        </p:txBody>
      </p:sp>
      <p:sp>
        <p:nvSpPr>
          <p:cNvPr id="29" name="Etiqueta"/>
          <p:cNvSpPr/>
          <p:nvPr/>
        </p:nvSpPr>
        <p:spPr>
          <a:xfrm>
            <a:off x="8412480" y="525780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0E7C89"/>
          </a:solidFill>
          <a:ln w="12700">
            <a:solidFill>
              <a:srgbClr val="0E7C89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412480" y="5257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finbrain.synapseai.com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0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B7C8DE"/>
                </a:solidFill>
              </a:rPr>
              <a:t>Vamos começar o seu teste grátis do FinBrain hoje</a:t>
            </a:r>
            <a:endParaRPr lang="en-US" sz="2200" dirty="0"/>
          </a:p>
        </p:txBody>
      </p:sp>
      <p:pic>
        <p:nvPicPr>
          <p:cNvPr id="4" name="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6285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45262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Site institucional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4526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www.synapseai.com</a:t>
            </a:r>
            <a:endParaRPr lang="en-US" sz="1500" dirty="0"/>
          </a:p>
        </p:txBody>
      </p:sp>
      <p:pic>
        <p:nvPicPr>
          <p:cNvPr id="7" name="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00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4983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Documentação do produto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49834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docs.synapseai.com</a:t>
            </a:r>
            <a:endParaRPr lang="en-US" sz="1500" dirty="0"/>
          </a:p>
        </p:txBody>
      </p:sp>
      <p:pic>
        <p:nvPicPr>
          <p:cNvPr id="10" name="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7725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54406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8DE"/>
                </a:solidFill>
              </a:rPr>
              <a:t>Seu contato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291840" y="5440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Nome  ·  Cargo  ·  Contato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Synapse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SynapseAI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para PMEs — FinBrain</dc:title>
  <dc:subject>PptxGenJS Presentation</dc:subject>
  <dc:creator>SynapseAI Solutions</dc:creator>
  <cp:lastModifiedBy>SynapseAI Solutions</cp:lastModifiedBy>
  <cp:revision>1</cp:revision>
  <dcterms:created xsi:type="dcterms:W3CDTF">2026-10-03T05:24:43Z</dcterms:created>
  <dcterms:modified xsi:type="dcterms:W3CDTF">2026-10-03T05:24:43Z</dcterms:modified>
</cp:coreProperties>
</file>