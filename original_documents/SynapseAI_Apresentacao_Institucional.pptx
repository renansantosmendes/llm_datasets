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uem somos" id="{6284f9ee-8463-f9bf-f6d7-e8fc0df98614}">
          <p14:sldIdLst>
            <p14:sldId id="256"/>
            <p14:sldId id="257"/>
            <p14:sldId id="258"/>
            <p14:sldId id="259"/>
          </p14:sldIdLst>
        </p14:section>
        <p14:section name="O que fazemos" id="{71cc95f1-ca00-a2d5-63b8-d668033377f6}">
          <p14:sldIdLst>
            <p14:sldId id="260"/>
            <p14:sldId id="261"/>
            <p14:sldId id="262"/>
            <p14:sldId id="263"/>
          </p14:sldIdLst>
        </p14:section>
        <p14:section name="Como entregamos" id="{514b52a2-456e-3d43-ec5a-675985a59ade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ontato" id="{ce527845-e8e8-5ab3-6745-d0d008dcb16b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Cartão de visitas da empresa: use esta apresentação em primeiros contatos, eventos e envios por e-mail. Ela tem 17 slides e pode ser encurtada pulando os slides de detalhe (tecnologia, treemap do time, posicionamento).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missão em voz alta; é a frase que resume 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vêm da estrutura atual da empresa. Atualize os valores antes de usar em materiais externos.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pilares crescem da esquerda para a direita: do foco no domínio até a escala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plataforma para três setores. Cada coluna mostra os produtos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constelação mostra que todos os produtos compartilham a mesma base tecnológica (centro). Clique em cada produto para a proposta específica.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referência rápida: o endereço de cada produto e o setor atendido.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Nuvem de tecnologias. Tamanho e cor das etiquetas não indicam importância; é apenas um recurso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a implantação é feita em etapas, com a PoC usando dados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Cubra as seis frentes de segurança; adapte a ênfase ao setor do interlocutor.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área de cada bloco é proporcional ao número de colaboradores. Destaque os especialistas de domínio (médicos, advogados, contadores) que validam a precisão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produtos FinBrain e ClinicaGPT contam com cobertura em turnos 24/7. Os tempos seguem a matriz de severidade contratada.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conceitual, sem escala numérica: serve para explicar a combinação de especialização de domínio e dados privados rastreáveis.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princípios de IA responsável.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Substitua os campos da frente pelos dados de quem apresenta. O verso resume o portfólio. Pode ser exportado como imagem para assinatura de e-mail.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APA_CENTRAL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TITULO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TITULO_ESCURO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LIVRE_ESCURO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FECHAMENTO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_CENTR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594360"/>
            <a:ext cx="10972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371600" y="2423160"/>
            <a:ext cx="944575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011680" y="3383280"/>
            <a:ext cx="81655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B7C8DE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46888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SynapseAI Solutions  ·  Apresentação institucional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ESCU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46888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8DE"/>
                </a:solidFill>
              </a:rPr>
              <a:t>SynapseAI Solutions  ·  Apresentação institucional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C8D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VRE_ESCU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46888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8DE"/>
                </a:solidFill>
              </a:rPr>
              <a:t>SynapseAI Solutions  ·  Apresentação institucional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C8D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VRE_C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76656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SynapseAI Solutions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2103120"/>
            <a:ext cx="8229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352044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B7C8D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2743200" y="2103120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7FD6E0"/>
                </a:solidFill>
              </a:rPr>
              <a:t>APRESENTAÇÃO INSTITUCIONAL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371600" y="242316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SynapseAI Solutions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011680" y="338328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8DE"/>
                </a:solidFill>
              </a:rPr>
              <a:t>IA generativa orientada a domínio, para Finanças, Educação e Saúde</a:t>
            </a:r>
            <a:endParaRPr lang="en-US" sz="2200" dirty="0"/>
          </a:p>
        </p:txBody>
      </p:sp>
      <p:pic>
        <p:nvPicPr>
          <p:cNvPr id="5" name="Símbolo FinBrain" descr="assets/sym_fin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4434840"/>
            <a:ext cx="868680" cy="86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06040" y="5321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FinBrain</a:t>
            </a:r>
            <a:endParaRPr lang="en-US" sz="1100" dirty="0"/>
          </a:p>
        </p:txBody>
      </p:sp>
      <p:pic>
        <p:nvPicPr>
          <p:cNvPr id="7" name="Símbolo RiskGen" descr="assets/sym_riskg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4434840"/>
            <a:ext cx="868680" cy="868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977640" y="5321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RiskGen</a:t>
            </a:r>
            <a:endParaRPr lang="en-US" sz="1100" dirty="0"/>
          </a:p>
        </p:txBody>
      </p:sp>
      <p:pic>
        <p:nvPicPr>
          <p:cNvPr id="9" name="Símbolo EduMentor AI" descr="assets/sym_edumen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4434840"/>
            <a:ext cx="868680" cy="8686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349240" y="5321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EduMentor AI</a:t>
            </a:r>
            <a:endParaRPr lang="en-US" sz="1100" dirty="0"/>
          </a:p>
        </p:txBody>
      </p:sp>
      <p:pic>
        <p:nvPicPr>
          <p:cNvPr id="11" name="Símbolo CourseGen Studio" descr="assets/sym_courseg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434840"/>
            <a:ext cx="868680" cy="86868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720840" y="5321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CourseGen Studio</a:t>
            </a:r>
            <a:endParaRPr lang="en-US" sz="1100" dirty="0"/>
          </a:p>
        </p:txBody>
      </p:sp>
      <p:pic>
        <p:nvPicPr>
          <p:cNvPr id="13" name="Símbolo ClinicaGPT" descr="assets/sym_clinicagp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4434840"/>
            <a:ext cx="868680" cy="86868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092440" y="5321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ClinicaGPT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A9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p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822960" cy="8229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92024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NOSSA MISSÃO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219456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tx2"/>
                </a:solidFill>
              </a:rPr>
              <a:t>Ampliar a capacidade cognitiva de profissionais e organizações.</a:t>
            </a:r>
            <a:endParaRPr lang="en-US" sz="46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45720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Usamos a IA generativa como sistema de apoio à decisão, não como substituta do julgamento humano.</a:t>
            </a:r>
            <a:endParaRPr lang="en-US" sz="2000" dirty="0"/>
          </a:p>
        </p:txBody>
      </p:sp>
      <p:pic>
        <p:nvPicPr>
          <p:cNvPr id="7" name="Logo" descr="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760720"/>
            <a:ext cx="41148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71600" y="5833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SynapseAI Solutions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A EMPRESA EM NÚMEROS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 SynapseAI em números</a:t>
            </a:r>
            <a:endParaRPr lang="en-US" sz="3600" dirty="0"/>
          </a:p>
        </p:txBody>
      </p:sp>
      <p:sp>
        <p:nvSpPr>
          <p:cNvPr id="5" name="Tile"/>
          <p:cNvSpPr/>
          <p:nvPr/>
        </p:nvSpPr>
        <p:spPr>
          <a:xfrm>
            <a:off x="548640" y="1645920"/>
            <a:ext cx="3931920" cy="2103120"/>
          </a:xfrm>
          <a:prstGeom prst="roundRect">
            <a:avLst>
              <a:gd name="adj" fmla="val 7826"/>
            </a:avLst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347472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300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49854"/>
            <a:ext cx="34290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colaboradores</a:t>
            </a:r>
            <a:endParaRPr lang="en-US" sz="1500" dirty="0"/>
          </a:p>
        </p:txBody>
      </p:sp>
      <p:sp>
        <p:nvSpPr>
          <p:cNvPr id="8" name="Tile"/>
          <p:cNvSpPr/>
          <p:nvPr/>
        </p:nvSpPr>
        <p:spPr>
          <a:xfrm>
            <a:off x="4617720" y="1645920"/>
            <a:ext cx="3291840" cy="2103120"/>
          </a:xfrm>
          <a:prstGeom prst="roundRect">
            <a:avLst>
              <a:gd name="adj" fmla="val 7826"/>
            </a:avLst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783080"/>
            <a:ext cx="283464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03050"/>
                </a:solidFill>
              </a:rPr>
              <a:t>5</a:t>
            </a:r>
            <a:endParaRPr lang="en-US" sz="80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2949854"/>
            <a:ext cx="278892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050"/>
                </a:solidFill>
              </a:rPr>
              <a:t>produtos de IA generativa</a:t>
            </a:r>
            <a:endParaRPr lang="en-US" sz="1500" dirty="0"/>
          </a:p>
        </p:txBody>
      </p:sp>
      <p:sp>
        <p:nvSpPr>
          <p:cNvPr id="11" name="Tile"/>
          <p:cNvSpPr/>
          <p:nvPr/>
        </p:nvSpPr>
        <p:spPr>
          <a:xfrm>
            <a:off x="8046720" y="1645920"/>
            <a:ext cx="3596335" cy="2103120"/>
          </a:xfrm>
          <a:prstGeom prst="roundRect">
            <a:avLst>
              <a:gd name="adj" fmla="val 7826"/>
            </a:avLst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1783080"/>
            <a:ext cx="3139135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03050"/>
                </a:solidFill>
              </a:rPr>
              <a:t>3</a:t>
            </a:r>
            <a:endParaRPr lang="en-US" sz="80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949854"/>
            <a:ext cx="309341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050"/>
                </a:solidFill>
              </a:rPr>
              <a:t>setores regulados: Finanças, Educação e Saúde</a:t>
            </a:r>
            <a:endParaRPr lang="en-US" sz="1500" dirty="0"/>
          </a:p>
        </p:txBody>
      </p:sp>
      <p:sp>
        <p:nvSpPr>
          <p:cNvPr id="14" name="Tile"/>
          <p:cNvSpPr/>
          <p:nvPr/>
        </p:nvSpPr>
        <p:spPr>
          <a:xfrm>
            <a:off x="548640" y="3886200"/>
            <a:ext cx="2560320" cy="2194560"/>
          </a:xfrm>
          <a:prstGeom prst="roundRect">
            <a:avLst>
              <a:gd name="adj" fmla="val 7500"/>
            </a:avLst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023360"/>
            <a:ext cx="2103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03050"/>
                </a:solidFill>
              </a:rPr>
              <a:t>7</a:t>
            </a:r>
            <a:endParaRPr lang="en-US" sz="6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246827"/>
            <a:ext cx="205740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050"/>
                </a:solidFill>
              </a:rPr>
              <a:t>áreas que sustentam o ciclo completo</a:t>
            </a:r>
            <a:endParaRPr lang="en-US" sz="1500" dirty="0"/>
          </a:p>
        </p:txBody>
      </p:sp>
      <p:sp>
        <p:nvSpPr>
          <p:cNvPr id="17" name="Tile"/>
          <p:cNvSpPr/>
          <p:nvPr/>
        </p:nvSpPr>
        <p:spPr>
          <a:xfrm>
            <a:off x="3246120" y="3886200"/>
            <a:ext cx="2697480" cy="2194560"/>
          </a:xfrm>
          <a:prstGeom prst="roundRect">
            <a:avLst>
              <a:gd name="adj" fmla="val 7500"/>
            </a:avLst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20440" y="4023360"/>
            <a:ext cx="2240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03050"/>
                </a:solidFill>
              </a:rPr>
              <a:t>24/7</a:t>
            </a:r>
            <a:endParaRPr lang="en-US" sz="5600" dirty="0"/>
          </a:p>
        </p:txBody>
      </p:sp>
      <p:sp>
        <p:nvSpPr>
          <p:cNvPr id="19" name="Text 16"/>
          <p:cNvSpPr txBox="1"/>
          <p:nvPr/>
        </p:nvSpPr>
        <p:spPr>
          <a:xfrm>
            <a:off x="3520440" y="5246827"/>
            <a:ext cx="219456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050"/>
                </a:solidFill>
              </a:rPr>
              <a:t>operação para produtos críticos</a:t>
            </a:r>
            <a:endParaRPr lang="en-US" sz="1500" dirty="0"/>
          </a:p>
        </p:txBody>
      </p:sp>
      <p:sp>
        <p:nvSpPr>
          <p:cNvPr id="20" name="Tile"/>
          <p:cNvSpPr/>
          <p:nvPr/>
        </p:nvSpPr>
        <p:spPr>
          <a:xfrm>
            <a:off x="6080760" y="3886200"/>
            <a:ext cx="2697480" cy="2194560"/>
          </a:xfrm>
          <a:prstGeom prst="roundRect">
            <a:avLst>
              <a:gd name="adj" fmla="val 7500"/>
            </a:avLst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55080" y="4023360"/>
            <a:ext cx="2240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03050"/>
                </a:solidFill>
              </a:rPr>
              <a:t>4</a:t>
            </a:r>
            <a:endParaRPr lang="en-US" sz="64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5246827"/>
            <a:ext cx="219456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3050"/>
                </a:solidFill>
              </a:rPr>
              <a:t>níveis de severidade nos SLAs</a:t>
            </a:r>
            <a:endParaRPr lang="en-US" sz="1500" dirty="0"/>
          </a:p>
        </p:txBody>
      </p:sp>
      <p:sp>
        <p:nvSpPr>
          <p:cNvPr id="23" name="Tile"/>
          <p:cNvSpPr/>
          <p:nvPr/>
        </p:nvSpPr>
        <p:spPr>
          <a:xfrm>
            <a:off x="8915400" y="3886200"/>
            <a:ext cx="2727655" cy="2194560"/>
          </a:xfrm>
          <a:prstGeom prst="roundRect">
            <a:avLst>
              <a:gd name="adj" fmla="val 7500"/>
            </a:avLst>
          </a:prstGeom>
          <a:solidFill>
            <a:srgbClr val="606770"/>
          </a:solidFill>
          <a:ln w="12700">
            <a:solidFill>
              <a:srgbClr val="60677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89720" y="4023360"/>
            <a:ext cx="227045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2</a:t>
            </a:r>
            <a:endParaRPr lang="en-US" sz="6400" dirty="0"/>
          </a:p>
        </p:txBody>
      </p:sp>
      <p:sp>
        <p:nvSpPr>
          <p:cNvPr id="25" name="Text 22"/>
          <p:cNvSpPr txBox="1"/>
          <p:nvPr/>
        </p:nvSpPr>
        <p:spPr>
          <a:xfrm>
            <a:off x="9189720" y="5246827"/>
            <a:ext cx="2224735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modelos de implantação: nuvem privada ou on-premise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PROPOSTA DE VALOR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Cinco pilares que sustentam tudo</a:t>
            </a:r>
            <a:endParaRPr lang="en-US" sz="3600" dirty="0"/>
          </a:p>
        </p:txBody>
      </p:sp>
      <p:sp>
        <p:nvSpPr>
          <p:cNvPr id="5" name="Pilar"/>
          <p:cNvSpPr/>
          <p:nvPr/>
        </p:nvSpPr>
        <p:spPr>
          <a:xfrm>
            <a:off x="548640" y="3017520"/>
            <a:ext cx="2103120" cy="3108960"/>
          </a:xfrm>
          <a:prstGeom prst="roundRect">
            <a:avLst>
              <a:gd name="adj" fmla="val 7826"/>
            </a:avLst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</p:spPr>
      </p:sp>
      <p:pic>
        <p:nvPicPr>
          <p:cNvPr id="7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4564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3337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01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069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Especialização por domínio</a:t>
            </a:r>
            <a:endParaRPr lang="en-US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48006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Modelos ajustados a finanças, educação e saúde.</a:t>
            </a:r>
            <a:endParaRPr lang="en-US" sz="1250" dirty="0"/>
          </a:p>
        </p:txBody>
      </p:sp>
      <p:sp>
        <p:nvSpPr>
          <p:cNvPr id="11" name="Pilar"/>
          <p:cNvSpPr/>
          <p:nvPr/>
        </p:nvSpPr>
        <p:spPr>
          <a:xfrm>
            <a:off x="2798064" y="2651760"/>
            <a:ext cx="2103120" cy="3474720"/>
          </a:xfrm>
          <a:prstGeom prst="roundRect">
            <a:avLst>
              <a:gd name="adj" fmla="val 7826"/>
            </a:avLst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2" name="Ícone fundo"/>
          <p:cNvSpPr/>
          <p:nvPr/>
        </p:nvSpPr>
        <p:spPr>
          <a:xfrm>
            <a:off x="3072384" y="2926080"/>
            <a:ext cx="640080" cy="640080"/>
          </a:xfrm>
          <a:prstGeom prst="ellipse">
            <a:avLst/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</p:spPr>
      </p:sp>
      <p:pic>
        <p:nvPicPr>
          <p:cNvPr id="13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309067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32504" y="2971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02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3026664" y="37033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IA explicável e rastreável</a:t>
            </a:r>
            <a:endParaRPr lang="en-US" sz="1650" dirty="0"/>
          </a:p>
        </p:txBody>
      </p:sp>
      <p:sp>
        <p:nvSpPr>
          <p:cNvPr id="16" name="Text 11"/>
          <p:cNvSpPr txBox="1"/>
          <p:nvPr/>
        </p:nvSpPr>
        <p:spPr>
          <a:xfrm>
            <a:off x="3026664" y="44348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Respostas auditáveis, ligadas a fontes confiáveis.</a:t>
            </a:r>
            <a:endParaRPr lang="en-US" sz="1250" dirty="0"/>
          </a:p>
        </p:txBody>
      </p:sp>
      <p:sp>
        <p:nvSpPr>
          <p:cNvPr id="17" name="Pilar"/>
          <p:cNvSpPr/>
          <p:nvPr/>
        </p:nvSpPr>
        <p:spPr>
          <a:xfrm>
            <a:off x="5047488" y="2286000"/>
            <a:ext cx="2103120" cy="3840480"/>
          </a:xfrm>
          <a:prstGeom prst="roundRect">
            <a:avLst>
              <a:gd name="adj" fmla="val 7826"/>
            </a:avLst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8" name="Ícone fundo"/>
          <p:cNvSpPr/>
          <p:nvPr/>
        </p:nvSpPr>
        <p:spPr>
          <a:xfrm>
            <a:off x="5321808" y="2560320"/>
            <a:ext cx="640080" cy="640080"/>
          </a:xfrm>
          <a:prstGeom prst="ellipse">
            <a:avLst/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</p:spPr>
      </p:sp>
      <p:pic>
        <p:nvPicPr>
          <p:cNvPr id="19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7249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81928" y="2606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03</a:t>
            </a:r>
            <a:endParaRPr lang="en-US" sz="2800" dirty="0"/>
          </a:p>
        </p:txBody>
      </p:sp>
      <p:sp>
        <p:nvSpPr>
          <p:cNvPr id="21" name="Text 15"/>
          <p:cNvSpPr txBox="1"/>
          <p:nvPr/>
        </p:nvSpPr>
        <p:spPr>
          <a:xfrm>
            <a:off x="5276088" y="33375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Integração com dados privados</a:t>
            </a:r>
            <a:endParaRPr lang="en-US" sz="1650" dirty="0"/>
          </a:p>
        </p:txBody>
      </p:sp>
      <p:sp>
        <p:nvSpPr>
          <p:cNvPr id="22" name="Text 16"/>
          <p:cNvSpPr txBox="1"/>
          <p:nvPr/>
        </p:nvSpPr>
        <p:spPr>
          <a:xfrm>
            <a:off x="5276088" y="40690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RAG sobre os dados internos do cliente.</a:t>
            </a:r>
            <a:endParaRPr lang="en-US" sz="1250" dirty="0"/>
          </a:p>
        </p:txBody>
      </p:sp>
      <p:sp>
        <p:nvSpPr>
          <p:cNvPr id="23" name="Pilar"/>
          <p:cNvSpPr/>
          <p:nvPr/>
        </p:nvSpPr>
        <p:spPr>
          <a:xfrm>
            <a:off x="7296912" y="1920240"/>
            <a:ext cx="2103120" cy="4206240"/>
          </a:xfrm>
          <a:prstGeom prst="roundRect">
            <a:avLst>
              <a:gd name="adj" fmla="val 7826"/>
            </a:avLst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4" name="Ícone fundo"/>
          <p:cNvSpPr/>
          <p:nvPr/>
        </p:nvSpPr>
        <p:spPr>
          <a:xfrm>
            <a:off x="7571232" y="2194560"/>
            <a:ext cx="640080" cy="640080"/>
          </a:xfrm>
          <a:prstGeom prst="ellipse">
            <a:avLst/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</p:spPr>
      </p:sp>
      <p:pic>
        <p:nvPicPr>
          <p:cNvPr id="25" name="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235915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531352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04</a:t>
            </a:r>
            <a:endParaRPr lang="en-US" sz="2800" dirty="0"/>
          </a:p>
        </p:txBody>
      </p:sp>
      <p:sp>
        <p:nvSpPr>
          <p:cNvPr id="27" name="Text 20"/>
          <p:cNvSpPr txBox="1"/>
          <p:nvPr/>
        </p:nvSpPr>
        <p:spPr>
          <a:xfrm>
            <a:off x="7525512" y="29718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Compliance desde a concepção</a:t>
            </a:r>
            <a:endParaRPr lang="en-US" sz="1650" dirty="0"/>
          </a:p>
        </p:txBody>
      </p:sp>
      <p:sp>
        <p:nvSpPr>
          <p:cNvPr id="28" name="Text 21"/>
          <p:cNvSpPr txBox="1"/>
          <p:nvPr/>
        </p:nvSpPr>
        <p:spPr>
          <a:xfrm>
            <a:off x="7525512" y="370332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Isolamento por cliente, criptografia e controle de acesso.</a:t>
            </a:r>
            <a:endParaRPr lang="en-US" sz="1250" dirty="0"/>
          </a:p>
        </p:txBody>
      </p:sp>
      <p:sp>
        <p:nvSpPr>
          <p:cNvPr id="29" name="Pilar"/>
          <p:cNvSpPr/>
          <p:nvPr/>
        </p:nvSpPr>
        <p:spPr>
          <a:xfrm>
            <a:off x="9546336" y="1554480"/>
            <a:ext cx="2103120" cy="4572000"/>
          </a:xfrm>
          <a:prstGeom prst="roundRect">
            <a:avLst>
              <a:gd name="adj" fmla="val 7826"/>
            </a:avLst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0" name="Ícone fundo"/>
          <p:cNvSpPr/>
          <p:nvPr/>
        </p:nvSpPr>
        <p:spPr>
          <a:xfrm>
            <a:off x="9820656" y="1828800"/>
            <a:ext cx="640080" cy="640080"/>
          </a:xfrm>
          <a:prstGeom prst="ellipse">
            <a:avLst/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</p:spPr>
      </p:sp>
      <p:pic>
        <p:nvPicPr>
          <p:cNvPr id="31" name="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248" y="199339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780776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05</a:t>
            </a:r>
            <a:endParaRPr lang="en-US" sz="2800" dirty="0"/>
          </a:p>
        </p:txBody>
      </p:sp>
      <p:sp>
        <p:nvSpPr>
          <p:cNvPr id="33" name="Text 25"/>
          <p:cNvSpPr txBox="1"/>
          <p:nvPr/>
        </p:nvSpPr>
        <p:spPr>
          <a:xfrm>
            <a:off x="9774936" y="2606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</a:rPr>
              <a:t>Escalabilidade enterprise</a:t>
            </a:r>
            <a:endParaRPr lang="en-US" sz="1650" dirty="0"/>
          </a:p>
        </p:txBody>
      </p:sp>
      <p:sp>
        <p:nvSpPr>
          <p:cNvPr id="34" name="Text 26"/>
          <p:cNvSpPr txBox="1"/>
          <p:nvPr/>
        </p:nvSpPr>
        <p:spPr>
          <a:xfrm>
            <a:off x="9774936" y="3337560"/>
            <a:ext cx="1691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Milhares de usuários, SLAs elevados, nuvem privada ou on-premise.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luna setor"/>
          <p:cNvSpPr/>
          <p:nvPr/>
        </p:nvSpPr>
        <p:spPr>
          <a:xfrm>
            <a:off x="0" y="0"/>
            <a:ext cx="4073042" cy="6858000"/>
          </a:xfrm>
          <a:prstGeom prst="rect">
            <a:avLst/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sp>
        <p:nvSpPr>
          <p:cNvPr id="4" name="Ícone fundo"/>
          <p:cNvSpPr/>
          <p:nvPr/>
        </p:nvSpPr>
        <p:spPr>
          <a:xfrm>
            <a:off x="411480" y="82296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548640" cy="5486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Finanças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108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Análise financeira e gestão de risco com explicabilidade e trilha de auditoria.</a:t>
            </a:r>
            <a:endParaRPr lang="en-US" sz="1600" dirty="0"/>
          </a:p>
        </p:txBody>
      </p:sp>
      <p:sp>
        <p:nvSpPr>
          <p:cNvPr id="8" name="Produto"/>
          <p:cNvSpPr/>
          <p:nvPr/>
        </p:nvSpPr>
        <p:spPr>
          <a:xfrm>
            <a:off x="548640" y="4709160"/>
            <a:ext cx="29718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Símbolo" descr="assets/sym_fin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764024"/>
            <a:ext cx="493776" cy="49377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34440" y="470916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FinBrain</a:t>
            </a:r>
            <a:endParaRPr lang="en-US" sz="1500" dirty="0"/>
          </a:p>
        </p:txBody>
      </p:sp>
      <p:sp>
        <p:nvSpPr>
          <p:cNvPr id="11" name="Produto"/>
          <p:cNvSpPr/>
          <p:nvPr/>
        </p:nvSpPr>
        <p:spPr>
          <a:xfrm>
            <a:off x="548640" y="5422392"/>
            <a:ext cx="29718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Símbolo" descr="assets/sym_riskg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477256"/>
            <a:ext cx="493776" cy="4937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542239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RiskGen</a:t>
            </a:r>
            <a:endParaRPr lang="en-US" sz="1500" dirty="0"/>
          </a:p>
        </p:txBody>
      </p:sp>
      <p:sp>
        <p:nvSpPr>
          <p:cNvPr id="14" name="Coluna setor"/>
          <p:cNvSpPr/>
          <p:nvPr/>
        </p:nvSpPr>
        <p:spPr>
          <a:xfrm>
            <a:off x="4063898" y="0"/>
            <a:ext cx="4073042" cy="6858000"/>
          </a:xfrm>
          <a:prstGeom prst="rect">
            <a:avLst/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15" name="Ícone fundo"/>
          <p:cNvSpPr/>
          <p:nvPr/>
        </p:nvSpPr>
        <p:spPr>
          <a:xfrm>
            <a:off x="4475378" y="82296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698" y="1097280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612538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Educação</a:t>
            </a:r>
            <a:endParaRPr lang="en-US" sz="4000" dirty="0"/>
          </a:p>
        </p:txBody>
      </p:sp>
      <p:sp>
        <p:nvSpPr>
          <p:cNvPr id="18" name="Text 11"/>
          <p:cNvSpPr txBox="1"/>
          <p:nvPr/>
        </p:nvSpPr>
        <p:spPr>
          <a:xfrm>
            <a:off x="4612538" y="3108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Aprendizado personalizado e criação de conteúdo educacional em escala.</a:t>
            </a:r>
            <a:endParaRPr lang="en-US" sz="1600" dirty="0"/>
          </a:p>
        </p:txBody>
      </p:sp>
      <p:sp>
        <p:nvSpPr>
          <p:cNvPr id="19" name="Produto"/>
          <p:cNvSpPr/>
          <p:nvPr/>
        </p:nvSpPr>
        <p:spPr>
          <a:xfrm>
            <a:off x="4612538" y="4709160"/>
            <a:ext cx="29718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Símbolo" descr="assets/sym_edumen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690" y="4764024"/>
            <a:ext cx="493776" cy="49377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298338" y="470916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EduMentor AI</a:t>
            </a:r>
            <a:endParaRPr lang="en-US" sz="1500" dirty="0"/>
          </a:p>
        </p:txBody>
      </p:sp>
      <p:sp>
        <p:nvSpPr>
          <p:cNvPr id="22" name="Produto"/>
          <p:cNvSpPr/>
          <p:nvPr/>
        </p:nvSpPr>
        <p:spPr>
          <a:xfrm>
            <a:off x="4612538" y="5422392"/>
            <a:ext cx="29718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Símbolo" descr="assets/sym_courseg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5690" y="5477256"/>
            <a:ext cx="493776" cy="49377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298338" y="542239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CourseGen Studio</a:t>
            </a:r>
            <a:endParaRPr lang="en-US" sz="1500" dirty="0"/>
          </a:p>
        </p:txBody>
      </p:sp>
      <p:sp>
        <p:nvSpPr>
          <p:cNvPr id="25" name="Coluna setor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26" name="Ícone fundo"/>
          <p:cNvSpPr/>
          <p:nvPr/>
        </p:nvSpPr>
        <p:spPr>
          <a:xfrm>
            <a:off x="8539277" y="82296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3597" y="1097280"/>
            <a:ext cx="548640" cy="5486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676437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Saúde</a:t>
            </a:r>
            <a:endParaRPr lang="en-US" sz="4000" dirty="0"/>
          </a:p>
        </p:txBody>
      </p:sp>
      <p:sp>
        <p:nvSpPr>
          <p:cNvPr id="29" name="Text 19"/>
          <p:cNvSpPr txBox="1"/>
          <p:nvPr/>
        </p:nvSpPr>
        <p:spPr>
          <a:xfrm>
            <a:off x="8676437" y="3108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Apoio à prática clínica, sem diagnóstico ou prescrição, em ambientes críticos.</a:t>
            </a:r>
            <a:endParaRPr lang="en-US" sz="1600" dirty="0"/>
          </a:p>
        </p:txBody>
      </p:sp>
      <p:sp>
        <p:nvSpPr>
          <p:cNvPr id="30" name="Produto"/>
          <p:cNvSpPr/>
          <p:nvPr/>
        </p:nvSpPr>
        <p:spPr>
          <a:xfrm>
            <a:off x="8676437" y="4709160"/>
            <a:ext cx="29718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Símbolo" descr="assets/sym_clinicagp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9589" y="4764024"/>
            <a:ext cx="493776" cy="49377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362237" y="470916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ClinicaGPT</a:t>
            </a:r>
            <a:endParaRPr lang="en-US" sz="1500" dirty="0"/>
          </a:p>
        </p:txBody>
      </p:sp>
      <p:sp>
        <p:nvSpPr>
          <p:cNvPr id="33" name="Text 2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TRÊS SETORES, UMA PLATAFORMA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PORTFÓLIO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Cinco produtos, uma plataforma</a:t>
            </a:r>
            <a:endParaRPr lang="en-US" sz="3600" dirty="0"/>
          </a:p>
        </p:txBody>
      </p:sp>
      <p:sp>
        <p:nvSpPr>
          <p:cNvPr id="5" name="Conector"/>
          <p:cNvSpPr/>
          <p:nvPr/>
        </p:nvSpPr>
        <p:spPr>
          <a:xfrm>
            <a:off x="4343400" y="2194560"/>
            <a:ext cx="0" cy="1737360"/>
          </a:xfrm>
          <a:prstGeom prst="line">
            <a:avLst/>
          </a:prstGeom>
          <a:noFill/>
          <a:ln w="38100">
            <a:solidFill>
              <a:srgbClr val="17A9B9"/>
            </a:solidFill>
            <a:prstDash val="solid"/>
          </a:ln>
        </p:spPr>
      </p:sp>
      <p:sp>
        <p:nvSpPr>
          <p:cNvPr id="6" name="Conector"/>
          <p:cNvSpPr/>
          <p:nvPr/>
        </p:nvSpPr>
        <p:spPr>
          <a:xfrm flipV="1">
            <a:off x="4343400" y="3395046"/>
            <a:ext cx="2174115" cy="536874"/>
          </a:xfrm>
          <a:prstGeom prst="line">
            <a:avLst/>
          </a:prstGeom>
          <a:noFill/>
          <a:ln w="38100">
            <a:solidFill>
              <a:srgbClr val="E8A23A"/>
            </a:solidFill>
            <a:prstDash val="solid"/>
          </a:ln>
        </p:spPr>
      </p:sp>
      <p:sp>
        <p:nvSpPr>
          <p:cNvPr id="7" name="Conector"/>
          <p:cNvSpPr/>
          <p:nvPr/>
        </p:nvSpPr>
        <p:spPr>
          <a:xfrm>
            <a:off x="4343400" y="3931920"/>
            <a:ext cx="1343677" cy="1405554"/>
          </a:xfrm>
          <a:prstGeom prst="line">
            <a:avLst/>
          </a:prstGeom>
          <a:noFill/>
          <a:ln w="38100">
            <a:solidFill>
              <a:srgbClr val="4DA3E8"/>
            </a:solidFill>
            <a:prstDash val="solid"/>
          </a:ln>
        </p:spPr>
      </p:sp>
      <p:sp>
        <p:nvSpPr>
          <p:cNvPr id="8" name="Conector"/>
          <p:cNvSpPr/>
          <p:nvPr/>
        </p:nvSpPr>
        <p:spPr>
          <a:xfrm flipV="1">
            <a:off x="2999723" y="3931920"/>
            <a:ext cx="1343677" cy="1405554"/>
          </a:xfrm>
          <a:prstGeom prst="line">
            <a:avLst/>
          </a:prstGeom>
          <a:noFill/>
          <a:ln w="38100">
            <a:solidFill>
              <a:srgbClr val="8A7BE0"/>
            </a:solidFill>
            <a:prstDash val="solid"/>
          </a:ln>
        </p:spPr>
      </p:sp>
      <p:sp>
        <p:nvSpPr>
          <p:cNvPr id="9" name="Conector"/>
          <p:cNvSpPr/>
          <p:nvPr/>
        </p:nvSpPr>
        <p:spPr>
          <a:xfrm>
            <a:off x="2169285" y="3395046"/>
            <a:ext cx="2174115" cy="536874"/>
          </a:xfrm>
          <a:prstGeom prst="line">
            <a:avLst/>
          </a:prstGeom>
          <a:noFill/>
          <a:ln w="38100">
            <a:solidFill>
              <a:srgbClr val="2FBF8F"/>
            </a:solidFill>
            <a:prstDash val="solid"/>
          </a:ln>
        </p:spPr>
      </p:sp>
      <p:sp>
        <p:nvSpPr>
          <p:cNvPr id="10" name="Plataforma"/>
          <p:cNvSpPr/>
          <p:nvPr/>
        </p:nvSpPr>
        <p:spPr>
          <a:xfrm>
            <a:off x="3429000" y="3017520"/>
            <a:ext cx="1828800" cy="1828800"/>
          </a:xfrm>
          <a:prstGeom prst="ellipse">
            <a:avLst/>
          </a:prstGeom>
          <a:solidFill>
            <a:srgbClr val="103050"/>
          </a:solidFill>
          <a:ln w="38100">
            <a:solidFill>
              <a:srgbClr val="17A9B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pic>
        <p:nvPicPr>
          <p:cNvPr id="11" name="Logo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3218688"/>
            <a:ext cx="548640" cy="6675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3931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Plataforma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SynapseAI</a:t>
            </a:r>
            <a:endParaRPr lang="en-US" sz="1400" dirty="0"/>
          </a:p>
        </p:txBody>
      </p:sp>
      <p:pic>
        <p:nvPicPr>
          <p:cNvPr id="13" name="Símbolo FinBrain" descr="assets/sym_fin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1664208"/>
            <a:ext cx="1060704" cy="1060704"/>
          </a:xfrm>
          <a:prstGeom prst="rect">
            <a:avLst/>
          </a:prstGeom>
        </p:spPr>
      </p:pic>
      <p:sp>
        <p:nvSpPr>
          <p:cNvPr id="14" name="Rótulo"/>
          <p:cNvSpPr/>
          <p:nvPr/>
        </p:nvSpPr>
        <p:spPr>
          <a:xfrm>
            <a:off x="3593592" y="2761488"/>
            <a:ext cx="14996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593592" y="276148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FinBrain</a:t>
            </a:r>
            <a:endParaRPr lang="en-US" sz="1150" dirty="0"/>
          </a:p>
        </p:txBody>
      </p:sp>
      <p:pic>
        <p:nvPicPr>
          <p:cNvPr id="16" name="Símbolo RiskGen" descr="assets/sym_riskg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163" y="2864694"/>
            <a:ext cx="1060704" cy="1060704"/>
          </a:xfrm>
          <a:prstGeom prst="rect">
            <a:avLst/>
          </a:prstGeom>
        </p:spPr>
      </p:pic>
      <p:sp>
        <p:nvSpPr>
          <p:cNvPr id="17" name="Rótulo"/>
          <p:cNvSpPr/>
          <p:nvPr/>
        </p:nvSpPr>
        <p:spPr>
          <a:xfrm>
            <a:off x="5767707" y="3961974"/>
            <a:ext cx="14996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767707" y="396197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RiskGen</a:t>
            </a:r>
            <a:endParaRPr lang="en-US" sz="1150" dirty="0"/>
          </a:p>
        </p:txBody>
      </p:sp>
      <p:pic>
        <p:nvPicPr>
          <p:cNvPr id="19" name="Símbolo EduMentor AI" descr="assets/sym_edumen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725" y="4807122"/>
            <a:ext cx="1060704" cy="1060704"/>
          </a:xfrm>
          <a:prstGeom prst="rect">
            <a:avLst/>
          </a:prstGeom>
        </p:spPr>
      </p:pic>
      <p:sp>
        <p:nvSpPr>
          <p:cNvPr id="20" name="Rótulo"/>
          <p:cNvSpPr/>
          <p:nvPr/>
        </p:nvSpPr>
        <p:spPr>
          <a:xfrm>
            <a:off x="4937269" y="5904402"/>
            <a:ext cx="14996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4937269" y="590440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EduMentor AI</a:t>
            </a:r>
            <a:endParaRPr lang="en-US" sz="1150" dirty="0"/>
          </a:p>
        </p:txBody>
      </p:sp>
      <p:pic>
        <p:nvPicPr>
          <p:cNvPr id="22" name="Símbolo CourseGen Studio" descr="assets/sym_courseg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9371" y="4807122"/>
            <a:ext cx="1060704" cy="1060704"/>
          </a:xfrm>
          <a:prstGeom prst="rect">
            <a:avLst/>
          </a:prstGeom>
        </p:spPr>
      </p:pic>
      <p:sp>
        <p:nvSpPr>
          <p:cNvPr id="23" name="Rótulo"/>
          <p:cNvSpPr/>
          <p:nvPr/>
        </p:nvSpPr>
        <p:spPr>
          <a:xfrm>
            <a:off x="2249915" y="5904402"/>
            <a:ext cx="14996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2249915" y="590440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CourseGen Studio</a:t>
            </a:r>
            <a:endParaRPr lang="en-US" sz="1150" dirty="0"/>
          </a:p>
        </p:txBody>
      </p:sp>
      <p:pic>
        <p:nvPicPr>
          <p:cNvPr id="25" name="Símbolo ClinicaGPT" descr="assets/sym_clinicagp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933" y="2864694"/>
            <a:ext cx="1060704" cy="1060704"/>
          </a:xfrm>
          <a:prstGeom prst="rect">
            <a:avLst/>
          </a:prstGeom>
        </p:spPr>
      </p:pic>
      <p:sp>
        <p:nvSpPr>
          <p:cNvPr id="26" name="Rótulo"/>
          <p:cNvSpPr/>
          <p:nvPr/>
        </p:nvSpPr>
        <p:spPr>
          <a:xfrm>
            <a:off x="1419477" y="3961974"/>
            <a:ext cx="14996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1419477" y="396197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ClinicaGPT</a:t>
            </a:r>
            <a:endParaRPr lang="en-US" sz="1150" dirty="0"/>
          </a:p>
        </p:txBody>
      </p:sp>
      <p:sp>
        <p:nvSpPr>
          <p:cNvPr id="28" name="Resumo produto"/>
          <p:cNvSpPr/>
          <p:nvPr/>
        </p:nvSpPr>
        <p:spPr>
          <a:xfrm>
            <a:off x="7955280" y="1783080"/>
            <a:ext cx="3685032" cy="749808"/>
          </a:xfrm>
          <a:prstGeom prst="roundRect">
            <a:avLst>
              <a:gd name="adj" fmla="val 17073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29" name="Marcador"/>
          <p:cNvSpPr/>
          <p:nvPr/>
        </p:nvSpPr>
        <p:spPr>
          <a:xfrm>
            <a:off x="8138160" y="2066544"/>
            <a:ext cx="182880" cy="182880"/>
          </a:xfrm>
          <a:prstGeom prst="ellipse">
            <a:avLst/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8503920" y="1856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FinBrain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8503920" y="21488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Copiloto Financeiro Corporativo</a:t>
            </a:r>
            <a:endParaRPr lang="en-US" sz="1100" dirty="0"/>
          </a:p>
        </p:txBody>
      </p:sp>
      <p:sp>
        <p:nvSpPr>
          <p:cNvPr id="32" name="Resumo produto"/>
          <p:cNvSpPr/>
          <p:nvPr/>
        </p:nvSpPr>
        <p:spPr>
          <a:xfrm>
            <a:off x="7955280" y="2651760"/>
            <a:ext cx="3685032" cy="749808"/>
          </a:xfrm>
          <a:prstGeom prst="roundRect">
            <a:avLst>
              <a:gd name="adj" fmla="val 17073"/>
            </a:avLst>
          </a:prstGeom>
          <a:solidFill>
            <a:srgbClr val="FDF1DD"/>
          </a:solidFill>
          <a:ln w="12700">
            <a:solidFill>
              <a:srgbClr val="FDF1DD"/>
            </a:solidFill>
            <a:prstDash val="solid"/>
          </a:ln>
        </p:spPr>
      </p:sp>
      <p:sp>
        <p:nvSpPr>
          <p:cNvPr id="33" name="Marcador"/>
          <p:cNvSpPr/>
          <p:nvPr/>
        </p:nvSpPr>
        <p:spPr>
          <a:xfrm>
            <a:off x="8138160" y="2935224"/>
            <a:ext cx="182880" cy="182880"/>
          </a:xfrm>
          <a:prstGeom prst="ellipse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503920" y="2724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RiskGen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8503920" y="30175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Risco, Compliance e Auditoria</a:t>
            </a:r>
            <a:endParaRPr lang="en-US" sz="1100" dirty="0"/>
          </a:p>
        </p:txBody>
      </p:sp>
      <p:sp>
        <p:nvSpPr>
          <p:cNvPr id="36" name="Resumo produto"/>
          <p:cNvSpPr/>
          <p:nvPr/>
        </p:nvSpPr>
        <p:spPr>
          <a:xfrm>
            <a:off x="7955280" y="3520440"/>
            <a:ext cx="3685032" cy="749808"/>
          </a:xfrm>
          <a:prstGeom prst="roundRect">
            <a:avLst>
              <a:gd name="adj" fmla="val 17073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7" name="Marcador"/>
          <p:cNvSpPr/>
          <p:nvPr/>
        </p:nvSpPr>
        <p:spPr>
          <a:xfrm>
            <a:off x="8138160" y="3803904"/>
            <a:ext cx="182880" cy="182880"/>
          </a:xfrm>
          <a:prstGeom prst="ellipse">
            <a:avLst/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8503920" y="3593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EduMentor AI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8503920" y="38862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Tutor Educacional Inteligente</a:t>
            </a:r>
            <a:endParaRPr lang="en-US" sz="1100" dirty="0"/>
          </a:p>
        </p:txBody>
      </p:sp>
      <p:sp>
        <p:nvSpPr>
          <p:cNvPr id="40" name="Resumo produto"/>
          <p:cNvSpPr/>
          <p:nvPr/>
        </p:nvSpPr>
        <p:spPr>
          <a:xfrm>
            <a:off x="7955280" y="4389120"/>
            <a:ext cx="3685032" cy="749808"/>
          </a:xfrm>
          <a:prstGeom prst="roundRect">
            <a:avLst>
              <a:gd name="adj" fmla="val 17073"/>
            </a:avLst>
          </a:prstGeom>
          <a:solidFill>
            <a:srgbClr val="EFECFA"/>
          </a:solidFill>
          <a:ln w="12700">
            <a:solidFill>
              <a:srgbClr val="EFECFA"/>
            </a:solidFill>
            <a:prstDash val="solid"/>
          </a:ln>
        </p:spPr>
      </p:sp>
      <p:sp>
        <p:nvSpPr>
          <p:cNvPr id="41" name="Marcador"/>
          <p:cNvSpPr/>
          <p:nvPr/>
        </p:nvSpPr>
        <p:spPr>
          <a:xfrm>
            <a:off x="8138160" y="4672584"/>
            <a:ext cx="182880" cy="182880"/>
          </a:xfrm>
          <a:prstGeom prst="ellipse">
            <a:avLst/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8503920" y="4462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CourseGen Studio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8503920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Geração Assistida de Conteúdo Educacional</a:t>
            </a:r>
            <a:endParaRPr lang="en-US" sz="1100" dirty="0"/>
          </a:p>
        </p:txBody>
      </p:sp>
      <p:sp>
        <p:nvSpPr>
          <p:cNvPr id="44" name="Resumo produto"/>
          <p:cNvSpPr/>
          <p:nvPr/>
        </p:nvSpPr>
        <p:spPr>
          <a:xfrm>
            <a:off x="7955280" y="5257800"/>
            <a:ext cx="3685032" cy="749808"/>
          </a:xfrm>
          <a:prstGeom prst="roundRect">
            <a:avLst>
              <a:gd name="adj" fmla="val 17073"/>
            </a:avLst>
          </a:prstGeom>
          <a:solidFill>
            <a:srgbClr val="E0F6EE"/>
          </a:solidFill>
          <a:ln w="12700">
            <a:solidFill>
              <a:srgbClr val="E0F6EE"/>
            </a:solidFill>
            <a:prstDash val="solid"/>
          </a:ln>
        </p:spPr>
      </p:sp>
      <p:sp>
        <p:nvSpPr>
          <p:cNvPr id="45" name="Marcador"/>
          <p:cNvSpPr/>
          <p:nvPr/>
        </p:nvSpPr>
        <p:spPr>
          <a:xfrm>
            <a:off x="8138160" y="5541264"/>
            <a:ext cx="182880" cy="18288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8503920" y="5330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ClinicaGPT</a:t>
            </a:r>
            <a:endParaRPr lang="en-US" sz="1400" dirty="0"/>
          </a:p>
        </p:txBody>
      </p:sp>
      <p:sp>
        <p:nvSpPr>
          <p:cNvPr id="47" name="Text 38"/>
          <p:cNvSpPr txBox="1"/>
          <p:nvPr/>
        </p:nvSpPr>
        <p:spPr>
          <a:xfrm>
            <a:off x="8503920" y="5623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Assistente Clínico de Apoio à Decisão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ONDE ACESSAR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Cada produto, um endereço</a:t>
            </a:r>
            <a:endParaRPr lang="en-US" sz="3600" dirty="0"/>
          </a:p>
        </p:txBody>
      </p:sp>
      <p:sp>
        <p:nvSpPr>
          <p:cNvPr id="5" name="Linha produto"/>
          <p:cNvSpPr/>
          <p:nvPr/>
        </p:nvSpPr>
        <p:spPr>
          <a:xfrm>
            <a:off x="548640" y="1645920"/>
            <a:ext cx="11094415" cy="768096"/>
          </a:xfrm>
          <a:prstGeom prst="roundRect">
            <a:avLst>
              <a:gd name="adj" fmla="val 16667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6" name="Bloco cor"/>
          <p:cNvSpPr/>
          <p:nvPr/>
        </p:nvSpPr>
        <p:spPr>
          <a:xfrm>
            <a:off x="548640" y="1645920"/>
            <a:ext cx="1188720" cy="768096"/>
          </a:xfrm>
          <a:prstGeom prst="roundRect">
            <a:avLst>
              <a:gd name="adj" fmla="val 16667"/>
            </a:avLst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sp>
        <p:nvSpPr>
          <p:cNvPr id="7" name="Bloco cor"/>
          <p:cNvSpPr/>
          <p:nvPr/>
        </p:nvSpPr>
        <p:spPr>
          <a:xfrm>
            <a:off x="1371600" y="1645920"/>
            <a:ext cx="365760" cy="768096"/>
          </a:xfrm>
          <a:prstGeom prst="rect">
            <a:avLst/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pic>
        <p:nvPicPr>
          <p:cNvPr id="8" name="Símbolo FinBrain" descr="assets/sym_fin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37360"/>
            <a:ext cx="585216" cy="5852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11680" y="1645920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FinBrain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1645920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Copiloto Financeiro Corporativo</a:t>
            </a:r>
            <a:endParaRPr lang="en-US" sz="1300" dirty="0"/>
          </a:p>
        </p:txBody>
      </p:sp>
      <p:sp>
        <p:nvSpPr>
          <p:cNvPr id="11" name="Etiqueta"/>
          <p:cNvSpPr/>
          <p:nvPr/>
        </p:nvSpPr>
        <p:spPr>
          <a:xfrm>
            <a:off x="8732520" y="188366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732520" y="18836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Finanças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0012680" y="1645920"/>
            <a:ext cx="1600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9"/>
                </a:solidFill>
              </a:rPr>
              <a:t>finbrain.synapseai.com</a:t>
            </a:r>
            <a:endParaRPr lang="en-US" sz="1050" dirty="0"/>
          </a:p>
        </p:txBody>
      </p:sp>
      <p:sp>
        <p:nvSpPr>
          <p:cNvPr id="14" name="Linha produto"/>
          <p:cNvSpPr/>
          <p:nvPr/>
        </p:nvSpPr>
        <p:spPr>
          <a:xfrm>
            <a:off x="548640" y="2523744"/>
            <a:ext cx="11094415" cy="768096"/>
          </a:xfrm>
          <a:prstGeom prst="roundRect">
            <a:avLst>
              <a:gd name="adj" fmla="val 16667"/>
            </a:avLst>
          </a:prstGeom>
          <a:solidFill>
            <a:srgbClr val="FDF1DD"/>
          </a:solidFill>
          <a:ln w="12700">
            <a:solidFill>
              <a:srgbClr val="FDF1DD"/>
            </a:solidFill>
            <a:prstDash val="solid"/>
          </a:ln>
        </p:spPr>
      </p:sp>
      <p:sp>
        <p:nvSpPr>
          <p:cNvPr id="15" name="Bloco cor"/>
          <p:cNvSpPr/>
          <p:nvPr/>
        </p:nvSpPr>
        <p:spPr>
          <a:xfrm>
            <a:off x="548640" y="2523744"/>
            <a:ext cx="1188720" cy="768096"/>
          </a:xfrm>
          <a:prstGeom prst="roundRect">
            <a:avLst>
              <a:gd name="adj" fmla="val 16667"/>
            </a:avLst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6" name="Bloco cor"/>
          <p:cNvSpPr/>
          <p:nvPr/>
        </p:nvSpPr>
        <p:spPr>
          <a:xfrm>
            <a:off x="1371600" y="2523744"/>
            <a:ext cx="365760" cy="768096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pic>
        <p:nvPicPr>
          <p:cNvPr id="17" name="Símbolo RiskGen" descr="assets/sym_riskg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615184"/>
            <a:ext cx="585216" cy="5852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011680" y="252374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RiskGen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4754880" y="2523744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Risco, Compliance e Auditoria</a:t>
            </a:r>
            <a:endParaRPr lang="en-US" sz="1300" dirty="0"/>
          </a:p>
        </p:txBody>
      </p:sp>
      <p:sp>
        <p:nvSpPr>
          <p:cNvPr id="20" name="Etiqueta"/>
          <p:cNvSpPr/>
          <p:nvPr/>
        </p:nvSpPr>
        <p:spPr>
          <a:xfrm>
            <a:off x="8732520" y="276148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732520" y="27614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Risco e Compliance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0012680" y="2523744"/>
            <a:ext cx="1600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9"/>
                </a:solidFill>
              </a:rPr>
              <a:t>riskgen.synapseai.com</a:t>
            </a:r>
            <a:endParaRPr lang="en-US" sz="1050" dirty="0"/>
          </a:p>
        </p:txBody>
      </p:sp>
      <p:sp>
        <p:nvSpPr>
          <p:cNvPr id="23" name="Linha produto"/>
          <p:cNvSpPr/>
          <p:nvPr/>
        </p:nvSpPr>
        <p:spPr>
          <a:xfrm>
            <a:off x="548640" y="3401568"/>
            <a:ext cx="11094415" cy="768096"/>
          </a:xfrm>
          <a:prstGeom prst="roundRect">
            <a:avLst>
              <a:gd name="adj" fmla="val 1666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4" name="Bloco cor"/>
          <p:cNvSpPr/>
          <p:nvPr/>
        </p:nvSpPr>
        <p:spPr>
          <a:xfrm>
            <a:off x="548640" y="3401568"/>
            <a:ext cx="1188720" cy="768096"/>
          </a:xfrm>
          <a:prstGeom prst="roundRect">
            <a:avLst>
              <a:gd name="adj" fmla="val 16667"/>
            </a:avLst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25" name="Bloco cor"/>
          <p:cNvSpPr/>
          <p:nvPr/>
        </p:nvSpPr>
        <p:spPr>
          <a:xfrm>
            <a:off x="1371600" y="3401568"/>
            <a:ext cx="365760" cy="768096"/>
          </a:xfrm>
          <a:prstGeom prst="rect">
            <a:avLst/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pic>
        <p:nvPicPr>
          <p:cNvPr id="26" name="Símbolo EduMentor AI" descr="assets/sym_edumen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93008"/>
            <a:ext cx="585216" cy="58521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2011680" y="3401568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EduMentor AI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4754880" y="3401568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Tutor Educacional Inteligente</a:t>
            </a:r>
            <a:endParaRPr lang="en-US" sz="1300" dirty="0"/>
          </a:p>
        </p:txBody>
      </p:sp>
      <p:sp>
        <p:nvSpPr>
          <p:cNvPr id="29" name="Etiqueta"/>
          <p:cNvSpPr/>
          <p:nvPr/>
        </p:nvSpPr>
        <p:spPr>
          <a:xfrm>
            <a:off x="8732520" y="363931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732520" y="36393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Educação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0012680" y="3401568"/>
            <a:ext cx="1600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9"/>
                </a:solidFill>
              </a:rPr>
              <a:t>edumentor.synapseai.com</a:t>
            </a:r>
            <a:endParaRPr lang="en-US" sz="1050" dirty="0"/>
          </a:p>
        </p:txBody>
      </p:sp>
      <p:sp>
        <p:nvSpPr>
          <p:cNvPr id="32" name="Linha produto"/>
          <p:cNvSpPr/>
          <p:nvPr/>
        </p:nvSpPr>
        <p:spPr>
          <a:xfrm>
            <a:off x="548640" y="4279392"/>
            <a:ext cx="11094415" cy="768096"/>
          </a:xfrm>
          <a:prstGeom prst="roundRect">
            <a:avLst>
              <a:gd name="adj" fmla="val 16667"/>
            </a:avLst>
          </a:prstGeom>
          <a:solidFill>
            <a:srgbClr val="EFECFA"/>
          </a:solidFill>
          <a:ln w="12700">
            <a:solidFill>
              <a:srgbClr val="EFECFA"/>
            </a:solidFill>
            <a:prstDash val="solid"/>
          </a:ln>
        </p:spPr>
      </p:sp>
      <p:sp>
        <p:nvSpPr>
          <p:cNvPr id="33" name="Bloco cor"/>
          <p:cNvSpPr/>
          <p:nvPr/>
        </p:nvSpPr>
        <p:spPr>
          <a:xfrm>
            <a:off x="548640" y="4279392"/>
            <a:ext cx="1188720" cy="768096"/>
          </a:xfrm>
          <a:prstGeom prst="roundRect">
            <a:avLst>
              <a:gd name="adj" fmla="val 16667"/>
            </a:avLst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sp>
        <p:nvSpPr>
          <p:cNvPr id="34" name="Bloco cor"/>
          <p:cNvSpPr/>
          <p:nvPr/>
        </p:nvSpPr>
        <p:spPr>
          <a:xfrm>
            <a:off x="1371600" y="4279392"/>
            <a:ext cx="365760" cy="768096"/>
          </a:xfrm>
          <a:prstGeom prst="rect">
            <a:avLst/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pic>
        <p:nvPicPr>
          <p:cNvPr id="35" name="Símbolo CourseGen Studio" descr="assets/sym_courseg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370832"/>
            <a:ext cx="585216" cy="58521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2011680" y="427939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CourseGen Studio</a:t>
            </a:r>
            <a:endParaRPr lang="en-US" sz="2000" dirty="0"/>
          </a:p>
        </p:txBody>
      </p:sp>
      <p:sp>
        <p:nvSpPr>
          <p:cNvPr id="37" name="Text 30"/>
          <p:cNvSpPr txBox="1"/>
          <p:nvPr/>
        </p:nvSpPr>
        <p:spPr>
          <a:xfrm>
            <a:off x="4754880" y="4279392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Geração Assistida de Conteúdo Educacional</a:t>
            </a:r>
            <a:endParaRPr lang="en-US" sz="1300" dirty="0"/>
          </a:p>
        </p:txBody>
      </p:sp>
      <p:sp>
        <p:nvSpPr>
          <p:cNvPr id="38" name="Etiqueta"/>
          <p:cNvSpPr/>
          <p:nvPr/>
        </p:nvSpPr>
        <p:spPr>
          <a:xfrm>
            <a:off x="8732520" y="451713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8732520" y="45171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Educação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10012680" y="4279392"/>
            <a:ext cx="1600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9"/>
                </a:solidFill>
              </a:rPr>
              <a:t>coursegen.synapseai.com</a:t>
            </a:r>
            <a:endParaRPr lang="en-US" sz="1050" dirty="0"/>
          </a:p>
        </p:txBody>
      </p:sp>
      <p:sp>
        <p:nvSpPr>
          <p:cNvPr id="41" name="Linha produto"/>
          <p:cNvSpPr/>
          <p:nvPr/>
        </p:nvSpPr>
        <p:spPr>
          <a:xfrm>
            <a:off x="548640" y="5157216"/>
            <a:ext cx="11094415" cy="768096"/>
          </a:xfrm>
          <a:prstGeom prst="roundRect">
            <a:avLst>
              <a:gd name="adj" fmla="val 16667"/>
            </a:avLst>
          </a:prstGeom>
          <a:solidFill>
            <a:srgbClr val="E0F6EE"/>
          </a:solidFill>
          <a:ln w="12700">
            <a:solidFill>
              <a:srgbClr val="E0F6EE"/>
            </a:solidFill>
            <a:prstDash val="solid"/>
          </a:ln>
        </p:spPr>
      </p:sp>
      <p:sp>
        <p:nvSpPr>
          <p:cNvPr id="42" name="Bloco cor"/>
          <p:cNvSpPr/>
          <p:nvPr/>
        </p:nvSpPr>
        <p:spPr>
          <a:xfrm>
            <a:off x="548640" y="5157216"/>
            <a:ext cx="1188720" cy="768096"/>
          </a:xfrm>
          <a:prstGeom prst="roundRect">
            <a:avLst>
              <a:gd name="adj" fmla="val 16667"/>
            </a:avLst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43" name="Bloco cor"/>
          <p:cNvSpPr/>
          <p:nvPr/>
        </p:nvSpPr>
        <p:spPr>
          <a:xfrm>
            <a:off x="1371600" y="5157216"/>
            <a:ext cx="365760" cy="768096"/>
          </a:xfrm>
          <a:prstGeom prst="rect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pic>
        <p:nvPicPr>
          <p:cNvPr id="44" name="Símbolo ClinicaGPT" descr="assets/sym_clinicagp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248656"/>
            <a:ext cx="585216" cy="585216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2011680" y="5157216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ClinicaGPT</a:t>
            </a:r>
            <a:endParaRPr lang="en-US" sz="2000" dirty="0"/>
          </a:p>
        </p:txBody>
      </p:sp>
      <p:sp>
        <p:nvSpPr>
          <p:cNvPr id="46" name="Text 38"/>
          <p:cNvSpPr txBox="1"/>
          <p:nvPr/>
        </p:nvSpPr>
        <p:spPr>
          <a:xfrm>
            <a:off x="4754880" y="5157216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Assistente Clínico de Apoio à Decisão</a:t>
            </a:r>
            <a:endParaRPr lang="en-US" sz="1300" dirty="0"/>
          </a:p>
        </p:txBody>
      </p:sp>
      <p:sp>
        <p:nvSpPr>
          <p:cNvPr id="47" name="Etiqueta"/>
          <p:cNvSpPr/>
          <p:nvPr/>
        </p:nvSpPr>
        <p:spPr>
          <a:xfrm>
            <a:off x="8732520" y="539496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8732520" y="53949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Saúde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10012680" y="5157216"/>
            <a:ext cx="1600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9"/>
                </a:solidFill>
              </a:rPr>
              <a:t>clinicagpt.synapseai.com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6E0"/>
                </a:solidFill>
              </a:rPr>
              <a:t>TECNOLOGIA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Uma base tecnológica, cinco produtos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7C8DE"/>
                </a:solidFill>
              </a:rPr>
              <a:t>Modelos especializados, dados privados e guardrails de domínio, sobre uma arquitetura modular compartilhada.</a:t>
            </a:r>
            <a:endParaRPr lang="en-US" sz="1500" dirty="0"/>
          </a:p>
        </p:txBody>
      </p:sp>
      <p:sp>
        <p:nvSpPr>
          <p:cNvPr id="5" name="Etiqueta"/>
          <p:cNvSpPr/>
          <p:nvPr/>
        </p:nvSpPr>
        <p:spPr>
          <a:xfrm>
            <a:off x="4892040" y="1691640"/>
            <a:ext cx="983163" cy="566928"/>
          </a:xfrm>
          <a:prstGeom prst="roundRect">
            <a:avLst>
              <a:gd name="adj" fmla="val 50000"/>
            </a:avLst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691640"/>
            <a:ext cx="9831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3050"/>
                </a:solidFill>
              </a:rPr>
              <a:t>RAG</a:t>
            </a:r>
            <a:endParaRPr lang="en-US" sz="2200" dirty="0"/>
          </a:p>
        </p:txBody>
      </p:sp>
      <p:sp>
        <p:nvSpPr>
          <p:cNvPr id="7" name="Etiqueta"/>
          <p:cNvSpPr/>
          <p:nvPr/>
        </p:nvSpPr>
        <p:spPr>
          <a:xfrm>
            <a:off x="6021507" y="1691640"/>
            <a:ext cx="3498129" cy="566928"/>
          </a:xfrm>
          <a:prstGeom prst="roundRect">
            <a:avLst>
              <a:gd name="adj" fmla="val 50000"/>
            </a:avLst>
          </a:prstGeom>
          <a:solidFill>
            <a:srgbClr val="1E4A80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21507" y="1691640"/>
            <a:ext cx="34981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LLMs open-source e proprietários</a:t>
            </a:r>
            <a:endParaRPr lang="en-US" sz="1400" dirty="0"/>
          </a:p>
        </p:txBody>
      </p:sp>
      <p:sp>
        <p:nvSpPr>
          <p:cNvPr id="9" name="Etiqueta"/>
          <p:cNvSpPr/>
          <p:nvPr/>
        </p:nvSpPr>
        <p:spPr>
          <a:xfrm>
            <a:off x="4892040" y="2423160"/>
            <a:ext cx="2945100" cy="566928"/>
          </a:xfrm>
          <a:prstGeom prst="roundRect">
            <a:avLst>
              <a:gd name="adj" fmla="val 50000"/>
            </a:avLst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2423160"/>
            <a:ext cx="2945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Fine-tuning supervisionado</a:t>
            </a:r>
            <a:endParaRPr lang="en-US" sz="1400" dirty="0"/>
          </a:p>
        </p:txBody>
      </p:sp>
      <p:sp>
        <p:nvSpPr>
          <p:cNvPr id="11" name="Etiqueta"/>
          <p:cNvSpPr/>
          <p:nvPr/>
        </p:nvSpPr>
        <p:spPr>
          <a:xfrm>
            <a:off x="4892040" y="3154680"/>
            <a:ext cx="4202582" cy="566928"/>
          </a:xfrm>
          <a:prstGeom prst="roundRect">
            <a:avLst>
              <a:gd name="adj" fmla="val 50000"/>
            </a:avLst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3154680"/>
            <a:ext cx="42025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050"/>
                </a:solidFill>
              </a:rPr>
              <a:t>Bancos vetoriais isolados por cliente</a:t>
            </a:r>
            <a:endParaRPr lang="en-US" sz="1500" dirty="0"/>
          </a:p>
        </p:txBody>
      </p:sp>
      <p:sp>
        <p:nvSpPr>
          <p:cNvPr id="13" name="Etiqueta"/>
          <p:cNvSpPr/>
          <p:nvPr/>
        </p:nvSpPr>
        <p:spPr>
          <a:xfrm>
            <a:off x="4892040" y="3886200"/>
            <a:ext cx="2451324" cy="566928"/>
          </a:xfrm>
          <a:prstGeom prst="roundRect">
            <a:avLst>
              <a:gd name="adj" fmla="val 50000"/>
            </a:avLst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886200"/>
            <a:ext cx="24513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3050"/>
                </a:solidFill>
              </a:rPr>
              <a:t>Human-in-the-loop</a:t>
            </a:r>
            <a:endParaRPr lang="en-US" sz="1700" dirty="0"/>
          </a:p>
        </p:txBody>
      </p:sp>
      <p:sp>
        <p:nvSpPr>
          <p:cNvPr id="15" name="Etiqueta"/>
          <p:cNvSpPr/>
          <p:nvPr/>
        </p:nvSpPr>
        <p:spPr>
          <a:xfrm>
            <a:off x="7489668" y="3886200"/>
            <a:ext cx="2484242" cy="566928"/>
          </a:xfrm>
          <a:prstGeom prst="roundRect">
            <a:avLst>
              <a:gd name="adj" fmla="val 50000"/>
            </a:avLst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9668" y="3886200"/>
            <a:ext cx="2484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Guardrails de domínio</a:t>
            </a:r>
            <a:endParaRPr lang="en-US" sz="1400" dirty="0"/>
          </a:p>
        </p:txBody>
      </p:sp>
      <p:sp>
        <p:nvSpPr>
          <p:cNvPr id="17" name="Etiqueta"/>
          <p:cNvSpPr/>
          <p:nvPr/>
        </p:nvSpPr>
        <p:spPr>
          <a:xfrm>
            <a:off x="4892040" y="4617720"/>
            <a:ext cx="2622499" cy="566928"/>
          </a:xfrm>
          <a:prstGeom prst="roundRect">
            <a:avLst>
              <a:gd name="adj" fmla="val 50000"/>
            </a:avLst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4617720"/>
            <a:ext cx="26224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050"/>
                </a:solidFill>
              </a:rPr>
              <a:t>Observabilidade de IA</a:t>
            </a:r>
            <a:endParaRPr lang="en-US" sz="1500" dirty="0"/>
          </a:p>
        </p:txBody>
      </p:sp>
      <p:sp>
        <p:nvSpPr>
          <p:cNvPr id="19" name="Etiqueta"/>
          <p:cNvSpPr/>
          <p:nvPr/>
        </p:nvSpPr>
        <p:spPr>
          <a:xfrm>
            <a:off x="7660843" y="4617720"/>
            <a:ext cx="2484242" cy="566928"/>
          </a:xfrm>
          <a:prstGeom prst="roundRect">
            <a:avLst>
              <a:gd name="adj" fmla="val 50000"/>
            </a:avLst>
          </a:prstGeom>
          <a:solidFill>
            <a:srgbClr val="1E4A80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60843" y="4617720"/>
            <a:ext cx="2484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Pipelines versionados</a:t>
            </a:r>
            <a:endParaRPr lang="en-US" sz="1400" dirty="0"/>
          </a:p>
        </p:txBody>
      </p:sp>
      <p:sp>
        <p:nvSpPr>
          <p:cNvPr id="21" name="Etiqueta"/>
          <p:cNvSpPr/>
          <p:nvPr/>
        </p:nvSpPr>
        <p:spPr>
          <a:xfrm>
            <a:off x="4892040" y="5349240"/>
            <a:ext cx="2207727" cy="566928"/>
          </a:xfrm>
          <a:prstGeom prst="roundRect">
            <a:avLst>
              <a:gd name="adj" fmla="val 50000"/>
            </a:avLst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5349240"/>
            <a:ext cx="22077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API REST e GraphQL</a:t>
            </a:r>
            <a:endParaRPr lang="en-US" sz="1400" dirty="0"/>
          </a:p>
        </p:txBody>
      </p:sp>
      <p:sp>
        <p:nvSpPr>
          <p:cNvPr id="23" name="Etiqueta"/>
          <p:cNvSpPr/>
          <p:nvPr/>
        </p:nvSpPr>
        <p:spPr>
          <a:xfrm>
            <a:off x="7246071" y="5349240"/>
            <a:ext cx="2207727" cy="566928"/>
          </a:xfrm>
          <a:prstGeom prst="roundRect">
            <a:avLst>
              <a:gd name="adj" fmla="val 50000"/>
            </a:avLst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46071" y="5349240"/>
            <a:ext cx="22077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Criptografia e KMS</a:t>
            </a:r>
            <a:endParaRPr lang="en-US" sz="1400" dirty="0"/>
          </a:p>
        </p:txBody>
      </p:sp>
      <p:sp>
        <p:nvSpPr>
          <p:cNvPr id="25" name="Etiqueta"/>
          <p:cNvSpPr/>
          <p:nvPr/>
        </p:nvSpPr>
        <p:spPr>
          <a:xfrm>
            <a:off x="9600103" y="5349240"/>
            <a:ext cx="1918045" cy="566928"/>
          </a:xfrm>
          <a:prstGeom prst="roundRect">
            <a:avLst>
              <a:gd name="adj" fmla="val 50000"/>
            </a:avLst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0103" y="5349240"/>
            <a:ext cx="19180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050"/>
                </a:solidFill>
              </a:rPr>
              <a:t>Nuvem privada</a:t>
            </a:r>
            <a:endParaRPr lang="en-US" sz="1600" dirty="0"/>
          </a:p>
        </p:txBody>
      </p:sp>
      <p:sp>
        <p:nvSpPr>
          <p:cNvPr id="27" name="Etiqueta"/>
          <p:cNvSpPr/>
          <p:nvPr/>
        </p:nvSpPr>
        <p:spPr>
          <a:xfrm>
            <a:off x="4892040" y="6080760"/>
            <a:ext cx="1602029" cy="566928"/>
          </a:xfrm>
          <a:prstGeom prst="roundRect">
            <a:avLst>
              <a:gd name="adj" fmla="val 50000"/>
            </a:avLst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2040" y="6080760"/>
            <a:ext cx="16020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050"/>
                </a:solidFill>
              </a:rPr>
              <a:t>On-premise</a:t>
            </a:r>
            <a:endParaRPr lang="en-US" sz="1600" dirty="0"/>
          </a:p>
        </p:txBody>
      </p:sp>
      <p:sp>
        <p:nvSpPr>
          <p:cNvPr id="29" name="Etiqueta"/>
          <p:cNvSpPr/>
          <p:nvPr/>
        </p:nvSpPr>
        <p:spPr>
          <a:xfrm>
            <a:off x="6640373" y="6080760"/>
            <a:ext cx="1470355" cy="566928"/>
          </a:xfrm>
          <a:prstGeom prst="roundRect">
            <a:avLst>
              <a:gd name="adj" fmla="val 50000"/>
            </a:avLst>
          </a:prstGeom>
          <a:solidFill>
            <a:srgbClr val="1E4A80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40373" y="6080760"/>
            <a:ext cx="14703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RBAC e SSO</a:t>
            </a:r>
            <a:endParaRPr lang="en-US" sz="1400" dirty="0"/>
          </a:p>
        </p:txBody>
      </p:sp>
      <p:sp>
        <p:nvSpPr>
          <p:cNvPr id="31" name="Etiqueta"/>
          <p:cNvSpPr/>
          <p:nvPr/>
        </p:nvSpPr>
        <p:spPr>
          <a:xfrm>
            <a:off x="8257032" y="6080760"/>
            <a:ext cx="2392070" cy="566928"/>
          </a:xfrm>
          <a:prstGeom prst="roundRect">
            <a:avLst>
              <a:gd name="adj" fmla="val 50000"/>
            </a:avLst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57032" y="6080760"/>
            <a:ext cx="23920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Trilhas de auditoria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C8D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COMO ENTREGAMOS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 prova de conceito à operação</a:t>
            </a:r>
            <a:endParaRPr lang="en-US" sz="3600" dirty="0"/>
          </a:p>
        </p:txBody>
      </p:sp>
      <p:sp>
        <p:nvSpPr>
          <p:cNvPr id="5" name="Anel"/>
          <p:cNvSpPr/>
          <p:nvPr/>
        </p:nvSpPr>
        <p:spPr>
          <a:xfrm>
            <a:off x="3264408" y="2148840"/>
            <a:ext cx="5669280" cy="356616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9FB3CE"/>
            </a:solidFill>
            <a:prstDash val="dash"/>
          </a:ln>
        </p:spPr>
      </p:sp>
      <p:sp>
        <p:nvSpPr>
          <p:cNvPr id="6" name="Centro"/>
          <p:cNvSpPr/>
          <p:nvPr/>
        </p:nvSpPr>
        <p:spPr>
          <a:xfrm>
            <a:off x="5230368" y="3063240"/>
            <a:ext cx="1737360" cy="1737360"/>
          </a:xfrm>
          <a:prstGeom prst="ellipse">
            <a:avLst/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276088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Parceria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 longo prazo</a:t>
            </a:r>
            <a:endParaRPr lang="en-US" sz="1500" dirty="0"/>
          </a:p>
        </p:txBody>
      </p:sp>
      <p:sp>
        <p:nvSpPr>
          <p:cNvPr id="8" name="Etapa"/>
          <p:cNvSpPr/>
          <p:nvPr/>
        </p:nvSpPr>
        <p:spPr>
          <a:xfrm>
            <a:off x="5664708" y="1714500"/>
            <a:ext cx="868680" cy="868680"/>
          </a:xfrm>
          <a:prstGeom prst="ellipse">
            <a:avLst/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pic>
        <p:nvPicPr>
          <p:cNvPr id="9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1965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93408" y="1856232"/>
            <a:ext cx="23774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Descoberta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693408" y="2167128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Requisitos, fontes e critérios de sucesso</a:t>
            </a:r>
            <a:endParaRPr lang="en-US" sz="1200" dirty="0"/>
          </a:p>
        </p:txBody>
      </p:sp>
      <p:sp>
        <p:nvSpPr>
          <p:cNvPr id="12" name="Etapa"/>
          <p:cNvSpPr/>
          <p:nvPr/>
        </p:nvSpPr>
        <p:spPr>
          <a:xfrm>
            <a:off x="8119578" y="2606040"/>
            <a:ext cx="868680" cy="868680"/>
          </a:xfrm>
          <a:prstGeom prst="ellipse">
            <a:avLst/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pic>
        <p:nvPicPr>
          <p:cNvPr id="13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038" y="28575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148278" y="2747772"/>
            <a:ext cx="23774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Prova de conceito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148278" y="3058668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Validação com os dados do cliente</a:t>
            </a:r>
            <a:endParaRPr lang="en-US" sz="1200" dirty="0"/>
          </a:p>
        </p:txBody>
      </p:sp>
      <p:sp>
        <p:nvSpPr>
          <p:cNvPr id="16" name="Etapa"/>
          <p:cNvSpPr/>
          <p:nvPr/>
        </p:nvSpPr>
        <p:spPr>
          <a:xfrm>
            <a:off x="8119578" y="4389120"/>
            <a:ext cx="868680" cy="868680"/>
          </a:xfrm>
          <a:prstGeom prst="ellipse">
            <a:avLst/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pic>
        <p:nvPicPr>
          <p:cNvPr id="17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038" y="46405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48278" y="4530852"/>
            <a:ext cx="23774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Integração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148278" y="4841748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Conectores, perfis e guardrails</a:t>
            </a:r>
            <a:endParaRPr lang="en-US" sz="1200" dirty="0"/>
          </a:p>
        </p:txBody>
      </p:sp>
      <p:sp>
        <p:nvSpPr>
          <p:cNvPr id="20" name="Etapa"/>
          <p:cNvSpPr/>
          <p:nvPr/>
        </p:nvSpPr>
        <p:spPr>
          <a:xfrm>
            <a:off x="5664708" y="5280660"/>
            <a:ext cx="868680" cy="868680"/>
          </a:xfrm>
          <a:prstGeom prst="ellipse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pic>
        <p:nvPicPr>
          <p:cNvPr id="21" name="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553212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693408" y="5422392"/>
            <a:ext cx="23774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Homologação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693408" y="5733288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Qualidade, segurança e carga</a:t>
            </a:r>
            <a:endParaRPr lang="en-US" sz="1200" dirty="0"/>
          </a:p>
        </p:txBody>
      </p:sp>
      <p:sp>
        <p:nvSpPr>
          <p:cNvPr id="24" name="Etapa"/>
          <p:cNvSpPr/>
          <p:nvPr/>
        </p:nvSpPr>
        <p:spPr>
          <a:xfrm>
            <a:off x="3209838" y="4389120"/>
            <a:ext cx="868680" cy="86868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pic>
        <p:nvPicPr>
          <p:cNvPr id="25" name="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298" y="464058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2378" y="4530852"/>
            <a:ext cx="23774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Go-live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672378" y="4841748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Piloto e expansão por fases</a:t>
            </a:r>
            <a:endParaRPr lang="en-US" sz="1200" dirty="0"/>
          </a:p>
        </p:txBody>
      </p:sp>
      <p:sp>
        <p:nvSpPr>
          <p:cNvPr id="28" name="Etapa"/>
          <p:cNvSpPr/>
          <p:nvPr/>
        </p:nvSpPr>
        <p:spPr>
          <a:xfrm>
            <a:off x="3209838" y="2606040"/>
            <a:ext cx="868680" cy="868680"/>
          </a:xfrm>
          <a:prstGeom prst="ellipse">
            <a:avLst/>
          </a:prstGeom>
          <a:solidFill>
            <a:srgbClr val="606770"/>
          </a:solidFill>
          <a:ln w="12700">
            <a:solidFill>
              <a:srgbClr val="60677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pic>
        <p:nvPicPr>
          <p:cNvPr id="29" name="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1298" y="285750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72378" y="2747772"/>
            <a:ext cx="23774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Operação assistida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672378" y="3058668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Customer Success e melhoria contínua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6E0"/>
                </a:solidFill>
              </a:rPr>
              <a:t>CONFIANÇA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Segurança desde a concepção</a:t>
            </a:r>
            <a:endParaRPr lang="en-US" sz="3600" dirty="0"/>
          </a:p>
        </p:txBody>
      </p:sp>
      <p:sp>
        <p:nvSpPr>
          <p:cNvPr id="5" name="Escudo fundo"/>
          <p:cNvSpPr/>
          <p:nvPr/>
        </p:nvSpPr>
        <p:spPr>
          <a:xfrm>
            <a:off x="914400" y="2148840"/>
            <a:ext cx="3383280" cy="3383280"/>
          </a:xfrm>
          <a:prstGeom prst="ellipse">
            <a:avLst/>
          </a:prstGeom>
          <a:solidFill>
            <a:srgbClr val="1E4A80"/>
          </a:solidFill>
          <a:ln w="63500">
            <a:solidFill>
              <a:srgbClr val="17A9B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pic>
        <p:nvPicPr>
          <p:cNvPr id="6" name="Escud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3108960"/>
            <a:ext cx="1463040" cy="1463040"/>
          </a:xfrm>
          <a:prstGeom prst="rect">
            <a:avLst/>
          </a:prstGeom>
        </p:spPr>
      </p:pic>
      <p:sp>
        <p:nvSpPr>
          <p:cNvPr id="7" name="Ícone fundo"/>
          <p:cNvSpPr/>
          <p:nvPr/>
        </p:nvSpPr>
        <p:spPr>
          <a:xfrm>
            <a:off x="5093208" y="1737360"/>
            <a:ext cx="512064" cy="512064"/>
          </a:xfrm>
          <a:prstGeom prst="ellipse">
            <a:avLst/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pic>
        <p:nvPicPr>
          <p:cNvPr id="8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1865376"/>
            <a:ext cx="256032" cy="25603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806440" y="169164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Isolamento por cliente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8229600" y="1691640"/>
            <a:ext cx="3410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8DE"/>
                </a:solidFill>
              </a:rPr>
              <a:t>Índices, dados e chaves segregados por tenant.</a:t>
            </a:r>
            <a:endParaRPr lang="en-US" sz="1250" dirty="0"/>
          </a:p>
        </p:txBody>
      </p:sp>
      <p:sp>
        <p:nvSpPr>
          <p:cNvPr id="11" name="Ícone fundo"/>
          <p:cNvSpPr/>
          <p:nvPr/>
        </p:nvSpPr>
        <p:spPr>
          <a:xfrm>
            <a:off x="5093208" y="2468880"/>
            <a:ext cx="512064" cy="512064"/>
          </a:xfrm>
          <a:prstGeom prst="ellipse">
            <a:avLst/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pic>
        <p:nvPicPr>
          <p:cNvPr id="12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259689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806440" y="242316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Criptografia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8229600" y="2423160"/>
            <a:ext cx="3410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8DE"/>
                </a:solidFill>
              </a:rPr>
              <a:t>Em trânsito e em repouso, com gestão de chaves.</a:t>
            </a:r>
            <a:endParaRPr lang="en-US" sz="1250" dirty="0"/>
          </a:p>
        </p:txBody>
      </p:sp>
      <p:sp>
        <p:nvSpPr>
          <p:cNvPr id="15" name="Ícone fundo"/>
          <p:cNvSpPr/>
          <p:nvPr/>
        </p:nvSpPr>
        <p:spPr>
          <a:xfrm>
            <a:off x="5093208" y="3200400"/>
            <a:ext cx="512064" cy="512064"/>
          </a:xfrm>
          <a:prstGeom prst="ellipse">
            <a:avLst/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pic>
        <p:nvPicPr>
          <p:cNvPr id="16" name="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4" y="3328416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806440" y="31546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Controle de acesso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8229600" y="3154680"/>
            <a:ext cx="3410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8DE"/>
                </a:solidFill>
              </a:rPr>
              <a:t>Perfis (RBAC) integrados ao SSO do cliente.</a:t>
            </a:r>
            <a:endParaRPr lang="en-US" sz="1250" dirty="0"/>
          </a:p>
        </p:txBody>
      </p:sp>
      <p:sp>
        <p:nvSpPr>
          <p:cNvPr id="19" name="Ícone fundo"/>
          <p:cNvSpPr/>
          <p:nvPr/>
        </p:nvSpPr>
        <p:spPr>
          <a:xfrm>
            <a:off x="5093208" y="3931920"/>
            <a:ext cx="512064" cy="512064"/>
          </a:xfrm>
          <a:prstGeom prst="ellipse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pic>
        <p:nvPicPr>
          <p:cNvPr id="20" name="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4" y="4059936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806440" y="38862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Trilhas de auditoria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8229600" y="3886200"/>
            <a:ext cx="3410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8DE"/>
                </a:solidFill>
              </a:rPr>
              <a:t>Consultas, fontes e ações rastreáveis.</a:t>
            </a:r>
            <a:endParaRPr lang="en-US" sz="1250" dirty="0"/>
          </a:p>
        </p:txBody>
      </p:sp>
      <p:sp>
        <p:nvSpPr>
          <p:cNvPr id="23" name="Ícone fundo"/>
          <p:cNvSpPr/>
          <p:nvPr/>
        </p:nvSpPr>
        <p:spPr>
          <a:xfrm>
            <a:off x="5093208" y="4663440"/>
            <a:ext cx="512064" cy="512064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pic>
        <p:nvPicPr>
          <p:cNvPr id="24" name="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1224" y="4791456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806440" y="46177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LGPD e saúde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8229600" y="4617720"/>
            <a:ext cx="3410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8DE"/>
                </a:solidFill>
              </a:rPr>
              <a:t>Aderência à LGPD e a padrões equivalentes a HIPAA.</a:t>
            </a:r>
            <a:endParaRPr lang="en-US" sz="1250" dirty="0"/>
          </a:p>
        </p:txBody>
      </p:sp>
      <p:sp>
        <p:nvSpPr>
          <p:cNvPr id="27" name="Ícone fundo"/>
          <p:cNvSpPr/>
          <p:nvPr/>
        </p:nvSpPr>
        <p:spPr>
          <a:xfrm>
            <a:off x="5093208" y="5394960"/>
            <a:ext cx="512064" cy="512064"/>
          </a:xfrm>
          <a:prstGeom prst="ellipse">
            <a:avLst/>
          </a:prstGeom>
          <a:solidFill>
            <a:srgbClr val="606770"/>
          </a:solidFill>
          <a:ln w="12700">
            <a:solidFill>
              <a:srgbClr val="606770"/>
            </a:solidFill>
            <a:prstDash val="solid"/>
          </a:ln>
        </p:spPr>
      </p:sp>
      <p:pic>
        <p:nvPicPr>
          <p:cNvPr id="28" name="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1224" y="5522976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5806440" y="534924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Human-in-the-loop</a:t>
            </a:r>
            <a:endParaRPr lang="en-US" sz="1600" dirty="0"/>
          </a:p>
        </p:txBody>
      </p:sp>
      <p:sp>
        <p:nvSpPr>
          <p:cNvPr id="30" name="Text 20"/>
          <p:cNvSpPr txBox="1"/>
          <p:nvPr/>
        </p:nvSpPr>
        <p:spPr>
          <a:xfrm>
            <a:off x="8229600" y="5349240"/>
            <a:ext cx="3410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8DE"/>
                </a:solidFill>
              </a:rPr>
              <a:t>Revisão humana para cenários críticos.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C8D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AS PESSOAS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Um time de cerca de 300 pessoas</a:t>
            </a:r>
            <a:endParaRPr lang="en-US" sz="3600" dirty="0"/>
          </a:p>
        </p:txBody>
      </p:sp>
      <p:sp>
        <p:nvSpPr>
          <p:cNvPr id="5" name="Área Engenharia de Software e Infraestrutura"/>
          <p:cNvSpPr/>
          <p:nvPr/>
        </p:nvSpPr>
        <p:spPr>
          <a:xfrm>
            <a:off x="594360" y="1691640"/>
            <a:ext cx="4901047" cy="2208107"/>
          </a:xfrm>
          <a:prstGeom prst="roundRect">
            <a:avLst>
              <a:gd name="adj" fmla="val 4969"/>
            </a:avLst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44438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70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4443847" cy="111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Engenharia de Software e Infraestrutura</a:t>
            </a:r>
            <a:endParaRPr lang="en-US" sz="1400" dirty="0"/>
          </a:p>
        </p:txBody>
      </p:sp>
      <p:sp>
        <p:nvSpPr>
          <p:cNvPr id="8" name="Área Go-to-Market: comercial, marketing e CS"/>
          <p:cNvSpPr/>
          <p:nvPr/>
        </p:nvSpPr>
        <p:spPr>
          <a:xfrm>
            <a:off x="594360" y="3991187"/>
            <a:ext cx="4901047" cy="2043853"/>
          </a:xfrm>
          <a:prstGeom prst="roundRect">
            <a:avLst>
              <a:gd name="adj" fmla="val 5369"/>
            </a:avLst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128347"/>
            <a:ext cx="44438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03050"/>
                </a:solidFill>
              </a:rPr>
              <a:t>65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951307"/>
            <a:ext cx="4443847" cy="94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Go-to-Market: comercial, marketing e CS</a:t>
            </a:r>
            <a:endParaRPr lang="en-US" sz="1400" dirty="0"/>
          </a:p>
        </p:txBody>
      </p:sp>
      <p:sp>
        <p:nvSpPr>
          <p:cNvPr id="11" name="Área IA e Dados"/>
          <p:cNvSpPr/>
          <p:nvPr/>
        </p:nvSpPr>
        <p:spPr>
          <a:xfrm>
            <a:off x="5586847" y="1691640"/>
            <a:ext cx="3606698" cy="2569464"/>
          </a:xfrm>
          <a:prstGeom prst="roundRect">
            <a:avLst>
              <a:gd name="adj" fmla="val 4270"/>
            </a:avLst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15447" y="1828800"/>
            <a:ext cx="3149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03050"/>
                </a:solidFill>
              </a:rPr>
              <a:t>60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5815447" y="2651760"/>
            <a:ext cx="314949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IA e Dados</a:t>
            </a:r>
            <a:endParaRPr lang="en-US" sz="1400" dirty="0"/>
          </a:p>
        </p:txBody>
      </p:sp>
      <p:sp>
        <p:nvSpPr>
          <p:cNvPr id="14" name="Área Produto e Design"/>
          <p:cNvSpPr/>
          <p:nvPr/>
        </p:nvSpPr>
        <p:spPr>
          <a:xfrm>
            <a:off x="5586847" y="4352544"/>
            <a:ext cx="3606698" cy="1682496"/>
          </a:xfrm>
          <a:prstGeom prst="roundRect">
            <a:avLst>
              <a:gd name="adj" fmla="val 6522"/>
            </a:avLst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15447" y="4489704"/>
            <a:ext cx="3149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03050"/>
                </a:solidFill>
              </a:rPr>
              <a:t>40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5815447" y="5312664"/>
            <a:ext cx="31494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Produto e Design</a:t>
            </a:r>
            <a:endParaRPr lang="en-US" sz="1400" dirty="0"/>
          </a:p>
        </p:txBody>
      </p:sp>
      <p:sp>
        <p:nvSpPr>
          <p:cNvPr id="17" name="Área Segurança, Jurídico e Compliance"/>
          <p:cNvSpPr/>
          <p:nvPr/>
        </p:nvSpPr>
        <p:spPr>
          <a:xfrm>
            <a:off x="9284985" y="1691640"/>
            <a:ext cx="2312350" cy="1955409"/>
          </a:xfrm>
          <a:prstGeom prst="roundRect">
            <a:avLst>
              <a:gd name="adj" fmla="val 5612"/>
            </a:avLst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13585" y="1828800"/>
            <a:ext cx="18551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03050"/>
                </a:solidFill>
              </a:rPr>
              <a:t>30</a:t>
            </a:r>
            <a:endParaRPr lang="en-US" sz="4400" dirty="0"/>
          </a:p>
        </p:txBody>
      </p:sp>
      <p:sp>
        <p:nvSpPr>
          <p:cNvPr id="19" name="Text 16"/>
          <p:cNvSpPr txBox="1"/>
          <p:nvPr/>
        </p:nvSpPr>
        <p:spPr>
          <a:xfrm>
            <a:off x="9513585" y="2651760"/>
            <a:ext cx="1855150" cy="858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Segurança, Jurídico e Compliance</a:t>
            </a:r>
            <a:endParaRPr lang="en-US" sz="1400" dirty="0"/>
          </a:p>
        </p:txBody>
      </p:sp>
      <p:sp>
        <p:nvSpPr>
          <p:cNvPr id="20" name="Área Operações Corporativas"/>
          <p:cNvSpPr/>
          <p:nvPr/>
        </p:nvSpPr>
        <p:spPr>
          <a:xfrm>
            <a:off x="9284985" y="3738489"/>
            <a:ext cx="2312350" cy="1614268"/>
          </a:xfrm>
          <a:prstGeom prst="roundRect">
            <a:avLst>
              <a:gd name="adj" fmla="val 6797"/>
            </a:avLst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513585" y="3875649"/>
            <a:ext cx="18551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03050"/>
                </a:solidFill>
              </a:rPr>
              <a:t>25</a:t>
            </a:r>
            <a:endParaRPr lang="en-US" sz="4400" dirty="0"/>
          </a:p>
        </p:txBody>
      </p:sp>
      <p:sp>
        <p:nvSpPr>
          <p:cNvPr id="22" name="Text 19"/>
          <p:cNvSpPr txBox="1"/>
          <p:nvPr/>
        </p:nvSpPr>
        <p:spPr>
          <a:xfrm>
            <a:off x="9513585" y="4698609"/>
            <a:ext cx="1855150" cy="51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Operações Corporativas</a:t>
            </a:r>
            <a:endParaRPr lang="en-US" sz="1400" dirty="0"/>
          </a:p>
        </p:txBody>
      </p:sp>
      <p:sp>
        <p:nvSpPr>
          <p:cNvPr id="23" name="Área Liderança Executiva"/>
          <p:cNvSpPr/>
          <p:nvPr/>
        </p:nvSpPr>
        <p:spPr>
          <a:xfrm>
            <a:off x="9284985" y="5444197"/>
            <a:ext cx="2312350" cy="590843"/>
          </a:xfrm>
          <a:prstGeom prst="roundRect">
            <a:avLst>
              <a:gd name="adj" fmla="val 18571"/>
            </a:avLst>
          </a:prstGeom>
          <a:solidFill>
            <a:srgbClr val="606770"/>
          </a:solidFill>
          <a:ln w="12700">
            <a:solidFill>
              <a:srgbClr val="60677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513585" y="5398477"/>
            <a:ext cx="1855150" cy="682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Liderança Executiva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OPERAÇÃO E SUPORTE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Suporte em níveis, 24/7 onde importa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SLAS POR SEVERIDADE</a:t>
            </a:r>
            <a:endParaRPr lang="en-US" sz="1100" dirty="0"/>
          </a:p>
        </p:txBody>
      </p:sp>
      <p:sp>
        <p:nvSpPr>
          <p:cNvPr id="6" name="Severidade"/>
          <p:cNvSpPr/>
          <p:nvPr/>
        </p:nvSpPr>
        <p:spPr>
          <a:xfrm>
            <a:off x="548640" y="20116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0116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· Crítica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0116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resposta &lt; 15 min (24/7) · resolução &lt; 4 h</a:t>
            </a:r>
            <a:endParaRPr lang="en-US" sz="1250" dirty="0"/>
          </a:p>
        </p:txBody>
      </p:sp>
      <p:sp>
        <p:nvSpPr>
          <p:cNvPr id="9" name="Severidade"/>
          <p:cNvSpPr/>
          <p:nvPr/>
        </p:nvSpPr>
        <p:spPr>
          <a:xfrm>
            <a:off x="548640" y="241401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4140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050"/>
                </a:solidFill>
              </a:rPr>
              <a:t>2 · Alta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057400" y="24140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resposta &lt; 1 h · resolução &lt; 8 h</a:t>
            </a:r>
            <a:endParaRPr lang="en-US" sz="1250" dirty="0"/>
          </a:p>
        </p:txBody>
      </p:sp>
      <p:sp>
        <p:nvSpPr>
          <p:cNvPr id="12" name="Severidade"/>
          <p:cNvSpPr/>
          <p:nvPr/>
        </p:nvSpPr>
        <p:spPr>
          <a:xfrm>
            <a:off x="548640" y="28163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8163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050"/>
                </a:solidFill>
              </a:rPr>
              <a:t>3 · Média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057400" y="28163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resposta &lt; 4 h (comercial) · resolução &lt; 48 h</a:t>
            </a:r>
            <a:endParaRPr lang="en-US" sz="1250" dirty="0"/>
          </a:p>
        </p:txBody>
      </p:sp>
      <p:sp>
        <p:nvSpPr>
          <p:cNvPr id="15" name="Severidade"/>
          <p:cNvSpPr/>
          <p:nvPr/>
        </p:nvSpPr>
        <p:spPr>
          <a:xfrm>
            <a:off x="548640" y="321868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218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050"/>
                </a:solidFill>
              </a:rPr>
              <a:t>4 · Baixa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057400" y="32186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resposta &lt; 12 h · resolução até 5 dias úteis</a:t>
            </a:r>
            <a:endParaRPr lang="en-US" sz="1250" dirty="0"/>
          </a:p>
        </p:txBody>
      </p:sp>
      <p:sp>
        <p:nvSpPr>
          <p:cNvPr id="18" name="Degrau N1"/>
          <p:cNvSpPr/>
          <p:nvPr/>
        </p:nvSpPr>
        <p:spPr>
          <a:xfrm>
            <a:off x="548640" y="466344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7240" y="4800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3050"/>
                </a:solidFill>
              </a:rPr>
              <a:t>N1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349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Atendimento funcional e triagem</a:t>
            </a:r>
            <a:endParaRPr lang="en-US" sz="1400" dirty="0"/>
          </a:p>
        </p:txBody>
      </p:sp>
      <p:sp>
        <p:nvSpPr>
          <p:cNvPr id="21" name="Degrau N2"/>
          <p:cNvSpPr/>
          <p:nvPr/>
        </p:nvSpPr>
        <p:spPr>
          <a:xfrm>
            <a:off x="3355848" y="3794760"/>
            <a:ext cx="2651760" cy="2331720"/>
          </a:xfrm>
          <a:prstGeom prst="roundRect">
            <a:avLst>
              <a:gd name="adj" fmla="val 6275"/>
            </a:avLst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3584448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3050"/>
                </a:solidFill>
              </a:rPr>
              <a:t>N2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3584448" y="4480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Suporte técnico e integrações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584448" y="496519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03050"/>
                </a:solidFill>
              </a:rPr>
              <a:t>Falhas de integração, dados e pipelines (RAG Ops).</a:t>
            </a:r>
            <a:endParaRPr lang="en-US" sz="1200" dirty="0"/>
          </a:p>
        </p:txBody>
      </p:sp>
      <p:sp>
        <p:nvSpPr>
          <p:cNvPr id="25" name="Degrau N3"/>
          <p:cNvSpPr/>
          <p:nvPr/>
        </p:nvSpPr>
        <p:spPr>
          <a:xfrm>
            <a:off x="6163056" y="2926080"/>
            <a:ext cx="2651760" cy="3200400"/>
          </a:xfrm>
          <a:prstGeom prst="roundRect">
            <a:avLst>
              <a:gd name="adj" fmla="val 5517"/>
            </a:avLst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391656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3050"/>
                </a:solidFill>
              </a:rPr>
              <a:t>N3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6391656" y="3611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3050"/>
                </a:solidFill>
              </a:rPr>
              <a:t>Engenharia de sustentação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391656" y="4096512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03050"/>
                </a:solidFill>
              </a:rPr>
              <a:t>Bugs complexos, latência e qualidade da IA (AI Ops).</a:t>
            </a:r>
            <a:endParaRPr lang="en-US" sz="1200" dirty="0"/>
          </a:p>
        </p:txBody>
      </p:sp>
      <p:sp>
        <p:nvSpPr>
          <p:cNvPr id="29" name="Degrau Crise"/>
          <p:cNvSpPr/>
          <p:nvPr/>
        </p:nvSpPr>
        <p:spPr>
          <a:xfrm>
            <a:off x="8970264" y="2057400"/>
            <a:ext cx="2651760" cy="4069080"/>
          </a:xfrm>
          <a:prstGeom prst="roundRect">
            <a:avLst>
              <a:gd name="adj" fmla="val 5517"/>
            </a:avLst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9198864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Crise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9198864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Incident Manager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198864" y="3227832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Sala de guerra em incidentes graves, com comunicação ao cliente.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POSICIONAMENTO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Onde a SynapseAI se posiciona</a:t>
            </a:r>
            <a:endParaRPr lang="en-US" sz="3600" dirty="0"/>
          </a:p>
        </p:txBody>
      </p:sp>
      <p:sp>
        <p:nvSpPr>
          <p:cNvPr id="5" name="Quadrante"/>
          <p:cNvSpPr/>
          <p:nvPr/>
        </p:nvSpPr>
        <p:spPr>
          <a:xfrm>
            <a:off x="1234440" y="1691640"/>
            <a:ext cx="3200400" cy="1874520"/>
          </a:xfrm>
          <a:prstGeom prst="roundRect">
            <a:avLst>
              <a:gd name="adj" fmla="val 487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Quadrante destaque"/>
          <p:cNvSpPr/>
          <p:nvPr/>
        </p:nvSpPr>
        <p:spPr>
          <a:xfrm>
            <a:off x="4526280" y="1691640"/>
            <a:ext cx="3200400" cy="1874520"/>
          </a:xfrm>
          <a:prstGeom prst="roundRect">
            <a:avLst>
              <a:gd name="adj" fmla="val 4878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7" name="Quadrante"/>
          <p:cNvSpPr/>
          <p:nvPr/>
        </p:nvSpPr>
        <p:spPr>
          <a:xfrm>
            <a:off x="1234440" y="3657600"/>
            <a:ext cx="3200400" cy="1874520"/>
          </a:xfrm>
          <a:prstGeom prst="roundRect">
            <a:avLst>
              <a:gd name="adj" fmla="val 487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adrante"/>
          <p:cNvSpPr/>
          <p:nvPr/>
        </p:nvSpPr>
        <p:spPr>
          <a:xfrm>
            <a:off x="4526280" y="3657600"/>
            <a:ext cx="3200400" cy="1874520"/>
          </a:xfrm>
          <a:prstGeom prst="roundRect">
            <a:avLst>
              <a:gd name="adj" fmla="val 487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Eixo Y"/>
          <p:cNvSpPr/>
          <p:nvPr/>
        </p:nvSpPr>
        <p:spPr>
          <a:xfrm>
            <a:off x="1097280" y="1645920"/>
            <a:ext cx="0" cy="4023360"/>
          </a:xfrm>
          <a:prstGeom prst="line">
            <a:avLst/>
          </a:prstGeom>
          <a:noFill/>
          <a:ln w="25400">
            <a:solidFill>
              <a:srgbClr val="606770"/>
            </a:solidFill>
            <a:prstDash val="solid"/>
            <a:headEnd type="triangle"/>
            <a:tailEnd type="none"/>
          </a:ln>
        </p:spPr>
      </p:sp>
      <p:sp>
        <p:nvSpPr>
          <p:cNvPr id="10" name="Eixo X"/>
          <p:cNvSpPr/>
          <p:nvPr/>
        </p:nvSpPr>
        <p:spPr>
          <a:xfrm>
            <a:off x="1097280" y="5669280"/>
            <a:ext cx="6766560" cy="0"/>
          </a:xfrm>
          <a:prstGeom prst="line">
            <a:avLst/>
          </a:prstGeom>
          <a:noFill/>
          <a:ln w="25400">
            <a:solidFill>
              <a:srgbClr val="606770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 rot="16200000">
            <a:off x="-132588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Dados privados do cliente, com rastreabilidade  →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57607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Conhecimento genérico  →  especializado no domínio</a:t>
            </a:r>
            <a:endParaRPr lang="en-US" sz="1100" dirty="0"/>
          </a:p>
        </p:txBody>
      </p:sp>
      <p:sp>
        <p:nvSpPr>
          <p:cNvPr id="13" name="Bolha"/>
          <p:cNvSpPr/>
          <p:nvPr/>
        </p:nvSpPr>
        <p:spPr>
          <a:xfrm>
            <a:off x="1577340" y="3863340"/>
            <a:ext cx="1417320" cy="1417320"/>
          </a:xfrm>
          <a:prstGeom prst="ellipse">
            <a:avLst/>
          </a:prstGeom>
          <a:solidFill>
            <a:srgbClr val="606770"/>
          </a:solidFill>
          <a:ln w="12700">
            <a:solidFill>
              <a:srgbClr val="60677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668780" y="3863340"/>
            <a:ext cx="1234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IA generativa genérica</a:t>
            </a:r>
            <a:endParaRPr lang="en-US" sz="1200" dirty="0"/>
          </a:p>
        </p:txBody>
      </p:sp>
      <p:sp>
        <p:nvSpPr>
          <p:cNvPr id="15" name="Bolha"/>
          <p:cNvSpPr/>
          <p:nvPr/>
        </p:nvSpPr>
        <p:spPr>
          <a:xfrm>
            <a:off x="1805940" y="1851660"/>
            <a:ext cx="1508760" cy="1508760"/>
          </a:xfrm>
          <a:prstGeom prst="ellipse">
            <a:avLst/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897380" y="1851660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050"/>
                </a:solidFill>
              </a:rPr>
              <a:t>RAG genérico, sem domínio</a:t>
            </a:r>
            <a:endParaRPr lang="en-US" sz="1200" dirty="0"/>
          </a:p>
        </p:txBody>
      </p:sp>
      <p:sp>
        <p:nvSpPr>
          <p:cNvPr id="17" name="Bolha"/>
          <p:cNvSpPr/>
          <p:nvPr/>
        </p:nvSpPr>
        <p:spPr>
          <a:xfrm>
            <a:off x="5463540" y="3817620"/>
            <a:ext cx="1508760" cy="1508760"/>
          </a:xfrm>
          <a:prstGeom prst="ellipse">
            <a:avLst/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554980" y="3817620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050"/>
                </a:solidFill>
              </a:rPr>
              <a:t>Modelos de domínio sem dados privados</a:t>
            </a:r>
            <a:endParaRPr lang="en-US" sz="1200" dirty="0"/>
          </a:p>
        </p:txBody>
      </p:sp>
      <p:sp>
        <p:nvSpPr>
          <p:cNvPr id="19" name="Bolha"/>
          <p:cNvSpPr/>
          <p:nvPr/>
        </p:nvSpPr>
        <p:spPr>
          <a:xfrm>
            <a:off x="5029200" y="1554480"/>
            <a:ext cx="2194560" cy="2194560"/>
          </a:xfrm>
          <a:prstGeom prst="ellipse">
            <a:avLst/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120640" y="155448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SynapseAI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Solutions</a:t>
            </a:r>
            <a:endParaRPr lang="en-US" sz="1700" dirty="0"/>
          </a:p>
        </p:txBody>
      </p:sp>
      <p:sp>
        <p:nvSpPr>
          <p:cNvPr id="21" name="Anel destaque"/>
          <p:cNvSpPr/>
          <p:nvPr/>
        </p:nvSpPr>
        <p:spPr>
          <a:xfrm>
            <a:off x="4892040" y="1417320"/>
            <a:ext cx="2468880" cy="246888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17A9B9"/>
            </a:solidFill>
            <a:prstDash val="solid"/>
          </a:ln>
        </p:spPr>
      </p:sp>
      <p:sp>
        <p:nvSpPr>
          <p:cNvPr id="22" name="Argumento"/>
          <p:cNvSpPr/>
          <p:nvPr/>
        </p:nvSpPr>
        <p:spPr>
          <a:xfrm>
            <a:off x="8183880" y="1783080"/>
            <a:ext cx="3456432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3" name="Ícone fundo"/>
          <p:cNvSpPr/>
          <p:nvPr/>
        </p:nvSpPr>
        <p:spPr>
          <a:xfrm>
            <a:off x="8412480" y="2103120"/>
            <a:ext cx="548640" cy="548640"/>
          </a:xfrm>
          <a:prstGeom prst="ellipse">
            <a:avLst/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pic>
        <p:nvPicPr>
          <p:cNvPr id="24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24028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09828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Especialização por domínio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9098280" y="24048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Finanças, educação e saúde, não respostas genéricas.</a:t>
            </a:r>
            <a:endParaRPr lang="en-US" sz="1150" dirty="0"/>
          </a:p>
        </p:txBody>
      </p:sp>
      <p:sp>
        <p:nvSpPr>
          <p:cNvPr id="27" name="Argumento"/>
          <p:cNvSpPr/>
          <p:nvPr/>
        </p:nvSpPr>
        <p:spPr>
          <a:xfrm>
            <a:off x="8183880" y="3154680"/>
            <a:ext cx="3456432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8" name="Ícone fundo"/>
          <p:cNvSpPr/>
          <p:nvPr/>
        </p:nvSpPr>
        <p:spPr>
          <a:xfrm>
            <a:off x="8412480" y="3474720"/>
            <a:ext cx="548640" cy="548640"/>
          </a:xfrm>
          <a:prstGeom prst="ellipse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pic>
        <p:nvPicPr>
          <p:cNvPr id="29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61188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09828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Dados privados com rastreabilidade</a:t>
            </a:r>
            <a:endParaRPr lang="en-US" sz="1350" dirty="0"/>
          </a:p>
        </p:txBody>
      </p:sp>
      <p:sp>
        <p:nvSpPr>
          <p:cNvPr id="31" name="Text 26"/>
          <p:cNvSpPr txBox="1"/>
          <p:nvPr/>
        </p:nvSpPr>
        <p:spPr>
          <a:xfrm>
            <a:off x="9098280" y="3776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RAG nas bases do cliente, com fontes e trilha.</a:t>
            </a:r>
            <a:endParaRPr lang="en-US" sz="1150" dirty="0"/>
          </a:p>
        </p:txBody>
      </p:sp>
      <p:sp>
        <p:nvSpPr>
          <p:cNvPr id="32" name="Argumento"/>
          <p:cNvSpPr/>
          <p:nvPr/>
        </p:nvSpPr>
        <p:spPr>
          <a:xfrm>
            <a:off x="8183880" y="4526280"/>
            <a:ext cx="3456432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3" name="Ícone fundo"/>
          <p:cNvSpPr/>
          <p:nvPr/>
        </p:nvSpPr>
        <p:spPr>
          <a:xfrm>
            <a:off x="8412480" y="4846320"/>
            <a:ext cx="548640" cy="54864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pic>
        <p:nvPicPr>
          <p:cNvPr id="34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983480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09828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Humano no controle</a:t>
            </a:r>
            <a:endParaRPr lang="en-US" sz="1350" dirty="0"/>
          </a:p>
        </p:txBody>
      </p:sp>
      <p:sp>
        <p:nvSpPr>
          <p:cNvPr id="36" name="Text 30"/>
          <p:cNvSpPr txBox="1"/>
          <p:nvPr/>
        </p:nvSpPr>
        <p:spPr>
          <a:xfrm>
            <a:off x="9098280" y="5148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Apoio à decisão, com revisão humana.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adrante princípio"/>
          <p:cNvSpPr/>
          <p:nvPr/>
        </p:nvSpPr>
        <p:spPr>
          <a:xfrm>
            <a:off x="0" y="0"/>
            <a:ext cx="6104992" cy="3438144"/>
          </a:xfrm>
          <a:prstGeom prst="rect">
            <a:avLst/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4" name="Ícone fundo"/>
          <p:cNvSpPr/>
          <p:nvPr/>
        </p:nvSpPr>
        <p:spPr>
          <a:xfrm>
            <a:off x="754380" y="754380"/>
            <a:ext cx="777240" cy="777240"/>
          </a:xfrm>
          <a:prstGeom prst="ellipse">
            <a:avLst/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</p:spPr>
      </p:sp>
      <p:pic>
        <p:nvPicPr>
          <p:cNvPr id="5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950976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920240" y="777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Apoio à decisão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18745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IA amplia a capacidade dos profissionais; a decisão final é sempre humana.</a:t>
            </a:r>
            <a:endParaRPr lang="en-US" sz="1500" dirty="0"/>
          </a:p>
        </p:txBody>
      </p:sp>
      <p:sp>
        <p:nvSpPr>
          <p:cNvPr id="8" name="Quadrante princípio"/>
          <p:cNvSpPr/>
          <p:nvPr/>
        </p:nvSpPr>
        <p:spPr>
          <a:xfrm>
            <a:off x="6095848" y="0"/>
            <a:ext cx="6104992" cy="3438144"/>
          </a:xfrm>
          <a:prstGeom prst="rect">
            <a:avLst/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sp>
        <p:nvSpPr>
          <p:cNvPr id="9" name="Ícone fundo"/>
          <p:cNvSpPr/>
          <p:nvPr/>
        </p:nvSpPr>
        <p:spPr>
          <a:xfrm>
            <a:off x="7490308" y="754380"/>
            <a:ext cx="777240" cy="777240"/>
          </a:xfrm>
          <a:prstGeom prst="ellipse">
            <a:avLst/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</p:spPr>
      </p:sp>
      <p:pic>
        <p:nvPicPr>
          <p:cNvPr id="10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904" y="95097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56168" y="777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Explicabilidade e rastreabilidade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7558888" y="18745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Respostas vinculadas a fontes confiáveis e auditáveis.</a:t>
            </a:r>
            <a:endParaRPr lang="en-US" sz="1500" dirty="0"/>
          </a:p>
        </p:txBody>
      </p:sp>
      <p:sp>
        <p:nvSpPr>
          <p:cNvPr id="13" name="Quadrante princípio"/>
          <p:cNvSpPr/>
          <p:nvPr/>
        </p:nvSpPr>
        <p:spPr>
          <a:xfrm>
            <a:off x="0" y="3429000"/>
            <a:ext cx="6104992" cy="3438144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4" name="Ícone fundo"/>
          <p:cNvSpPr/>
          <p:nvPr/>
        </p:nvSpPr>
        <p:spPr>
          <a:xfrm>
            <a:off x="754380" y="4091940"/>
            <a:ext cx="777240" cy="777240"/>
          </a:xfrm>
          <a:prstGeom prst="ellipse">
            <a:avLst/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</p:spPr>
      </p:sp>
      <p:pic>
        <p:nvPicPr>
          <p:cNvPr id="15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88536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920240" y="4114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Privacidade e segurança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822960" y="52120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Conformidade com a LGPD e boas práticas internacionais de segurança da informação.</a:t>
            </a:r>
            <a:endParaRPr lang="en-US" sz="1500" dirty="0"/>
          </a:p>
        </p:txBody>
      </p:sp>
      <p:sp>
        <p:nvSpPr>
          <p:cNvPr id="18" name="Quadrante princípio"/>
          <p:cNvSpPr/>
          <p:nvPr/>
        </p:nvSpPr>
        <p:spPr>
          <a:xfrm>
            <a:off x="6095848" y="3429000"/>
            <a:ext cx="6104992" cy="3438144"/>
          </a:xfrm>
          <a:prstGeom prst="rect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9" name="Ícone fundo"/>
          <p:cNvSpPr/>
          <p:nvPr/>
        </p:nvSpPr>
        <p:spPr>
          <a:xfrm>
            <a:off x="7490308" y="4091940"/>
            <a:ext cx="777240" cy="777240"/>
          </a:xfrm>
          <a:prstGeom prst="ellipse">
            <a:avLst/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</p:spPr>
      </p:sp>
      <p:pic>
        <p:nvPicPr>
          <p:cNvPr id="20" name="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904" y="4288536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656168" y="4114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Domínio e contexto</a:t>
            </a:r>
            <a:endParaRPr lang="en-US" sz="2400" dirty="0"/>
          </a:p>
        </p:txBody>
      </p:sp>
      <p:sp>
        <p:nvSpPr>
          <p:cNvPr id="22" name="Text 15"/>
          <p:cNvSpPr txBox="1"/>
          <p:nvPr/>
        </p:nvSpPr>
        <p:spPr>
          <a:xfrm>
            <a:off x="7558888" y="52120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Modelos orientados a setor, evitando respostas genéricas em ambientes regulados.</a:t>
            </a:r>
            <a:endParaRPr lang="en-US" sz="1500" dirty="0"/>
          </a:p>
        </p:txBody>
      </p:sp>
      <p:sp>
        <p:nvSpPr>
          <p:cNvPr id="23" name="Centro"/>
          <p:cNvSpPr/>
          <p:nvPr/>
        </p:nvSpPr>
        <p:spPr>
          <a:xfrm>
            <a:off x="5181448" y="251460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4" name="Text 17"/>
          <p:cNvSpPr txBox="1"/>
          <p:nvPr/>
        </p:nvSpPr>
        <p:spPr>
          <a:xfrm>
            <a:off x="5272888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responsável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6E0"/>
                </a:solidFill>
              </a:rPr>
              <a:t>ENDEREÇOS OFICIAIS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Onde nos encontrar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7C8DE"/>
                </a:solidFill>
              </a:rPr>
              <a:t>Desconfie de endereços diferentes destes e avise o time de segurança da SynapseAI.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8920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6E0"/>
                </a:solidFill>
              </a:rPr>
              <a:t>INSTITUCIONAL</a:t>
            </a:r>
            <a:endParaRPr lang="en-US" sz="1100" dirty="0"/>
          </a:p>
        </p:txBody>
      </p:sp>
      <p:sp>
        <p:nvSpPr>
          <p:cNvPr id="6" name="Marcador"/>
          <p:cNvSpPr/>
          <p:nvPr/>
        </p:nvSpPr>
        <p:spPr>
          <a:xfrm>
            <a:off x="4928616" y="2185416"/>
            <a:ext cx="201168" cy="201168"/>
          </a:xfrm>
          <a:prstGeom prst="ellipse">
            <a:avLst/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49240" y="2011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8DE"/>
                </a:solidFill>
              </a:rPr>
              <a:t>Site institucional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22585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www.synapseai.com</a:t>
            </a:r>
            <a:endParaRPr lang="en-US" sz="1600" dirty="0"/>
          </a:p>
        </p:txBody>
      </p:sp>
      <p:sp>
        <p:nvSpPr>
          <p:cNvPr id="9" name="Marcador"/>
          <p:cNvSpPr/>
          <p:nvPr/>
        </p:nvSpPr>
        <p:spPr>
          <a:xfrm>
            <a:off x="4928616" y="2843784"/>
            <a:ext cx="201168" cy="201168"/>
          </a:xfrm>
          <a:prstGeom prst="ellipse">
            <a:avLst/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2670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8DE"/>
                </a:solidFill>
              </a:rPr>
              <a:t>Documentação geral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9169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docs.synapseai.com</a:t>
            </a:r>
            <a:endParaRPr lang="en-US" sz="1600" dirty="0"/>
          </a:p>
        </p:txBody>
      </p:sp>
      <p:sp>
        <p:nvSpPr>
          <p:cNvPr id="12" name="Marcador"/>
          <p:cNvSpPr/>
          <p:nvPr/>
        </p:nvSpPr>
        <p:spPr>
          <a:xfrm>
            <a:off x="4928616" y="3502152"/>
            <a:ext cx="201168" cy="201168"/>
          </a:xfrm>
          <a:prstGeom prst="ellipse">
            <a:avLst/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33284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8DE"/>
                </a:solidFill>
              </a:rPr>
              <a:t>API Gateway central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5753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api.synapseai.com</a:t>
            </a:r>
            <a:endParaRPr lang="en-US" sz="1600" dirty="0"/>
          </a:p>
        </p:txBody>
      </p:sp>
      <p:sp>
        <p:nvSpPr>
          <p:cNvPr id="15" name="Marcador"/>
          <p:cNvSpPr/>
          <p:nvPr/>
        </p:nvSpPr>
        <p:spPr>
          <a:xfrm>
            <a:off x="4928616" y="4160520"/>
            <a:ext cx="201168" cy="201168"/>
          </a:xfrm>
          <a:prstGeom prst="ellipse">
            <a:avLst/>
          </a:prstGeom>
          <a:solidFill>
            <a:srgbClr val="606770"/>
          </a:solidFill>
          <a:ln w="12700">
            <a:solidFill>
              <a:srgbClr val="6067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39867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8DE"/>
                </a:solidFill>
              </a:rPr>
              <a:t>Console administrativo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42336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admin.synapseai.com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6E0"/>
                </a:solidFill>
              </a:rPr>
              <a:t>PRODUTOS</a:t>
            </a:r>
            <a:endParaRPr lang="en-US" sz="1100" dirty="0"/>
          </a:p>
        </p:txBody>
      </p:sp>
      <p:sp>
        <p:nvSpPr>
          <p:cNvPr id="19" name="Marcador"/>
          <p:cNvSpPr/>
          <p:nvPr/>
        </p:nvSpPr>
        <p:spPr>
          <a:xfrm>
            <a:off x="8449056" y="2185416"/>
            <a:ext cx="201168" cy="201168"/>
          </a:xfrm>
          <a:prstGeom prst="ellipse">
            <a:avLst/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0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8DE"/>
                </a:solidFill>
              </a:rPr>
              <a:t>FinBrain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22585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finbrain.synapseai.com</a:t>
            </a:r>
            <a:endParaRPr lang="en-US" sz="1400" dirty="0"/>
          </a:p>
        </p:txBody>
      </p:sp>
      <p:sp>
        <p:nvSpPr>
          <p:cNvPr id="22" name="Marcador"/>
          <p:cNvSpPr/>
          <p:nvPr/>
        </p:nvSpPr>
        <p:spPr>
          <a:xfrm>
            <a:off x="8449056" y="2843784"/>
            <a:ext cx="201168" cy="201168"/>
          </a:xfrm>
          <a:prstGeom prst="ellipse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69680" y="2670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8DE"/>
                </a:solidFill>
              </a:rPr>
              <a:t>RiskGen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29169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riskgen.synapseai.com</a:t>
            </a:r>
            <a:endParaRPr lang="en-US" sz="1400" dirty="0"/>
          </a:p>
        </p:txBody>
      </p:sp>
      <p:sp>
        <p:nvSpPr>
          <p:cNvPr id="25" name="Marcador"/>
          <p:cNvSpPr/>
          <p:nvPr/>
        </p:nvSpPr>
        <p:spPr>
          <a:xfrm>
            <a:off x="8449056" y="3502152"/>
            <a:ext cx="201168" cy="201168"/>
          </a:xfrm>
          <a:prstGeom prst="ellipse">
            <a:avLst/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69680" y="3328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8DE"/>
                </a:solidFill>
              </a:rPr>
              <a:t>EduMentor AI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35753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edumentor.synapseai.com</a:t>
            </a:r>
            <a:endParaRPr lang="en-US" sz="1400" dirty="0"/>
          </a:p>
        </p:txBody>
      </p:sp>
      <p:sp>
        <p:nvSpPr>
          <p:cNvPr id="28" name="Marcador"/>
          <p:cNvSpPr/>
          <p:nvPr/>
        </p:nvSpPr>
        <p:spPr>
          <a:xfrm>
            <a:off x="8449056" y="4160520"/>
            <a:ext cx="201168" cy="201168"/>
          </a:xfrm>
          <a:prstGeom prst="ellipse">
            <a:avLst/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69680" y="3986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8DE"/>
                </a:solidFill>
              </a:rPr>
              <a:t>CourseGen Studio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869680" y="42336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coursegen.synapseai.com</a:t>
            </a:r>
            <a:endParaRPr lang="en-US" sz="1400" dirty="0"/>
          </a:p>
        </p:txBody>
      </p:sp>
      <p:sp>
        <p:nvSpPr>
          <p:cNvPr id="31" name="Marcador"/>
          <p:cNvSpPr/>
          <p:nvPr/>
        </p:nvSpPr>
        <p:spPr>
          <a:xfrm>
            <a:off x="8449056" y="4818888"/>
            <a:ext cx="201168" cy="201168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69680" y="4645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8DE"/>
                </a:solidFill>
              </a:rPr>
              <a:t>ClinicaGPT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48920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clinicagpt.synapseai.com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C8D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CARTÃO DE VISITAS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Nosso cartão de visitas</a:t>
            </a:r>
            <a:endParaRPr lang="en-US" sz="3600" dirty="0"/>
          </a:p>
        </p:txBody>
      </p:sp>
      <p:sp>
        <p:nvSpPr>
          <p:cNvPr id="5" name="Cartão frente"/>
          <p:cNvSpPr/>
          <p:nvPr/>
        </p:nvSpPr>
        <p:spPr>
          <a:xfrm>
            <a:off x="685800" y="1828800"/>
            <a:ext cx="5212080" cy="3017520"/>
          </a:xfrm>
          <a:prstGeom prst="roundRect">
            <a:avLst>
              <a:gd name="adj" fmla="val 6061"/>
            </a:avLst>
          </a:prstGeom>
          <a:solidFill>
            <a:srgbClr val="103050"/>
          </a:solidFill>
          <a:ln w="12700">
            <a:solidFill>
              <a:srgbClr val="103050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pic>
        <p:nvPicPr>
          <p:cNvPr id="6" name="Logo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566928" cy="685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SynapseAI Solutions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178308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8DE"/>
                </a:solidFill>
              </a:rPr>
              <a:t>IA generativa orientada a domínio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05156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Nome Sobrenome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3886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7C8DE"/>
                </a:solidFill>
              </a:rPr>
              <a:t>Cargo  ·  Área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4187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8DE"/>
                </a:solidFill>
              </a:rPr>
              <a:t>E-mail  ·  Telefone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4187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7FD6E0"/>
                </a:solidFill>
              </a:rPr>
              <a:t>www.synapseai.com</a:t>
            </a:r>
            <a:endParaRPr lang="en-US" sz="1250" dirty="0"/>
          </a:p>
        </p:txBody>
      </p:sp>
      <p:sp>
        <p:nvSpPr>
          <p:cNvPr id="13" name="Cartão verso"/>
          <p:cNvSpPr/>
          <p:nvPr/>
        </p:nvSpPr>
        <p:spPr>
          <a:xfrm>
            <a:off x="6309360" y="1828800"/>
            <a:ext cx="5212080" cy="3017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pic>
        <p:nvPicPr>
          <p:cNvPr id="14" name="Símbolo FinBrain" descr="assets/sym_fin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48840"/>
            <a:ext cx="777240" cy="777240"/>
          </a:xfrm>
          <a:prstGeom prst="rect">
            <a:avLst/>
          </a:prstGeom>
        </p:spPr>
      </p:pic>
      <p:pic>
        <p:nvPicPr>
          <p:cNvPr id="15" name="Símbolo RiskGen" descr="assets/sym_riskg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48840"/>
            <a:ext cx="777240" cy="777240"/>
          </a:xfrm>
          <a:prstGeom prst="rect">
            <a:avLst/>
          </a:prstGeom>
        </p:spPr>
      </p:pic>
      <p:pic>
        <p:nvPicPr>
          <p:cNvPr id="16" name="Símbolo EduMentor AI" descr="assets/sym_edumen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148840"/>
            <a:ext cx="777240" cy="777240"/>
          </a:xfrm>
          <a:prstGeom prst="rect">
            <a:avLst/>
          </a:prstGeom>
        </p:spPr>
      </p:pic>
      <p:pic>
        <p:nvPicPr>
          <p:cNvPr id="17" name="Símbolo CourseGen Studio" descr="assets/sym_courseg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2148840"/>
            <a:ext cx="777240" cy="777240"/>
          </a:xfrm>
          <a:prstGeom prst="rect">
            <a:avLst/>
          </a:prstGeom>
        </p:spPr>
      </p:pic>
      <p:pic>
        <p:nvPicPr>
          <p:cNvPr id="18" name="Símbolo ClinicaGPT" descr="assets/sym_clinicagp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0" y="2148840"/>
            <a:ext cx="777240" cy="77724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49224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Finanças  ·  Educação  ·  Saúde</a:t>
            </a:r>
            <a:endParaRPr lang="en-US" sz="1800" dirty="0"/>
          </a:p>
        </p:txBody>
      </p:sp>
      <p:sp>
        <p:nvSpPr>
          <p:cNvPr id="20" name="Text 11"/>
          <p:cNvSpPr txBox="1"/>
          <p:nvPr/>
        </p:nvSpPr>
        <p:spPr>
          <a:xfrm>
            <a:off x="6675120" y="3611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Cinco produtos de IA generativa para ambientes regulados e críticos</a:t>
            </a:r>
            <a:endParaRPr lang="en-US" sz="1300" dirty="0"/>
          </a:p>
        </p:txBody>
      </p:sp>
      <p:sp>
        <p:nvSpPr>
          <p:cNvPr id="21" name="Text 12"/>
          <p:cNvSpPr txBox="1"/>
          <p:nvPr/>
        </p:nvSpPr>
        <p:spPr>
          <a:xfrm>
            <a:off x="6492240" y="4343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89"/>
                </a:solidFill>
              </a:rPr>
              <a:t>docs.synapseai.com  ·  api.synapseai.com</a:t>
            </a:r>
            <a:endParaRPr lang="en-US" sz="1150" dirty="0"/>
          </a:p>
        </p:txBody>
      </p:sp>
      <p:sp>
        <p:nvSpPr>
          <p:cNvPr id="22" name="Text 13"/>
          <p:cNvSpPr txBox="1"/>
          <p:nvPr/>
        </p:nvSpPr>
        <p:spPr>
          <a:xfrm>
            <a:off x="685800" y="5029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chemeClr val="accent6"/>
                </a:solidFill>
              </a:rPr>
              <a:t>FRENTE</a:t>
            </a:r>
            <a:endParaRPr lang="en-US" sz="1050" dirty="0"/>
          </a:p>
        </p:txBody>
      </p:sp>
      <p:sp>
        <p:nvSpPr>
          <p:cNvPr id="23" name="Text 14"/>
          <p:cNvSpPr txBox="1"/>
          <p:nvPr/>
        </p:nvSpPr>
        <p:spPr>
          <a:xfrm>
            <a:off x="6309360" y="5029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chemeClr val="accent6"/>
                </a:solidFill>
              </a:rPr>
              <a:t>VERSO</a:t>
            </a:r>
            <a:endParaRPr lang="en-US" sz="1050" dirty="0"/>
          </a:p>
        </p:txBody>
      </p:sp>
      <p:sp>
        <p:nvSpPr>
          <p:cNvPr id="24" name="Etiqueta"/>
          <p:cNvSpPr/>
          <p:nvPr/>
        </p:nvSpPr>
        <p:spPr>
          <a:xfrm>
            <a:off x="1828800" y="55321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7A9B9"/>
          </a:solidFill>
          <a:ln w="12700">
            <a:solidFill>
              <a:srgbClr val="17A9B9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1828800" y="5532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050"/>
                </a:solidFill>
              </a:rPr>
              <a:t>Finanças</a:t>
            </a:r>
            <a:endParaRPr lang="en-US" sz="1150" dirty="0"/>
          </a:p>
        </p:txBody>
      </p:sp>
      <p:sp>
        <p:nvSpPr>
          <p:cNvPr id="26" name="Etiqueta"/>
          <p:cNvSpPr/>
          <p:nvPr/>
        </p:nvSpPr>
        <p:spPr>
          <a:xfrm>
            <a:off x="3154680" y="55321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3154680" y="5532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050"/>
                </a:solidFill>
              </a:rPr>
              <a:t>Educação</a:t>
            </a:r>
            <a:endParaRPr lang="en-US" sz="1150" dirty="0"/>
          </a:p>
        </p:txBody>
      </p:sp>
      <p:sp>
        <p:nvSpPr>
          <p:cNvPr id="28" name="Etiqueta"/>
          <p:cNvSpPr/>
          <p:nvPr/>
        </p:nvSpPr>
        <p:spPr>
          <a:xfrm>
            <a:off x="4526280" y="553212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4526280" y="5532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050"/>
                </a:solidFill>
              </a:rPr>
              <a:t>Saúde</a:t>
            </a:r>
            <a:endParaRPr lang="en-US" sz="1150" dirty="0"/>
          </a:p>
        </p:txBody>
      </p:sp>
      <p:sp>
        <p:nvSpPr>
          <p:cNvPr id="30" name="Etiqueta"/>
          <p:cNvSpPr/>
          <p:nvPr/>
        </p:nvSpPr>
        <p:spPr>
          <a:xfrm>
            <a:off x="5623560" y="553212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5623560" y="5532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050"/>
                </a:solidFill>
              </a:rPr>
              <a:t>Risco e Compliance</a:t>
            </a:r>
            <a:endParaRPr lang="en-US" sz="1150" dirty="0"/>
          </a:p>
        </p:txBody>
      </p:sp>
      <p:sp>
        <p:nvSpPr>
          <p:cNvPr id="32" name="Etiqueta"/>
          <p:cNvSpPr/>
          <p:nvPr/>
        </p:nvSpPr>
        <p:spPr>
          <a:xfrm>
            <a:off x="7589520" y="553212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8A7BE0"/>
          </a:solidFill>
          <a:ln w="12700">
            <a:solidFill>
              <a:srgbClr val="8A7BE0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7589520" y="5532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050"/>
                </a:solidFill>
              </a:rPr>
              <a:t>Conteúdo educacional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2103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Vamos conversar</a:t>
            </a:r>
            <a:endParaRPr lang="en-US" sz="5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731520" y="35204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B7C8DE"/>
                </a:solidFill>
              </a:rPr>
              <a:t>Descubra onde a IA generativa pode apoiar as decisões da sua organização</a:t>
            </a:r>
            <a:endParaRPr lang="en-US" sz="2200" dirty="0"/>
          </a:p>
        </p:txBody>
      </p:sp>
      <p:pic>
        <p:nvPicPr>
          <p:cNvPr id="4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45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47091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Site institucional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47091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www.synapseai.com</a:t>
            </a:r>
            <a:endParaRPr lang="en-US" sz="1500" dirty="0"/>
          </a:p>
        </p:txBody>
      </p:sp>
      <p:pic>
        <p:nvPicPr>
          <p:cNvPr id="7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0293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51663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Documentação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51663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docs.synapseai.com</a:t>
            </a:r>
            <a:endParaRPr lang="en-US" sz="1500" dirty="0"/>
          </a:p>
        </p:txBody>
      </p:sp>
      <p:pic>
        <p:nvPicPr>
          <p:cNvPr id="10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66013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5623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Seu contato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291840" y="56235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Nome  ·  Cargo  ·  Contato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Synapse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SynapseAI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SynapseAI Solutions — Apresentação institucional</dc:title>
  <dc:subject>PptxGenJS Presentation</dc:subject>
  <dc:creator>SynapseAI Solutions</dc:creator>
  <cp:lastModifiedBy>SynapseAI Solutions</cp:lastModifiedBy>
  <cp:revision>1</cp:revision>
  <dcterms:created xsi:type="dcterms:W3CDTF">2026-10-03T10:25:31Z</dcterms:created>
  <dcterms:modified xsi:type="dcterms:W3CDTF">2026-10-03T10:25:31Z</dcterms:modified>
</cp:coreProperties>
</file>