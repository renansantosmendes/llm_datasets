
<file path=[Content_Types].xml><?xml version="1.0" encoding="utf-8"?>
<Types xmlns="http://schemas.openxmlformats.org/package/2006/content-types">
  <Default ContentType="application/vnd.openxmlformats-officedocument.spreadsheetml.sheet" Extension="xlsx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drawingml.chart+xml" PartName="/ppt/charts/chart1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5" roundtripDataSignature="AMtx7miSNaNP61aB42Ty5vbnq/pbnyrAM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6638F94-3199-45B2-A4C9-2312ADF1B061}">
  <a:tblStyle styleId="{B6638F94-3199-45B2-A4C9-2312ADF1B061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charts/_rels/chart1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03050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03050"/>
                </a:solidFill>
                <a:latin typeface="+mn-lt"/>
              </a:rPr>
              <a:t>Fluxo por ano contratual (R$ mil)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Investimento</c:v>
                </c:pt>
              </c:strCache>
            </c:strRef>
          </c:tx>
          <c:spPr>
            <a:solidFill>
              <a:srgbClr val="9AA6B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Ano 1</c:v>
                  </c:pt>
                  <c:pt idx="1">
                    <c:v>Ano 2</c:v>
                  </c:pt>
                  <c:pt idx="2">
                    <c:v>Ano 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527</c:v>
                </c:pt>
                <c:pt idx="1">
                  <c:v>613</c:v>
                </c:pt>
                <c:pt idx="2">
                  <c:v>613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Benefício estimado</c:v>
                </c:pt>
              </c:strCache>
            </c:strRef>
          </c:tx>
          <c:spPr>
            <a:solidFill>
              <a:srgbClr val="17A9B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Ano 1</c:v>
                  </c:pt>
                  <c:pt idx="1">
                    <c:v>Ano 2</c:v>
                  </c:pt>
                  <c:pt idx="2">
                    <c:v>Ano 3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766</c:v>
                </c:pt>
                <c:pt idx="1">
                  <c:v>1505</c:v>
                </c:pt>
                <c:pt idx="2">
                  <c:v>1642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B24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0677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E8EF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0677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B243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" name="Google Shape;34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Proposta para leads em estágio final. Preencha o nome do cliente, o responsável comercial e a data de validade. Os valores são de referência e devem ser validados pela liderança comercial antes do envio.</a:t>
            </a:r>
            <a:endParaRPr/>
          </a:p>
        </p:txBody>
      </p:sp>
      <p:sp>
        <p:nvSpPr>
          <p:cNvPr id="35" name="Google Shape;35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" name="Google Shape;4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Apresente em 30 segundos e vá direto ao resumo executivo. Em reuniões de fechamento, a decisão costuma estar nos slides de investimento, business case e condições.</a:t>
            </a:r>
            <a:endParaRPr/>
          </a:p>
        </p:txBody>
      </p:sp>
      <p:sp>
        <p:nvSpPr>
          <p:cNvPr id="44" name="Google Shape;4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Resuma em uma frase: o que vai ser entregue, quanto custa e em quanto tempo se paga. Os três indicadores à direita são calculados com as premissas do slide de business case.</a:t>
            </a:r>
            <a:endParaRPr/>
          </a:p>
        </p:txBody>
      </p:sp>
      <p:sp>
        <p:nvSpPr>
          <p:cNvPr id="83" name="Google Shape;8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Substitua os três cards pelas dores reais ouvidas nas reuniões com o cliente. Quanto mais específico, mais forte fica o business case.</a:t>
            </a:r>
            <a:endParaRPr/>
          </a:p>
        </p:txBody>
      </p:sp>
      <p:sp>
        <p:nvSpPr>
          <p:cNvPr id="113" name="Google Shape;11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Apresente apenas as funcionalidades ligadas às dores do slide anterior.</a:t>
            </a:r>
            <a:endParaRPr/>
          </a:p>
        </p:txBody>
      </p:sp>
      <p:sp>
        <p:nvSpPr>
          <p:cNvPr id="138" name="Google Shape;13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4" name="Google Shape;17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Mostre o fluxo ponta a ponta e destaque as três garantias: fundamentação nos dados do cliente, rastreabilidade e humano no controle.</a:t>
            </a:r>
            <a:endParaRPr/>
          </a:p>
        </p:txBody>
      </p:sp>
      <p:sp>
        <p:nvSpPr>
          <p:cNvPr id="175" name="Google Shape;175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8" name="Google Shape;22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Os sistemas listados são exemplos típicos; o escopo exato de integração é fechado na PoC. Adapte os satélites aos sistemas reais do cliente.</a:t>
            </a:r>
            <a:endParaRPr/>
          </a:p>
        </p:txBody>
      </p:sp>
      <p:sp>
        <p:nvSpPr>
          <p:cNvPr id="229" name="Google Shape;229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9" name="Google Shape;27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Antecipe as perguntas de segurança e privacidade. Ofereça uma sessão técnica com a equipe de InfoSec do cliente.</a:t>
            </a:r>
            <a:endParaRPr/>
          </a:p>
        </p:txBody>
      </p:sp>
      <p:sp>
        <p:nvSpPr>
          <p:cNvPr id="280" name="Google Shape;280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7" name="Google Shape;31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Deixe claro o que está incluído e o que está fora. Itens fora do escopo viram propostas complementares.</a:t>
            </a:r>
            <a:endParaRPr/>
          </a:p>
        </p:txBody>
      </p:sp>
      <p:sp>
        <p:nvSpPr>
          <p:cNvPr id="318" name="Google Shape;318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8" name="Google Shape;32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Os prazos assumem acesso às fontes e disponibilidade do time do cliente. Calendário e janelas de entrada em produção são alinhados no kick-off.</a:t>
            </a:r>
            <a:endParaRPr/>
          </a:p>
        </p:txBody>
      </p:sp>
      <p:sp>
        <p:nvSpPr>
          <p:cNvPr id="329" name="Google Shape;329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3" name="Google Shape;373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Premissas ilustrativas e conservadoras (adoção de 80% no primeiro ano após o go-live). Valide cada premissa com o cliente e, se possível, substitua pelos números dele. Nunca apresente o retorno como garantia.</a:t>
            </a:r>
            <a:endParaRPr/>
          </a:p>
        </p:txBody>
      </p:sp>
      <p:sp>
        <p:nvSpPr>
          <p:cNvPr id="374" name="Google Shape;374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2" name="Google Shape;402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VALORES DE REFERÊNCIA. Âncoras de mercado (jun–set/2026): Microsoft 365 Copilot custa US$ 30 por usuário/mês, e o custo total do assento fica em US$ 69–90 com a licença-base. Copilotos verticais com dados privados, integrações e SLA ficam acima disso. Câmbio de referência: R$ 5,22/US$ (28/09/2026). Equivale a ~R$ 425 por usuário/mês (≈ US$ 81), com licença, plataforma e suporte incluídos. Preço em condição comercial competitiva: confirme margem e alçada de desconto com a liderança antes do envio.</a:t>
            </a:r>
            <a:endParaRPr/>
          </a:p>
        </p:txBody>
      </p:sp>
      <p:sp>
        <p:nvSpPr>
          <p:cNvPr id="403" name="Google Shape;403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1" name="Google Shape;421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 pacote Profissional é o recomendado e corresponde ao cenário de referência. Use Essencial como porta de entrada e Enterprise para ampliar escopo e criticidade.</a:t>
            </a:r>
            <a:endParaRPr/>
          </a:p>
        </p:txBody>
      </p:sp>
      <p:sp>
        <p:nvSpPr>
          <p:cNvPr id="422" name="Google Shape;422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6" name="Google Shape;476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Condições e incentivos são sugestões e exigem aprovação da liderança comercial. Valide alçada de desconto antes de oferecer.</a:t>
            </a:r>
            <a:endParaRPr/>
          </a:p>
        </p:txBody>
      </p:sp>
      <p:sp>
        <p:nvSpPr>
          <p:cNvPr id="477" name="Google Shape;477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4" name="Google Shape;524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Peça ao cliente que nomeie os responsáveis ainda antes da assinatura: isso reduz atrasos de início.</a:t>
            </a:r>
            <a:endParaRPr/>
          </a:p>
        </p:txBody>
      </p:sp>
      <p:sp>
        <p:nvSpPr>
          <p:cNvPr id="525" name="Google Shape;525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8" name="Google Shape;568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Mostrar os riscos de frente aumenta a confiança no fechamento. Complemente com riscos específicos do cliente.</a:t>
            </a:r>
            <a:endParaRPr/>
          </a:p>
        </p:txBody>
      </p:sp>
      <p:sp>
        <p:nvSpPr>
          <p:cNvPr id="569" name="Google Shape;569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9" name="Google Shape;579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Retome os três pontos que mais pesaram nas conversas anteriores.</a:t>
            </a:r>
            <a:endParaRPr/>
          </a:p>
        </p:txBody>
      </p:sp>
      <p:sp>
        <p:nvSpPr>
          <p:cNvPr id="580" name="Google Shape;580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6" name="Google Shape;616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Peça uma data concreta para cada passo. Combine o responsável do cliente por cada etapa antes de encerrar a reunião.</a:t>
            </a:r>
            <a:endParaRPr/>
          </a:p>
        </p:txBody>
      </p:sp>
      <p:sp>
        <p:nvSpPr>
          <p:cNvPr id="617" name="Google Shape;617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7" name="Google Shape;657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Notas comerciais de preço. Âncoras de mercado (jun–set/2026): Microsoft 365 Copilot custa US$ 30 por usuário/mês, e o custo total do assento fica em US$ 69–90 com a licença-base. Copilotos verticais com dados privados, integrações e SLA ficam acima disso. Câmbio de referência: R$ 5,22/US$ (28/09/2026). Equivale a ~R$ 425 por usuário/mês (≈ US$ 81), com licença, plataforma e suporte incluídos. As referências de terceiros são estimativas públicas (jun–set/2026) e podem mudar; confirme antes de usar em negociação. Preços da SynapseAI são de referência e dependem de aprovação.</a:t>
            </a:r>
            <a:endParaRPr/>
          </a:p>
        </p:txBody>
      </p:sp>
      <p:sp>
        <p:nvSpPr>
          <p:cNvPr id="658" name="Google Shape;658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7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7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A">
  <p:cSld name="CAPA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ssets/logo_white.png" id="12" name="Google Shape;1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0" y="548640"/>
            <a:ext cx="676656" cy="82296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21"/>
          <p:cNvSpPr/>
          <p:nvPr/>
        </p:nvSpPr>
        <p:spPr>
          <a:xfrm>
            <a:off x="1600200" y="77724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SynapseAI Solutions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21"/>
          <p:cNvSpPr txBox="1"/>
          <p:nvPr>
            <p:ph type="title"/>
          </p:nvPr>
        </p:nvSpPr>
        <p:spPr>
          <a:xfrm>
            <a:off x="731520" y="1874520"/>
            <a:ext cx="768096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  <a:defRPr b="1" i="0" sz="4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5" name="Google Shape;15;p21"/>
          <p:cNvSpPr txBox="1"/>
          <p:nvPr>
            <p:ph idx="1" type="body"/>
          </p:nvPr>
        </p:nvSpPr>
        <p:spPr>
          <a:xfrm>
            <a:off x="731520" y="4023360"/>
            <a:ext cx="67665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400"/>
              </a:spcBef>
              <a:spcAft>
                <a:spcPts val="0"/>
              </a:spcAft>
              <a:buClr>
                <a:srgbClr val="B7C8DE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B7C8D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ULO">
  <p:cSld name="TITULO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ssets/logo_dark.png" id="17" name="Google Shape;1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6336792"/>
            <a:ext cx="246888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22"/>
          <p:cNvSpPr/>
          <p:nvPr/>
        </p:nvSpPr>
        <p:spPr>
          <a:xfrm>
            <a:off x="914400" y="6373368"/>
            <a:ext cx="64008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SynapseAI Solutions  ·  Proposta comercial  ·  Confidencial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22"/>
          <p:cNvSpPr txBox="1"/>
          <p:nvPr>
            <p:ph type="title"/>
          </p:nvPr>
        </p:nvSpPr>
        <p:spPr>
          <a:xfrm>
            <a:off x="548640" y="603504"/>
            <a:ext cx="11094415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0" name="Google Shape;20;p22"/>
          <p:cNvSpPr txBox="1"/>
          <p:nvPr>
            <p:ph idx="12" type="sldNum"/>
          </p:nvPr>
        </p:nvSpPr>
        <p:spPr>
          <a:xfrm>
            <a:off x="10972800" y="6373368"/>
            <a:ext cx="667512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6067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60677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60677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60677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60677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60677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60677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60677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60677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ECHAMENTO">
  <p:cSld name="FECHAMENTO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ssets/logo_white.png" id="22" name="Google Shape;2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0" y="548640"/>
            <a:ext cx="676656" cy="82296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23"/>
          <p:cNvSpPr/>
          <p:nvPr/>
        </p:nvSpPr>
        <p:spPr>
          <a:xfrm>
            <a:off x="1600200" y="77724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SynapseAI Solutions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23"/>
          <p:cNvSpPr txBox="1"/>
          <p:nvPr>
            <p:ph type="title"/>
          </p:nvPr>
        </p:nvSpPr>
        <p:spPr>
          <a:xfrm>
            <a:off x="731520" y="2103120"/>
            <a:ext cx="73152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b="1" i="0" sz="6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5" name="Google Shape;25;p23"/>
          <p:cNvSpPr txBox="1"/>
          <p:nvPr>
            <p:ph idx="1" type="body"/>
          </p:nvPr>
        </p:nvSpPr>
        <p:spPr>
          <a:xfrm>
            <a:off x="731520" y="3566160"/>
            <a:ext cx="6400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440"/>
              </a:spcBef>
              <a:spcAft>
                <a:spcPts val="0"/>
              </a:spcAft>
              <a:buClr>
                <a:srgbClr val="B7C8DE"/>
              </a:buClr>
              <a:buSzPts val="2200"/>
              <a:buFont typeface="Arial"/>
              <a:buNone/>
              <a:defRPr b="0" i="0" sz="2200" u="none" cap="none" strike="noStrike">
                <a:solidFill>
                  <a:srgbClr val="B7C8D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ULO_ESCURO">
  <p:cSld name="TITULO_ESCURO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ssets/logo_white.png" id="28" name="Google Shape;28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6336792"/>
            <a:ext cx="246888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25"/>
          <p:cNvSpPr/>
          <p:nvPr/>
        </p:nvSpPr>
        <p:spPr>
          <a:xfrm>
            <a:off x="914400" y="6373368"/>
            <a:ext cx="64008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C8D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7C8DE"/>
                </a:solidFill>
                <a:latin typeface="Calibri"/>
                <a:ea typeface="Calibri"/>
                <a:cs typeface="Calibri"/>
                <a:sym typeface="Calibri"/>
              </a:rPr>
              <a:t>SynapseAI Solutions  ·  Proposta comercial  ·  Confidencial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5"/>
          <p:cNvSpPr txBox="1"/>
          <p:nvPr>
            <p:ph type="title"/>
          </p:nvPr>
        </p:nvSpPr>
        <p:spPr>
          <a:xfrm>
            <a:off x="548640" y="603504"/>
            <a:ext cx="11094415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1" name="Google Shape;31;p25"/>
          <p:cNvSpPr txBox="1"/>
          <p:nvPr>
            <p:ph idx="12" type="sldNum"/>
          </p:nvPr>
        </p:nvSpPr>
        <p:spPr>
          <a:xfrm>
            <a:off x="10972800" y="6373368"/>
            <a:ext cx="667512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B7C8D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B7C8DE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B7C8DE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B7C8DE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B7C8DE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B7C8DE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B7C8DE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B7C8DE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B7C8DE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0"/>
          <p:cNvSpPr txBox="1"/>
          <p:nvPr>
            <p:ph idx="12" type="sldNum"/>
          </p:nvPr>
        </p:nvSpPr>
        <p:spPr>
          <a:xfrm>
            <a:off x="10972800" y="6373368"/>
            <a:ext cx="667512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6067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60677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60677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60677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60677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60677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60677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60677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60677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Relationship Id="rId4" Type="http://schemas.openxmlformats.org/officeDocument/2006/relationships/image" Target="../media/image8.png"/><Relationship Id="rId5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Relationship Id="rId4" Type="http://schemas.openxmlformats.org/officeDocument/2006/relationships/image" Target="../media/image12.png"/><Relationship Id="rId5" Type="http://schemas.openxmlformats.org/officeDocument/2006/relationships/image" Target="../media/image3.png"/><Relationship Id="rId6" Type="http://schemas.openxmlformats.org/officeDocument/2006/relationships/image" Target="../media/image15.png"/><Relationship Id="rId7" Type="http://schemas.openxmlformats.org/officeDocument/2006/relationships/image" Target="../media/image1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Relationship Id="rId4" Type="http://schemas.openxmlformats.org/officeDocument/2006/relationships/image" Target="../media/image32.png"/><Relationship Id="rId9" Type="http://schemas.openxmlformats.org/officeDocument/2006/relationships/image" Target="../media/image37.png"/><Relationship Id="rId5" Type="http://schemas.openxmlformats.org/officeDocument/2006/relationships/image" Target="../media/image21.png"/><Relationship Id="rId6" Type="http://schemas.openxmlformats.org/officeDocument/2006/relationships/image" Target="../media/image28.png"/><Relationship Id="rId7" Type="http://schemas.openxmlformats.org/officeDocument/2006/relationships/image" Target="../media/image24.png"/><Relationship Id="rId8" Type="http://schemas.openxmlformats.org/officeDocument/2006/relationships/image" Target="../media/image3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Relationship Id="rId4" Type="http://schemas.openxmlformats.org/officeDocument/2006/relationships/image" Target="../media/image25.png"/><Relationship Id="rId11" Type="http://schemas.openxmlformats.org/officeDocument/2006/relationships/image" Target="../media/image30.png"/><Relationship Id="rId10" Type="http://schemas.openxmlformats.org/officeDocument/2006/relationships/image" Target="../media/image14.png"/><Relationship Id="rId9" Type="http://schemas.openxmlformats.org/officeDocument/2006/relationships/image" Target="../media/image33.png"/><Relationship Id="rId5" Type="http://schemas.openxmlformats.org/officeDocument/2006/relationships/image" Target="../media/image38.png"/><Relationship Id="rId6" Type="http://schemas.openxmlformats.org/officeDocument/2006/relationships/image" Target="../media/image34.png"/><Relationship Id="rId7" Type="http://schemas.openxmlformats.org/officeDocument/2006/relationships/image" Target="../media/image26.png"/><Relationship Id="rId8" Type="http://schemas.openxmlformats.org/officeDocument/2006/relationships/image" Target="../media/image3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image" Target="../media/image33.png"/><Relationship Id="rId6" Type="http://schemas.openxmlformats.org/officeDocument/2006/relationships/image" Target="../media/image24.png"/><Relationship Id="rId7" Type="http://schemas.openxmlformats.org/officeDocument/2006/relationships/image" Target="../media/image28.png"/><Relationship Id="rId8" Type="http://schemas.openxmlformats.org/officeDocument/2006/relationships/image" Target="../media/image4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3.png"/><Relationship Id="rId4" Type="http://schemas.openxmlformats.org/officeDocument/2006/relationships/image" Target="../media/image45.png"/><Relationship Id="rId5" Type="http://schemas.openxmlformats.org/officeDocument/2006/relationships/image" Target="../media/image14.png"/><Relationship Id="rId6" Type="http://schemas.openxmlformats.org/officeDocument/2006/relationships/image" Target="../media/image47.png"/><Relationship Id="rId7" Type="http://schemas.openxmlformats.org/officeDocument/2006/relationships/image" Target="../media/image48.png"/><Relationship Id="rId8" Type="http://schemas.openxmlformats.org/officeDocument/2006/relationships/image" Target="../media/image4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chart" Target="../charts/chart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2.png"/><Relationship Id="rId4" Type="http://schemas.openxmlformats.org/officeDocument/2006/relationships/image" Target="../media/image4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2.png"/><Relationship Id="rId4" Type="http://schemas.openxmlformats.org/officeDocument/2006/relationships/image" Target="../media/image65.png"/><Relationship Id="rId5" Type="http://schemas.openxmlformats.org/officeDocument/2006/relationships/image" Target="../media/image64.png"/><Relationship Id="rId6" Type="http://schemas.openxmlformats.org/officeDocument/2006/relationships/image" Target="../media/image73.png"/><Relationship Id="rId7" Type="http://schemas.openxmlformats.org/officeDocument/2006/relationships/image" Target="../media/image26.png"/><Relationship Id="rId8" Type="http://schemas.openxmlformats.org/officeDocument/2006/relationships/image" Target="../media/image2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1.png"/><Relationship Id="rId4" Type="http://schemas.openxmlformats.org/officeDocument/2006/relationships/image" Target="../media/image81.png"/><Relationship Id="rId9" Type="http://schemas.openxmlformats.org/officeDocument/2006/relationships/image" Target="../media/image29.png"/><Relationship Id="rId5" Type="http://schemas.openxmlformats.org/officeDocument/2006/relationships/image" Target="../media/image69.png"/><Relationship Id="rId6" Type="http://schemas.openxmlformats.org/officeDocument/2006/relationships/image" Target="../media/image77.png"/><Relationship Id="rId7" Type="http://schemas.openxmlformats.org/officeDocument/2006/relationships/image" Target="../media/image25.png"/><Relationship Id="rId8" Type="http://schemas.openxmlformats.org/officeDocument/2006/relationships/image" Target="../media/image3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2.png"/><Relationship Id="rId4" Type="http://schemas.openxmlformats.org/officeDocument/2006/relationships/image" Target="../media/image3.png"/><Relationship Id="rId5" Type="http://schemas.openxmlformats.org/officeDocument/2006/relationships/image" Target="../media/image28.png"/><Relationship Id="rId6" Type="http://schemas.openxmlformats.org/officeDocument/2006/relationships/image" Target="../media/image4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7.png"/><Relationship Id="rId4" Type="http://schemas.openxmlformats.org/officeDocument/2006/relationships/image" Target="../media/image87.png"/><Relationship Id="rId5" Type="http://schemas.openxmlformats.org/officeDocument/2006/relationships/image" Target="../media/image73.png"/><Relationship Id="rId6" Type="http://schemas.openxmlformats.org/officeDocument/2006/relationships/image" Target="../media/image4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88.png"/><Relationship Id="rId4" Type="http://schemas.openxmlformats.org/officeDocument/2006/relationships/image" Target="../media/image85.png"/><Relationship Id="rId5" Type="http://schemas.openxmlformats.org/officeDocument/2006/relationships/image" Target="../media/image7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"/>
          <p:cNvSpPr txBox="1"/>
          <p:nvPr/>
        </p:nvSpPr>
        <p:spPr>
          <a:xfrm>
            <a:off x="731520" y="14630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D6E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7FD6E0"/>
                </a:solidFill>
                <a:latin typeface="Calibri"/>
                <a:ea typeface="Calibri"/>
                <a:cs typeface="Calibri"/>
                <a:sym typeface="Calibri"/>
              </a:rPr>
              <a:t>PROPOSTA COMERCIAL · FINANÇAS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1"/>
          <p:cNvSpPr txBox="1"/>
          <p:nvPr>
            <p:ph type="title"/>
          </p:nvPr>
        </p:nvSpPr>
        <p:spPr>
          <a:xfrm>
            <a:off x="731520" y="1874520"/>
            <a:ext cx="768096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4200">
                <a:solidFill>
                  <a:schemeClr val="lt1"/>
                </a:solidFill>
              </a:rPr>
              <a:t>Proposta comercial: FinBrain</a:t>
            </a:r>
            <a:endParaRPr sz="4200"/>
          </a:p>
        </p:txBody>
      </p:sp>
      <p:sp>
        <p:nvSpPr>
          <p:cNvPr id="39" name="Google Shape;39;p1"/>
          <p:cNvSpPr txBox="1"/>
          <p:nvPr>
            <p:ph idx="1" type="body"/>
          </p:nvPr>
        </p:nvSpPr>
        <p:spPr>
          <a:xfrm>
            <a:off x="731520" y="4023360"/>
            <a:ext cx="67665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B7C8DE"/>
              </a:buClr>
              <a:buSzPts val="2000"/>
              <a:buNone/>
            </a:pPr>
            <a:r>
              <a:rPr lang="en-US" sz="2000">
                <a:solidFill>
                  <a:srgbClr val="B7C8DE"/>
                </a:solidFill>
              </a:rPr>
              <a:t>Copiloto Financeiro Corporativo</a:t>
            </a:r>
            <a:endParaRPr sz="2000"/>
          </a:p>
        </p:txBody>
      </p:sp>
      <p:pic>
        <p:nvPicPr>
          <p:cNvPr descr="assets/sym_finbrain.png" id="40" name="Google Shape;40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92640" y="1188720"/>
            <a:ext cx="1737360" cy="17373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"/>
          <p:cNvSpPr txBox="1"/>
          <p:nvPr/>
        </p:nvSpPr>
        <p:spPr>
          <a:xfrm>
            <a:off x="548640" y="329184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E7C89"/>
                </a:solidFill>
                <a:latin typeface="Calibri"/>
                <a:ea typeface="Calibri"/>
                <a:cs typeface="Calibri"/>
                <a:sym typeface="Calibri"/>
              </a:rPr>
              <a:t>CONTEÚDO DA PROPOSTA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 txBox="1"/>
          <p:nvPr>
            <p:ph type="title"/>
          </p:nvPr>
        </p:nvSpPr>
        <p:spPr>
          <a:xfrm>
            <a:off x="548640" y="603504"/>
            <a:ext cx="11094415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</a:pPr>
            <a:r>
              <a:rPr b="1" lang="en-US" sz="3600">
                <a:solidFill>
                  <a:schemeClr val="dk2"/>
                </a:solidFill>
              </a:rPr>
              <a:t>O que esta proposta contém</a:t>
            </a:r>
            <a:endParaRPr sz="3600"/>
          </a:p>
        </p:txBody>
      </p:sp>
      <p:sp>
        <p:nvSpPr>
          <p:cNvPr id="48" name="Google Shape;48;p2"/>
          <p:cNvSpPr/>
          <p:nvPr/>
        </p:nvSpPr>
        <p:spPr>
          <a:xfrm>
            <a:off x="548640" y="1645920"/>
            <a:ext cx="6583680" cy="804672"/>
          </a:xfrm>
          <a:prstGeom prst="roundRect">
            <a:avLst>
              <a:gd fmla="val 15909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2"/>
          <p:cNvSpPr/>
          <p:nvPr/>
        </p:nvSpPr>
        <p:spPr>
          <a:xfrm>
            <a:off x="731520" y="1764792"/>
            <a:ext cx="566928" cy="566928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2"/>
          <p:cNvSpPr txBox="1"/>
          <p:nvPr/>
        </p:nvSpPr>
        <p:spPr>
          <a:xfrm>
            <a:off x="731520" y="1764792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 txBox="1"/>
          <p:nvPr/>
        </p:nvSpPr>
        <p:spPr>
          <a:xfrm>
            <a:off x="1508760" y="1755648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Resumo e desafio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 txBox="1"/>
          <p:nvPr/>
        </p:nvSpPr>
        <p:spPr>
          <a:xfrm>
            <a:off x="1508760" y="208483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O que ouvimos e o objetivo do projeto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548640" y="2560320"/>
            <a:ext cx="6583680" cy="804672"/>
          </a:xfrm>
          <a:prstGeom prst="roundRect">
            <a:avLst>
              <a:gd fmla="val 15909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2"/>
          <p:cNvSpPr/>
          <p:nvPr/>
        </p:nvSpPr>
        <p:spPr>
          <a:xfrm>
            <a:off x="731520" y="2679192"/>
            <a:ext cx="566928" cy="566928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2"/>
          <p:cNvSpPr txBox="1"/>
          <p:nvPr/>
        </p:nvSpPr>
        <p:spPr>
          <a:xfrm>
            <a:off x="731520" y="2679192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 txBox="1"/>
          <p:nvPr/>
        </p:nvSpPr>
        <p:spPr>
          <a:xfrm>
            <a:off x="1508760" y="2670048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 solução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 txBox="1"/>
          <p:nvPr/>
        </p:nvSpPr>
        <p:spPr>
          <a:xfrm>
            <a:off x="1508760" y="299923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Como funciona, arquitetura e segurança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548640" y="3474720"/>
            <a:ext cx="6583680" cy="804672"/>
          </a:xfrm>
          <a:prstGeom prst="roundRect">
            <a:avLst>
              <a:gd fmla="val 15909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2"/>
          <p:cNvSpPr/>
          <p:nvPr/>
        </p:nvSpPr>
        <p:spPr>
          <a:xfrm>
            <a:off x="731520" y="3593592"/>
            <a:ext cx="566928" cy="566928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2"/>
          <p:cNvSpPr txBox="1"/>
          <p:nvPr/>
        </p:nvSpPr>
        <p:spPr>
          <a:xfrm>
            <a:off x="731520" y="3593592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2"/>
          <p:cNvSpPr txBox="1"/>
          <p:nvPr/>
        </p:nvSpPr>
        <p:spPr>
          <a:xfrm>
            <a:off x="1508760" y="3584448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Escopo e cronograma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2"/>
          <p:cNvSpPr txBox="1"/>
          <p:nvPr/>
        </p:nvSpPr>
        <p:spPr>
          <a:xfrm>
            <a:off x="1508760" y="391363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Fases, entregáveis e governança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2"/>
          <p:cNvSpPr/>
          <p:nvPr/>
        </p:nvSpPr>
        <p:spPr>
          <a:xfrm>
            <a:off x="548640" y="4389120"/>
            <a:ext cx="6583680" cy="804672"/>
          </a:xfrm>
          <a:prstGeom prst="roundRect">
            <a:avLst>
              <a:gd fmla="val 15909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2"/>
          <p:cNvSpPr/>
          <p:nvPr/>
        </p:nvSpPr>
        <p:spPr>
          <a:xfrm>
            <a:off x="731520" y="4507992"/>
            <a:ext cx="566928" cy="566928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2"/>
          <p:cNvSpPr txBox="1"/>
          <p:nvPr/>
        </p:nvSpPr>
        <p:spPr>
          <a:xfrm>
            <a:off x="731520" y="4507992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2"/>
          <p:cNvSpPr txBox="1"/>
          <p:nvPr/>
        </p:nvSpPr>
        <p:spPr>
          <a:xfrm>
            <a:off x="1508760" y="4498848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Investimento e business case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2"/>
          <p:cNvSpPr txBox="1"/>
          <p:nvPr/>
        </p:nvSpPr>
        <p:spPr>
          <a:xfrm>
            <a:off x="1508760" y="482803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Valores, pacotes e retorno estimado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2"/>
          <p:cNvSpPr/>
          <p:nvPr/>
        </p:nvSpPr>
        <p:spPr>
          <a:xfrm>
            <a:off x="548640" y="5303520"/>
            <a:ext cx="6583680" cy="804672"/>
          </a:xfrm>
          <a:prstGeom prst="roundRect">
            <a:avLst>
              <a:gd fmla="val 15909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2"/>
          <p:cNvSpPr/>
          <p:nvPr/>
        </p:nvSpPr>
        <p:spPr>
          <a:xfrm>
            <a:off x="731520" y="5422392"/>
            <a:ext cx="566928" cy="566928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2"/>
          <p:cNvSpPr txBox="1"/>
          <p:nvPr/>
        </p:nvSpPr>
        <p:spPr>
          <a:xfrm>
            <a:off x="731520" y="5422392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2"/>
          <p:cNvSpPr txBox="1"/>
          <p:nvPr/>
        </p:nvSpPr>
        <p:spPr>
          <a:xfrm>
            <a:off x="1508760" y="5413248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Condições e próximos passos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2"/>
          <p:cNvSpPr txBox="1"/>
          <p:nvPr/>
        </p:nvSpPr>
        <p:spPr>
          <a:xfrm>
            <a:off x="1508760" y="574243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SLAs, condições comerciais e assinatura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2"/>
          <p:cNvSpPr/>
          <p:nvPr/>
        </p:nvSpPr>
        <p:spPr>
          <a:xfrm>
            <a:off x="7589520" y="1645920"/>
            <a:ext cx="4050792" cy="4462272"/>
          </a:xfrm>
          <a:prstGeom prst="roundRect">
            <a:avLst>
              <a:gd fmla="val 4063" name="adj"/>
            </a:avLst>
          </a:prstGeom>
          <a:solidFill>
            <a:srgbClr val="E4F6F8"/>
          </a:solidFill>
          <a:ln cap="flat" cmpd="sng" w="12700">
            <a:solidFill>
              <a:srgbClr val="E4F6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sym_finbrain.png" id="74" name="Google Shape;7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03920" y="1965960"/>
            <a:ext cx="2194560" cy="219456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2"/>
          <p:cNvSpPr txBox="1"/>
          <p:nvPr/>
        </p:nvSpPr>
        <p:spPr>
          <a:xfrm>
            <a:off x="7589520" y="4343400"/>
            <a:ext cx="405079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FinBrain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2"/>
          <p:cNvSpPr txBox="1"/>
          <p:nvPr/>
        </p:nvSpPr>
        <p:spPr>
          <a:xfrm>
            <a:off x="7818120" y="4846320"/>
            <a:ext cx="3593592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Copiloto Financeiro Corporativo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2"/>
          <p:cNvSpPr/>
          <p:nvPr/>
        </p:nvSpPr>
        <p:spPr>
          <a:xfrm>
            <a:off x="7909560" y="5532120"/>
            <a:ext cx="3410712" cy="329184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2"/>
          <p:cNvSpPr txBox="1"/>
          <p:nvPr/>
        </p:nvSpPr>
        <p:spPr>
          <a:xfrm>
            <a:off x="7909560" y="5532120"/>
            <a:ext cx="341071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Cenário de referência: 120 usuários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2"/>
          <p:cNvSpPr txBox="1"/>
          <p:nvPr>
            <p:ph idx="4294967295" type="sldNum"/>
          </p:nvPr>
        </p:nvSpPr>
        <p:spPr>
          <a:xfrm>
            <a:off x="10972800" y="6373368"/>
            <a:ext cx="667512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0677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6067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"/>
          <p:cNvSpPr txBox="1"/>
          <p:nvPr/>
        </p:nvSpPr>
        <p:spPr>
          <a:xfrm>
            <a:off x="548640" y="329184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E7C89"/>
                </a:solidFill>
                <a:latin typeface="Calibri"/>
                <a:ea typeface="Calibri"/>
                <a:cs typeface="Calibri"/>
                <a:sym typeface="Calibri"/>
              </a:rPr>
              <a:t>RESUMO EXECUTIVO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"/>
          <p:cNvSpPr txBox="1"/>
          <p:nvPr>
            <p:ph type="title"/>
          </p:nvPr>
        </p:nvSpPr>
        <p:spPr>
          <a:xfrm>
            <a:off x="548640" y="603504"/>
            <a:ext cx="11094415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</a:pPr>
            <a:r>
              <a:rPr b="1" lang="en-US" sz="3600">
                <a:solidFill>
                  <a:schemeClr val="dk2"/>
                </a:solidFill>
              </a:rPr>
              <a:t>Resumo da proposta</a:t>
            </a:r>
            <a:endParaRPr sz="3600"/>
          </a:p>
        </p:txBody>
      </p:sp>
      <p:sp>
        <p:nvSpPr>
          <p:cNvPr id="87" name="Google Shape;87;p3"/>
          <p:cNvSpPr txBox="1"/>
          <p:nvPr/>
        </p:nvSpPr>
        <p:spPr>
          <a:xfrm>
            <a:off x="548640" y="1691640"/>
            <a:ext cx="630936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Reduzir o tempo de análise pós-fechamento e dar à diretoria respostas rastreáveis, com a decisão final sempre nas mãos do time financeiro.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585216" y="3328416"/>
            <a:ext cx="566928" cy="566928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9" name="Google Shape;89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6948" y="3470148"/>
            <a:ext cx="283464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3"/>
          <p:cNvSpPr txBox="1"/>
          <p:nvPr/>
        </p:nvSpPr>
        <p:spPr>
          <a:xfrm>
            <a:off x="1371600" y="3246120"/>
            <a:ext cx="5486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Escopo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3"/>
          <p:cNvSpPr txBox="1"/>
          <p:nvPr/>
        </p:nvSpPr>
        <p:spPr>
          <a:xfrm>
            <a:off x="1371600" y="3557016"/>
            <a:ext cx="55778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4 fontes, SSO e RBAC, catálogo semântico (100 métricas), 3 modelos de relatório, treinamento.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585216" y="4288536"/>
            <a:ext cx="566928" cy="566928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3" name="Google Shape;93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6948" y="4430268"/>
            <a:ext cx="283464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3"/>
          <p:cNvSpPr txBox="1"/>
          <p:nvPr/>
        </p:nvSpPr>
        <p:spPr>
          <a:xfrm>
            <a:off x="1371600" y="4206240"/>
            <a:ext cx="5486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Investimento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3"/>
          <p:cNvSpPr txBox="1"/>
          <p:nvPr/>
        </p:nvSpPr>
        <p:spPr>
          <a:xfrm>
            <a:off x="1371600" y="4517136"/>
            <a:ext cx="55778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Implantação de R$ 170 mil e recorrente de R$ 613 mil por ano a partir do go-live.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3"/>
          <p:cNvSpPr/>
          <p:nvPr/>
        </p:nvSpPr>
        <p:spPr>
          <a:xfrm>
            <a:off x="585216" y="5248656"/>
            <a:ext cx="566928" cy="566928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7" name="Google Shape;97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26948" y="5390388"/>
            <a:ext cx="283464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3"/>
          <p:cNvSpPr txBox="1"/>
          <p:nvPr/>
        </p:nvSpPr>
        <p:spPr>
          <a:xfrm>
            <a:off x="1371600" y="5166360"/>
            <a:ext cx="5486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Prazo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3"/>
          <p:cNvSpPr txBox="1"/>
          <p:nvPr/>
        </p:nvSpPr>
        <p:spPr>
          <a:xfrm>
            <a:off x="1371600" y="5477256"/>
            <a:ext cx="55778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Prova de conceito e implantação com go-live em cerca de 21 semanas.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3"/>
          <p:cNvSpPr/>
          <p:nvPr/>
        </p:nvSpPr>
        <p:spPr>
          <a:xfrm>
            <a:off x="7269480" y="1691640"/>
            <a:ext cx="4370832" cy="1325880"/>
          </a:xfrm>
          <a:prstGeom prst="roundRect">
            <a:avLst>
              <a:gd fmla="val 11034" name="adj"/>
            </a:avLst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3"/>
          <p:cNvSpPr txBox="1"/>
          <p:nvPr/>
        </p:nvSpPr>
        <p:spPr>
          <a:xfrm>
            <a:off x="7498080" y="1691640"/>
            <a:ext cx="205740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D6E0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7FD6E0"/>
                </a:solidFill>
                <a:latin typeface="Calibri"/>
                <a:ea typeface="Calibri"/>
                <a:cs typeface="Calibri"/>
                <a:sym typeface="Calibri"/>
              </a:rPr>
              <a:t>R$ 527 mil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3"/>
          <p:cNvSpPr txBox="1"/>
          <p:nvPr/>
        </p:nvSpPr>
        <p:spPr>
          <a:xfrm>
            <a:off x="9601200" y="1691640"/>
            <a:ext cx="192024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investimento no 1º ano contratual (implantação + recorrente a partir do go-live)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3"/>
          <p:cNvSpPr/>
          <p:nvPr/>
        </p:nvSpPr>
        <p:spPr>
          <a:xfrm>
            <a:off x="7269480" y="3200400"/>
            <a:ext cx="4370832" cy="1325880"/>
          </a:xfrm>
          <a:prstGeom prst="roundRect">
            <a:avLst>
              <a:gd fmla="val 11034" name="adj"/>
            </a:avLst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3"/>
          <p:cNvSpPr txBox="1"/>
          <p:nvPr/>
        </p:nvSpPr>
        <p:spPr>
          <a:xfrm>
            <a:off x="7498080" y="3200400"/>
            <a:ext cx="205740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D6E0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7FD6E0"/>
                </a:solidFill>
                <a:latin typeface="Calibri"/>
                <a:ea typeface="Calibri"/>
                <a:cs typeface="Calibri"/>
                <a:sym typeface="Calibri"/>
              </a:rPr>
              <a:t>8 meses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"/>
          <p:cNvSpPr txBox="1"/>
          <p:nvPr/>
        </p:nvSpPr>
        <p:spPr>
          <a:xfrm>
            <a:off x="9601200" y="3200400"/>
            <a:ext cx="192024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payback estimado a partir da assinatura, com premissas conservadoras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3"/>
          <p:cNvSpPr/>
          <p:nvPr/>
        </p:nvSpPr>
        <p:spPr>
          <a:xfrm>
            <a:off x="7269480" y="4709160"/>
            <a:ext cx="4370832" cy="1325880"/>
          </a:xfrm>
          <a:prstGeom prst="roundRect">
            <a:avLst>
              <a:gd fmla="val 11034" name="adj"/>
            </a:avLst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3"/>
          <p:cNvSpPr txBox="1"/>
          <p:nvPr/>
        </p:nvSpPr>
        <p:spPr>
          <a:xfrm>
            <a:off x="7498080" y="4709160"/>
            <a:ext cx="205740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D6E0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7FD6E0"/>
                </a:solidFill>
                <a:latin typeface="Calibri"/>
                <a:ea typeface="Calibri"/>
                <a:cs typeface="Calibri"/>
                <a:sym typeface="Calibri"/>
              </a:rPr>
              <a:t>21 semanas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3"/>
          <p:cNvSpPr txBox="1"/>
          <p:nvPr/>
        </p:nvSpPr>
        <p:spPr>
          <a:xfrm>
            <a:off x="9601200" y="4709160"/>
            <a:ext cx="192024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até o go-live, após descoberta, PoC, integração e homologação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3"/>
          <p:cNvSpPr txBox="1"/>
          <p:nvPr>
            <p:ph idx="4294967295" type="sldNum"/>
          </p:nvPr>
        </p:nvSpPr>
        <p:spPr>
          <a:xfrm>
            <a:off x="10972800" y="6373368"/>
            <a:ext cx="667512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0677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6067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"/>
          <p:cNvSpPr txBox="1"/>
          <p:nvPr/>
        </p:nvSpPr>
        <p:spPr>
          <a:xfrm>
            <a:off x="548640" y="329184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E7C89"/>
                </a:solidFill>
                <a:latin typeface="Calibri"/>
                <a:ea typeface="Calibri"/>
                <a:cs typeface="Calibri"/>
                <a:sym typeface="Calibri"/>
              </a:rPr>
              <a:t>ENTENDIMENTO DO DESAFIO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4"/>
          <p:cNvSpPr txBox="1"/>
          <p:nvPr>
            <p:ph type="title"/>
          </p:nvPr>
        </p:nvSpPr>
        <p:spPr>
          <a:xfrm>
            <a:off x="548640" y="603504"/>
            <a:ext cx="11094415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</a:pPr>
            <a:r>
              <a:rPr b="1" lang="en-US" sz="3600">
                <a:solidFill>
                  <a:schemeClr val="dk2"/>
                </a:solidFill>
              </a:rPr>
              <a:t>O que ouvimos do seu time</a:t>
            </a:r>
            <a:endParaRPr sz="3600"/>
          </a:p>
        </p:txBody>
      </p:sp>
      <p:sp>
        <p:nvSpPr>
          <p:cNvPr id="117" name="Google Shape;117;p4"/>
          <p:cNvSpPr/>
          <p:nvPr/>
        </p:nvSpPr>
        <p:spPr>
          <a:xfrm>
            <a:off x="548640" y="1691640"/>
            <a:ext cx="3593592" cy="3017520"/>
          </a:xfrm>
          <a:prstGeom prst="roundRect">
            <a:avLst>
              <a:gd fmla="val 4242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4"/>
          <p:cNvSpPr txBox="1"/>
          <p:nvPr/>
        </p:nvSpPr>
        <p:spPr>
          <a:xfrm>
            <a:off x="822960" y="1828800"/>
            <a:ext cx="1371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4"/>
          <p:cNvSpPr txBox="1"/>
          <p:nvPr/>
        </p:nvSpPr>
        <p:spPr>
          <a:xfrm>
            <a:off x="822960" y="2697480"/>
            <a:ext cx="3017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Calibri"/>
              <a:buNone/>
            </a:pPr>
            <a:r>
              <a:rPr b="1" i="0" lang="en-US" sz="19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Informação dispersa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4"/>
          <p:cNvSpPr txBox="1"/>
          <p:nvPr/>
        </p:nvSpPr>
        <p:spPr>
          <a:xfrm>
            <a:off x="822960" y="3200400"/>
            <a:ext cx="306324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Dados em ERP, data warehouse, planilhas e PDFs exigem consolidação manual a cada pergunta.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4"/>
          <p:cNvSpPr/>
          <p:nvPr/>
        </p:nvSpPr>
        <p:spPr>
          <a:xfrm>
            <a:off x="4297680" y="1691640"/>
            <a:ext cx="3593592" cy="3017520"/>
          </a:xfrm>
          <a:prstGeom prst="roundRect">
            <a:avLst>
              <a:gd fmla="val 4242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4"/>
          <p:cNvSpPr txBox="1"/>
          <p:nvPr/>
        </p:nvSpPr>
        <p:spPr>
          <a:xfrm>
            <a:off x="4572000" y="1828800"/>
            <a:ext cx="1371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4"/>
          <p:cNvSpPr txBox="1"/>
          <p:nvPr/>
        </p:nvSpPr>
        <p:spPr>
          <a:xfrm>
            <a:off x="4572000" y="2697480"/>
            <a:ext cx="3017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Calibri"/>
              <a:buNone/>
            </a:pPr>
            <a:r>
              <a:rPr b="1" i="0" lang="en-US" sz="19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Análises lentas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4"/>
          <p:cNvSpPr txBox="1"/>
          <p:nvPr/>
        </p:nvSpPr>
        <p:spPr>
          <a:xfrm>
            <a:off x="4572000" y="3200400"/>
            <a:ext cx="306324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Fechamento e análises de variação levam dias, atrasando decisões da diretoria.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8046720" y="1691640"/>
            <a:ext cx="3593592" cy="3017520"/>
          </a:xfrm>
          <a:prstGeom prst="roundRect">
            <a:avLst>
              <a:gd fmla="val 4242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4"/>
          <p:cNvSpPr txBox="1"/>
          <p:nvPr/>
        </p:nvSpPr>
        <p:spPr>
          <a:xfrm>
            <a:off x="8321040" y="1828800"/>
            <a:ext cx="1371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4"/>
          <p:cNvSpPr txBox="1"/>
          <p:nvPr/>
        </p:nvSpPr>
        <p:spPr>
          <a:xfrm>
            <a:off x="8321040" y="2697480"/>
            <a:ext cx="3017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Calibri"/>
              <a:buNone/>
            </a:pPr>
            <a:r>
              <a:rPr b="1" i="0" lang="en-US" sz="19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Pouca rastreabilidade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4"/>
          <p:cNvSpPr txBox="1"/>
          <p:nvPr/>
        </p:nvSpPr>
        <p:spPr>
          <a:xfrm>
            <a:off x="8321040" y="3200400"/>
            <a:ext cx="306324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Relatórios executivos sem referência clara de fonte, fórmula e versão.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4"/>
          <p:cNvSpPr/>
          <p:nvPr/>
        </p:nvSpPr>
        <p:spPr>
          <a:xfrm>
            <a:off x="548640" y="4983480"/>
            <a:ext cx="11094415" cy="1097280"/>
          </a:xfrm>
          <a:prstGeom prst="roundRect">
            <a:avLst>
              <a:gd fmla="val 11667" name="adj"/>
            </a:avLst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4"/>
          <p:cNvSpPr/>
          <p:nvPr/>
        </p:nvSpPr>
        <p:spPr>
          <a:xfrm>
            <a:off x="914400" y="5212080"/>
            <a:ext cx="640080" cy="64008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1" name="Google Shape;13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4420" y="537210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4"/>
          <p:cNvSpPr txBox="1"/>
          <p:nvPr/>
        </p:nvSpPr>
        <p:spPr>
          <a:xfrm>
            <a:off x="1828800" y="5138928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D6E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7FD6E0"/>
                </a:solidFill>
                <a:latin typeface="Calibri"/>
                <a:ea typeface="Calibri"/>
                <a:cs typeface="Calibri"/>
                <a:sym typeface="Calibri"/>
              </a:rPr>
              <a:t>OBJETIVO DO PROJETO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4"/>
          <p:cNvSpPr txBox="1"/>
          <p:nvPr/>
        </p:nvSpPr>
        <p:spPr>
          <a:xfrm>
            <a:off x="1828800" y="5440680"/>
            <a:ext cx="95097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Reduzir o tempo de análise pós-fechamento e dar à diretoria respostas rastreáveis, com a decisão final sempre nas mãos do time financeiro.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4"/>
          <p:cNvSpPr txBox="1"/>
          <p:nvPr>
            <p:ph idx="4294967295" type="sldNum"/>
          </p:nvPr>
        </p:nvSpPr>
        <p:spPr>
          <a:xfrm>
            <a:off x="10972800" y="6373368"/>
            <a:ext cx="667512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0677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6067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"/>
          <p:cNvSpPr txBox="1"/>
          <p:nvPr/>
        </p:nvSpPr>
        <p:spPr>
          <a:xfrm>
            <a:off x="548640" y="329184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E7C89"/>
                </a:solidFill>
                <a:latin typeface="Calibri"/>
                <a:ea typeface="Calibri"/>
                <a:cs typeface="Calibri"/>
                <a:sym typeface="Calibri"/>
              </a:rPr>
              <a:t>A SOLUÇÃO · FINANÇAS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5"/>
          <p:cNvSpPr txBox="1"/>
          <p:nvPr>
            <p:ph type="title"/>
          </p:nvPr>
        </p:nvSpPr>
        <p:spPr>
          <a:xfrm>
            <a:off x="548640" y="603504"/>
            <a:ext cx="11094415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</a:pPr>
            <a:r>
              <a:rPr b="1" lang="en-US" sz="3600">
                <a:solidFill>
                  <a:schemeClr val="dk2"/>
                </a:solidFill>
              </a:rPr>
              <a:t>FinBrain: o que você recebe</a:t>
            </a:r>
            <a:endParaRPr sz="3600"/>
          </a:p>
        </p:txBody>
      </p:sp>
      <p:sp>
        <p:nvSpPr>
          <p:cNvPr id="142" name="Google Shape;142;p5"/>
          <p:cNvSpPr/>
          <p:nvPr/>
        </p:nvSpPr>
        <p:spPr>
          <a:xfrm>
            <a:off x="548640" y="1645920"/>
            <a:ext cx="3749040" cy="4526280"/>
          </a:xfrm>
          <a:prstGeom prst="roundRect">
            <a:avLst>
              <a:gd fmla="val 4390" name="adj"/>
            </a:avLst>
          </a:prstGeom>
          <a:solidFill>
            <a:srgbClr val="E4F6F8"/>
          </a:solidFill>
          <a:ln cap="flat" cmpd="sng" w="12700">
            <a:solidFill>
              <a:srgbClr val="E4F6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sym_finbrain.png" id="143" name="Google Shape;14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17320" y="1920240"/>
            <a:ext cx="2011680" cy="201168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5"/>
          <p:cNvSpPr txBox="1"/>
          <p:nvPr/>
        </p:nvSpPr>
        <p:spPr>
          <a:xfrm>
            <a:off x="731520" y="4114800"/>
            <a:ext cx="3383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FinBrain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5"/>
          <p:cNvSpPr txBox="1"/>
          <p:nvPr/>
        </p:nvSpPr>
        <p:spPr>
          <a:xfrm>
            <a:off x="822960" y="4617720"/>
            <a:ext cx="3200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Copiloto Financeiro Corporativo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5"/>
          <p:cNvSpPr/>
          <p:nvPr/>
        </p:nvSpPr>
        <p:spPr>
          <a:xfrm>
            <a:off x="1463040" y="5257800"/>
            <a:ext cx="1920240" cy="310896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5"/>
          <p:cNvSpPr txBox="1"/>
          <p:nvPr/>
        </p:nvSpPr>
        <p:spPr>
          <a:xfrm>
            <a:off x="1463040" y="5257800"/>
            <a:ext cx="19202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Finanças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5"/>
          <p:cNvSpPr txBox="1"/>
          <p:nvPr/>
        </p:nvSpPr>
        <p:spPr>
          <a:xfrm>
            <a:off x="731520" y="5669280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finbrain.synapseai.com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5"/>
          <p:cNvSpPr/>
          <p:nvPr/>
        </p:nvSpPr>
        <p:spPr>
          <a:xfrm>
            <a:off x="4663440" y="1645920"/>
            <a:ext cx="3374136" cy="1783080"/>
          </a:xfrm>
          <a:prstGeom prst="roundRect">
            <a:avLst>
              <a:gd fmla="val 7179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5"/>
          <p:cNvSpPr/>
          <p:nvPr/>
        </p:nvSpPr>
        <p:spPr>
          <a:xfrm>
            <a:off x="4892040" y="1920240"/>
            <a:ext cx="566928" cy="566928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1" name="Google Shape;151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33772" y="2061972"/>
            <a:ext cx="283464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5"/>
          <p:cNvSpPr txBox="1"/>
          <p:nvPr/>
        </p:nvSpPr>
        <p:spPr>
          <a:xfrm>
            <a:off x="5577840" y="1874520"/>
            <a:ext cx="2331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Especialização financeira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5"/>
          <p:cNvSpPr txBox="1"/>
          <p:nvPr/>
        </p:nvSpPr>
        <p:spPr>
          <a:xfrm>
            <a:off x="4892040" y="2606040"/>
            <a:ext cx="29260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LLM e catálogo semântico ajustados à linguagem contábil e financeira.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5"/>
          <p:cNvSpPr/>
          <p:nvPr/>
        </p:nvSpPr>
        <p:spPr>
          <a:xfrm>
            <a:off x="8266176" y="1645920"/>
            <a:ext cx="3374136" cy="1783080"/>
          </a:xfrm>
          <a:prstGeom prst="roundRect">
            <a:avLst>
              <a:gd fmla="val 7179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5"/>
          <p:cNvSpPr/>
          <p:nvPr/>
        </p:nvSpPr>
        <p:spPr>
          <a:xfrm>
            <a:off x="8494776" y="1920240"/>
            <a:ext cx="566928" cy="566928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6" name="Google Shape;156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636508" y="2061972"/>
            <a:ext cx="283464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5"/>
          <p:cNvSpPr txBox="1"/>
          <p:nvPr/>
        </p:nvSpPr>
        <p:spPr>
          <a:xfrm>
            <a:off x="9180576" y="1874520"/>
            <a:ext cx="2331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Rastreabilidade total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5"/>
          <p:cNvSpPr txBox="1"/>
          <p:nvPr/>
        </p:nvSpPr>
        <p:spPr>
          <a:xfrm>
            <a:off x="8494776" y="2606040"/>
            <a:ext cx="29260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Cada número vem com fórmula, fonte e versão da base.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5"/>
          <p:cNvSpPr/>
          <p:nvPr/>
        </p:nvSpPr>
        <p:spPr>
          <a:xfrm>
            <a:off x="4663440" y="3611880"/>
            <a:ext cx="3374136" cy="1783080"/>
          </a:xfrm>
          <a:prstGeom prst="roundRect">
            <a:avLst>
              <a:gd fmla="val 7179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5"/>
          <p:cNvSpPr/>
          <p:nvPr/>
        </p:nvSpPr>
        <p:spPr>
          <a:xfrm>
            <a:off x="4892040" y="3886200"/>
            <a:ext cx="566928" cy="566928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1" name="Google Shape;161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033772" y="4027932"/>
            <a:ext cx="283464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5"/>
          <p:cNvSpPr txBox="1"/>
          <p:nvPr/>
        </p:nvSpPr>
        <p:spPr>
          <a:xfrm>
            <a:off x="5577840" y="3840480"/>
            <a:ext cx="2331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Dados sob seu controle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5"/>
          <p:cNvSpPr txBox="1"/>
          <p:nvPr/>
        </p:nvSpPr>
        <p:spPr>
          <a:xfrm>
            <a:off x="4892040" y="4572000"/>
            <a:ext cx="29260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Nuvem privada ou on-premise, com isolamento por cliente.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5"/>
          <p:cNvSpPr/>
          <p:nvPr/>
        </p:nvSpPr>
        <p:spPr>
          <a:xfrm>
            <a:off x="8266176" y="3611880"/>
            <a:ext cx="3374136" cy="1783080"/>
          </a:xfrm>
          <a:prstGeom prst="roundRect">
            <a:avLst>
              <a:gd fmla="val 7179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5"/>
          <p:cNvSpPr/>
          <p:nvPr/>
        </p:nvSpPr>
        <p:spPr>
          <a:xfrm>
            <a:off x="8494776" y="3886200"/>
            <a:ext cx="566928" cy="566928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6" name="Google Shape;166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36508" y="4027932"/>
            <a:ext cx="283464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5"/>
          <p:cNvSpPr txBox="1"/>
          <p:nvPr/>
        </p:nvSpPr>
        <p:spPr>
          <a:xfrm>
            <a:off x="9180576" y="3840480"/>
            <a:ext cx="2331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Operação 24/7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5"/>
          <p:cNvSpPr txBox="1"/>
          <p:nvPr/>
        </p:nvSpPr>
        <p:spPr>
          <a:xfrm>
            <a:off x="8494776" y="4572000"/>
            <a:ext cx="29260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Suporte em turnos e plantão para severidades críticas.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5"/>
          <p:cNvSpPr/>
          <p:nvPr/>
        </p:nvSpPr>
        <p:spPr>
          <a:xfrm>
            <a:off x="4663440" y="5623560"/>
            <a:ext cx="6976872" cy="548640"/>
          </a:xfrm>
          <a:prstGeom prst="roundRect">
            <a:avLst>
              <a:gd fmla="val 23333" name="adj"/>
            </a:avLst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5"/>
          <p:cNvSpPr txBox="1"/>
          <p:nvPr/>
        </p:nvSpPr>
        <p:spPr>
          <a:xfrm>
            <a:off x="4663440" y="5623560"/>
            <a:ext cx="697687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Apoio à decisão: a decisão final é sempre do profissional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5"/>
          <p:cNvSpPr txBox="1"/>
          <p:nvPr>
            <p:ph idx="4294967295" type="sldNum"/>
          </p:nvPr>
        </p:nvSpPr>
        <p:spPr>
          <a:xfrm>
            <a:off x="10972800" y="6373368"/>
            <a:ext cx="667512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0677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6067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6"/>
          <p:cNvSpPr txBox="1"/>
          <p:nvPr/>
        </p:nvSpPr>
        <p:spPr>
          <a:xfrm>
            <a:off x="548640" y="329184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E7C89"/>
                </a:solidFill>
                <a:latin typeface="Calibri"/>
                <a:ea typeface="Calibri"/>
                <a:cs typeface="Calibri"/>
                <a:sym typeface="Calibri"/>
              </a:rPr>
              <a:t>COMO FUNCIONA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6"/>
          <p:cNvSpPr txBox="1"/>
          <p:nvPr>
            <p:ph type="title"/>
          </p:nvPr>
        </p:nvSpPr>
        <p:spPr>
          <a:xfrm>
            <a:off x="548640" y="603504"/>
            <a:ext cx="11094415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</a:pPr>
            <a:r>
              <a:rPr b="1" lang="en-US" sz="3600">
                <a:solidFill>
                  <a:schemeClr val="dk2"/>
                </a:solidFill>
              </a:rPr>
              <a:t>Do dado ao resultado, em cinco etapas</a:t>
            </a:r>
            <a:endParaRPr sz="3600"/>
          </a:p>
        </p:txBody>
      </p:sp>
      <p:sp>
        <p:nvSpPr>
          <p:cNvPr id="179" name="Google Shape;179;p6"/>
          <p:cNvSpPr/>
          <p:nvPr/>
        </p:nvSpPr>
        <p:spPr>
          <a:xfrm>
            <a:off x="548640" y="1691640"/>
            <a:ext cx="2103120" cy="2606040"/>
          </a:xfrm>
          <a:prstGeom prst="roundRect">
            <a:avLst>
              <a:gd fmla="val 6087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6"/>
          <p:cNvSpPr txBox="1"/>
          <p:nvPr/>
        </p:nvSpPr>
        <p:spPr>
          <a:xfrm>
            <a:off x="713232" y="1801368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9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E7C89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6"/>
          <p:cNvSpPr/>
          <p:nvPr/>
        </p:nvSpPr>
        <p:spPr>
          <a:xfrm>
            <a:off x="1234440" y="2011680"/>
            <a:ext cx="731520" cy="731520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2" name="Google Shape;18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17320" y="219456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6"/>
          <p:cNvSpPr txBox="1"/>
          <p:nvPr/>
        </p:nvSpPr>
        <p:spPr>
          <a:xfrm>
            <a:off x="658368" y="2880360"/>
            <a:ext cx="1883664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Conectar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6"/>
          <p:cNvSpPr txBox="1"/>
          <p:nvPr/>
        </p:nvSpPr>
        <p:spPr>
          <a:xfrm>
            <a:off x="685800" y="3273552"/>
            <a:ext cx="18288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ERP, DW, planilhas e PDFs, com acesso somente leitura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5" name="Google Shape;185;p6"/>
          <p:cNvCxnSpPr/>
          <p:nvPr/>
        </p:nvCxnSpPr>
        <p:spPr>
          <a:xfrm>
            <a:off x="2679192" y="2377440"/>
            <a:ext cx="109728" cy="0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86" name="Google Shape;186;p6"/>
          <p:cNvSpPr/>
          <p:nvPr/>
        </p:nvSpPr>
        <p:spPr>
          <a:xfrm>
            <a:off x="2798064" y="1691640"/>
            <a:ext cx="2103120" cy="2606040"/>
          </a:xfrm>
          <a:prstGeom prst="roundRect">
            <a:avLst>
              <a:gd fmla="val 6087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6"/>
          <p:cNvSpPr txBox="1"/>
          <p:nvPr/>
        </p:nvSpPr>
        <p:spPr>
          <a:xfrm>
            <a:off x="2962656" y="1801368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9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E7C89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6"/>
          <p:cNvSpPr/>
          <p:nvPr/>
        </p:nvSpPr>
        <p:spPr>
          <a:xfrm>
            <a:off x="3483864" y="2011680"/>
            <a:ext cx="731520" cy="731520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9" name="Google Shape;189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66744" y="219456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6"/>
          <p:cNvSpPr txBox="1"/>
          <p:nvPr/>
        </p:nvSpPr>
        <p:spPr>
          <a:xfrm>
            <a:off x="2907792" y="2880360"/>
            <a:ext cx="1883664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Ingerir e validar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6"/>
          <p:cNvSpPr txBox="1"/>
          <p:nvPr/>
        </p:nvSpPr>
        <p:spPr>
          <a:xfrm>
            <a:off x="2935224" y="3273552"/>
            <a:ext cx="18288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Qualidade, reconciliação e versão da base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2" name="Google Shape;192;p6"/>
          <p:cNvCxnSpPr/>
          <p:nvPr/>
        </p:nvCxnSpPr>
        <p:spPr>
          <a:xfrm>
            <a:off x="4928616" y="2377440"/>
            <a:ext cx="109728" cy="0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93" name="Google Shape;193;p6"/>
          <p:cNvSpPr/>
          <p:nvPr/>
        </p:nvSpPr>
        <p:spPr>
          <a:xfrm>
            <a:off x="5047488" y="1691640"/>
            <a:ext cx="2103120" cy="2606040"/>
          </a:xfrm>
          <a:prstGeom prst="roundRect">
            <a:avLst>
              <a:gd fmla="val 6087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6"/>
          <p:cNvSpPr txBox="1"/>
          <p:nvPr/>
        </p:nvSpPr>
        <p:spPr>
          <a:xfrm>
            <a:off x="5212080" y="1801368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9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E7C89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6"/>
          <p:cNvSpPr/>
          <p:nvPr/>
        </p:nvSpPr>
        <p:spPr>
          <a:xfrm>
            <a:off x="5733288" y="2011680"/>
            <a:ext cx="731520" cy="731520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6" name="Google Shape;196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16168" y="219456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6"/>
          <p:cNvSpPr txBox="1"/>
          <p:nvPr/>
        </p:nvSpPr>
        <p:spPr>
          <a:xfrm>
            <a:off x="5157216" y="2880360"/>
            <a:ext cx="1883664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Perguntar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6"/>
          <p:cNvSpPr txBox="1"/>
          <p:nvPr/>
        </p:nvSpPr>
        <p:spPr>
          <a:xfrm>
            <a:off x="5184648" y="3273552"/>
            <a:ext cx="18288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Linguagem natural, cenários e comparativos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9" name="Google Shape;199;p6"/>
          <p:cNvCxnSpPr/>
          <p:nvPr/>
        </p:nvCxnSpPr>
        <p:spPr>
          <a:xfrm>
            <a:off x="7178040" y="2377440"/>
            <a:ext cx="109728" cy="0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00" name="Google Shape;200;p6"/>
          <p:cNvSpPr/>
          <p:nvPr/>
        </p:nvSpPr>
        <p:spPr>
          <a:xfrm>
            <a:off x="7296912" y="1691640"/>
            <a:ext cx="2103120" cy="2606040"/>
          </a:xfrm>
          <a:prstGeom prst="roundRect">
            <a:avLst>
              <a:gd fmla="val 6087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6"/>
          <p:cNvSpPr txBox="1"/>
          <p:nvPr/>
        </p:nvSpPr>
        <p:spPr>
          <a:xfrm>
            <a:off x="7461504" y="1801368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9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E7C89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6"/>
          <p:cNvSpPr/>
          <p:nvPr/>
        </p:nvSpPr>
        <p:spPr>
          <a:xfrm>
            <a:off x="7982712" y="2011680"/>
            <a:ext cx="731520" cy="73152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3" name="Google Shape;203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65592" y="219456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6"/>
          <p:cNvSpPr txBox="1"/>
          <p:nvPr/>
        </p:nvSpPr>
        <p:spPr>
          <a:xfrm>
            <a:off x="7406640" y="2880360"/>
            <a:ext cx="1883664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Verificar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6"/>
          <p:cNvSpPr txBox="1"/>
          <p:nvPr/>
        </p:nvSpPr>
        <p:spPr>
          <a:xfrm>
            <a:off x="7434072" y="3273552"/>
            <a:ext cx="18288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Guardrails de fundamentação e permissão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6" name="Google Shape;206;p6"/>
          <p:cNvCxnSpPr/>
          <p:nvPr/>
        </p:nvCxnSpPr>
        <p:spPr>
          <a:xfrm>
            <a:off x="9427464" y="2377440"/>
            <a:ext cx="109728" cy="0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07" name="Google Shape;207;p6"/>
          <p:cNvSpPr/>
          <p:nvPr/>
        </p:nvSpPr>
        <p:spPr>
          <a:xfrm>
            <a:off x="9546336" y="1691640"/>
            <a:ext cx="2103120" cy="2606040"/>
          </a:xfrm>
          <a:prstGeom prst="roundRect">
            <a:avLst>
              <a:gd fmla="val 6087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6"/>
          <p:cNvSpPr txBox="1"/>
          <p:nvPr/>
        </p:nvSpPr>
        <p:spPr>
          <a:xfrm>
            <a:off x="9710928" y="1801368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9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E7C89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6"/>
          <p:cNvSpPr/>
          <p:nvPr/>
        </p:nvSpPr>
        <p:spPr>
          <a:xfrm>
            <a:off x="10232136" y="2011680"/>
            <a:ext cx="731520" cy="731520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0" name="Google Shape;210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415016" y="219456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6"/>
          <p:cNvSpPr txBox="1"/>
          <p:nvPr/>
        </p:nvSpPr>
        <p:spPr>
          <a:xfrm>
            <a:off x="9656064" y="2880360"/>
            <a:ext cx="1883664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Auditar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6"/>
          <p:cNvSpPr txBox="1"/>
          <p:nvPr/>
        </p:nvSpPr>
        <p:spPr>
          <a:xfrm>
            <a:off x="9683496" y="3273552"/>
            <a:ext cx="18288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Referências e trilha em cada resposta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6"/>
          <p:cNvSpPr/>
          <p:nvPr/>
        </p:nvSpPr>
        <p:spPr>
          <a:xfrm>
            <a:off x="548640" y="4572000"/>
            <a:ext cx="3593592" cy="1508760"/>
          </a:xfrm>
          <a:prstGeom prst="roundRect">
            <a:avLst>
              <a:gd fmla="val 8485" name="adj"/>
            </a:avLst>
          </a:prstGeom>
          <a:solidFill>
            <a:srgbClr val="F2F4F7"/>
          </a:solidFill>
          <a:ln cap="flat" cmpd="sng" w="9525">
            <a:solidFill>
              <a:srgbClr val="F2F4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6"/>
          <p:cNvSpPr/>
          <p:nvPr/>
        </p:nvSpPr>
        <p:spPr>
          <a:xfrm>
            <a:off x="786384" y="5010912"/>
            <a:ext cx="621792" cy="621792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5" name="Google Shape;215;p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41832" y="5166360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6"/>
          <p:cNvSpPr txBox="1"/>
          <p:nvPr/>
        </p:nvSpPr>
        <p:spPr>
          <a:xfrm>
            <a:off x="1600200" y="4572000"/>
            <a:ext cx="2423160" cy="1508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Respostas fundamentadas apenas nos seus dados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6"/>
          <p:cNvSpPr/>
          <p:nvPr/>
        </p:nvSpPr>
        <p:spPr>
          <a:xfrm>
            <a:off x="4297680" y="4572000"/>
            <a:ext cx="3593592" cy="1508760"/>
          </a:xfrm>
          <a:prstGeom prst="roundRect">
            <a:avLst>
              <a:gd fmla="val 8485" name="adj"/>
            </a:avLst>
          </a:prstGeom>
          <a:solidFill>
            <a:srgbClr val="F2F4F7"/>
          </a:solidFill>
          <a:ln cap="flat" cmpd="sng" w="9525">
            <a:solidFill>
              <a:srgbClr val="F2F4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6"/>
          <p:cNvSpPr/>
          <p:nvPr/>
        </p:nvSpPr>
        <p:spPr>
          <a:xfrm>
            <a:off x="4535424" y="5010912"/>
            <a:ext cx="621792" cy="621792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9" name="Google Shape;219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90872" y="5166360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6"/>
          <p:cNvSpPr txBox="1"/>
          <p:nvPr/>
        </p:nvSpPr>
        <p:spPr>
          <a:xfrm>
            <a:off x="5349240" y="4572000"/>
            <a:ext cx="2423160" cy="1508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Fórmula, fonte e versão em cada número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6"/>
          <p:cNvSpPr/>
          <p:nvPr/>
        </p:nvSpPr>
        <p:spPr>
          <a:xfrm>
            <a:off x="8046720" y="4572000"/>
            <a:ext cx="3593592" cy="1508760"/>
          </a:xfrm>
          <a:prstGeom prst="roundRect">
            <a:avLst>
              <a:gd fmla="val 8485" name="adj"/>
            </a:avLst>
          </a:prstGeom>
          <a:solidFill>
            <a:srgbClr val="F2F4F7"/>
          </a:solidFill>
          <a:ln cap="flat" cmpd="sng" w="9525">
            <a:solidFill>
              <a:srgbClr val="F2F4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6"/>
          <p:cNvSpPr/>
          <p:nvPr/>
        </p:nvSpPr>
        <p:spPr>
          <a:xfrm>
            <a:off x="8284464" y="5010912"/>
            <a:ext cx="621792" cy="621792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23" name="Google Shape;223;p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39912" y="5166360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6"/>
          <p:cNvSpPr txBox="1"/>
          <p:nvPr/>
        </p:nvSpPr>
        <p:spPr>
          <a:xfrm>
            <a:off x="9098280" y="4572000"/>
            <a:ext cx="2423160" cy="1508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Copiloto: a decisão é do profissional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6"/>
          <p:cNvSpPr txBox="1"/>
          <p:nvPr>
            <p:ph idx="4294967295" type="sldNum"/>
          </p:nvPr>
        </p:nvSpPr>
        <p:spPr>
          <a:xfrm>
            <a:off x="10972800" y="6373368"/>
            <a:ext cx="667512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0677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6067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7"/>
          <p:cNvSpPr txBox="1"/>
          <p:nvPr/>
        </p:nvSpPr>
        <p:spPr>
          <a:xfrm>
            <a:off x="548640" y="329184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E7C89"/>
                </a:solidFill>
                <a:latin typeface="Calibri"/>
                <a:ea typeface="Calibri"/>
                <a:cs typeface="Calibri"/>
                <a:sym typeface="Calibri"/>
              </a:rPr>
              <a:t>ARQUITETURA E INTEGRAÇÕES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7"/>
          <p:cNvSpPr txBox="1"/>
          <p:nvPr>
            <p:ph type="title"/>
          </p:nvPr>
        </p:nvSpPr>
        <p:spPr>
          <a:xfrm>
            <a:off x="548640" y="603504"/>
            <a:ext cx="11094415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</a:pPr>
            <a:r>
              <a:rPr b="1" lang="en-US" sz="3600">
                <a:solidFill>
                  <a:schemeClr val="dk2"/>
                </a:solidFill>
              </a:rPr>
              <a:t>Integra com o seu ecossistema</a:t>
            </a:r>
            <a:endParaRPr sz="3600"/>
          </a:p>
        </p:txBody>
      </p:sp>
      <p:cxnSp>
        <p:nvCxnSpPr>
          <p:cNvPr id="233" name="Google Shape;233;p7"/>
          <p:cNvCxnSpPr/>
          <p:nvPr/>
        </p:nvCxnSpPr>
        <p:spPr>
          <a:xfrm>
            <a:off x="6095848" y="2084832"/>
            <a:ext cx="0" cy="1828800"/>
          </a:xfrm>
          <a:prstGeom prst="straightConnector1">
            <a:avLst/>
          </a:prstGeom>
          <a:noFill/>
          <a:ln cap="flat" cmpd="sng" w="19050">
            <a:solidFill>
              <a:srgbClr val="9FB3C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4" name="Google Shape;234;p7"/>
          <p:cNvCxnSpPr/>
          <p:nvPr/>
        </p:nvCxnSpPr>
        <p:spPr>
          <a:xfrm flipH="1" rot="10800000">
            <a:off x="6095848" y="2620475"/>
            <a:ext cx="2941932" cy="1293157"/>
          </a:xfrm>
          <a:prstGeom prst="straightConnector1">
            <a:avLst/>
          </a:prstGeom>
          <a:noFill/>
          <a:ln cap="flat" cmpd="sng" w="19050">
            <a:solidFill>
              <a:srgbClr val="9FB3C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5" name="Google Shape;235;p7"/>
          <p:cNvCxnSpPr/>
          <p:nvPr/>
        </p:nvCxnSpPr>
        <p:spPr>
          <a:xfrm>
            <a:off x="6095848" y="3913632"/>
            <a:ext cx="4160520" cy="0"/>
          </a:xfrm>
          <a:prstGeom prst="straightConnector1">
            <a:avLst/>
          </a:prstGeom>
          <a:noFill/>
          <a:ln cap="flat" cmpd="sng" w="19050">
            <a:solidFill>
              <a:srgbClr val="9FB3C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6" name="Google Shape;236;p7"/>
          <p:cNvCxnSpPr/>
          <p:nvPr/>
        </p:nvCxnSpPr>
        <p:spPr>
          <a:xfrm>
            <a:off x="6095848" y="3913632"/>
            <a:ext cx="2941932" cy="1293157"/>
          </a:xfrm>
          <a:prstGeom prst="straightConnector1">
            <a:avLst/>
          </a:prstGeom>
          <a:noFill/>
          <a:ln cap="flat" cmpd="sng" w="19050">
            <a:solidFill>
              <a:srgbClr val="9FB3C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7" name="Google Shape;237;p7"/>
          <p:cNvCxnSpPr/>
          <p:nvPr/>
        </p:nvCxnSpPr>
        <p:spPr>
          <a:xfrm>
            <a:off x="6095848" y="3913632"/>
            <a:ext cx="0" cy="1828800"/>
          </a:xfrm>
          <a:prstGeom prst="straightConnector1">
            <a:avLst/>
          </a:prstGeom>
          <a:noFill/>
          <a:ln cap="flat" cmpd="sng" w="19050">
            <a:solidFill>
              <a:srgbClr val="9FB3C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8" name="Google Shape;238;p7"/>
          <p:cNvCxnSpPr/>
          <p:nvPr/>
        </p:nvCxnSpPr>
        <p:spPr>
          <a:xfrm flipH="1" rot="10800000">
            <a:off x="3153916" y="3913632"/>
            <a:ext cx="2941932" cy="1293157"/>
          </a:xfrm>
          <a:prstGeom prst="straightConnector1">
            <a:avLst/>
          </a:prstGeom>
          <a:noFill/>
          <a:ln cap="flat" cmpd="sng" w="19050">
            <a:solidFill>
              <a:srgbClr val="9FB3C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9" name="Google Shape;239;p7"/>
          <p:cNvCxnSpPr/>
          <p:nvPr/>
        </p:nvCxnSpPr>
        <p:spPr>
          <a:xfrm>
            <a:off x="1935328" y="3913632"/>
            <a:ext cx="4160520" cy="0"/>
          </a:xfrm>
          <a:prstGeom prst="straightConnector1">
            <a:avLst/>
          </a:prstGeom>
          <a:noFill/>
          <a:ln cap="flat" cmpd="sng" w="19050">
            <a:solidFill>
              <a:srgbClr val="9FB3C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0" name="Google Shape;240;p7"/>
          <p:cNvCxnSpPr/>
          <p:nvPr/>
        </p:nvCxnSpPr>
        <p:spPr>
          <a:xfrm>
            <a:off x="3153916" y="2620475"/>
            <a:ext cx="2941932" cy="1293157"/>
          </a:xfrm>
          <a:prstGeom prst="straightConnector1">
            <a:avLst/>
          </a:prstGeom>
          <a:noFill/>
          <a:ln cap="flat" cmpd="sng" w="19050">
            <a:solidFill>
              <a:srgbClr val="9FB3C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1" name="Google Shape;241;p7"/>
          <p:cNvSpPr/>
          <p:nvPr/>
        </p:nvSpPr>
        <p:spPr>
          <a:xfrm>
            <a:off x="4861408" y="2679192"/>
            <a:ext cx="2468880" cy="2468880"/>
          </a:xfrm>
          <a:prstGeom prst="ellipse">
            <a:avLst/>
          </a:prstGeom>
          <a:solidFill>
            <a:schemeClr val="dk2"/>
          </a:solidFill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sym_finbrain.png" id="242" name="Google Shape;24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38648" y="2953512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7"/>
          <p:cNvSpPr txBox="1"/>
          <p:nvPr/>
        </p:nvSpPr>
        <p:spPr>
          <a:xfrm>
            <a:off x="4998568" y="3959352"/>
            <a:ext cx="21945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FinBrain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SynapseAI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7"/>
          <p:cNvSpPr/>
          <p:nvPr/>
        </p:nvSpPr>
        <p:spPr>
          <a:xfrm>
            <a:off x="4907128" y="1746504"/>
            <a:ext cx="2377440" cy="676656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7"/>
          <p:cNvSpPr/>
          <p:nvPr/>
        </p:nvSpPr>
        <p:spPr>
          <a:xfrm>
            <a:off x="5044288" y="1856232"/>
            <a:ext cx="457200" cy="457200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46" name="Google Shape;246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58588" y="1970532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7"/>
          <p:cNvSpPr txBox="1"/>
          <p:nvPr/>
        </p:nvSpPr>
        <p:spPr>
          <a:xfrm>
            <a:off x="5620360" y="1746504"/>
            <a:ext cx="1554480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ERP corporativo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7"/>
          <p:cNvSpPr/>
          <p:nvPr/>
        </p:nvSpPr>
        <p:spPr>
          <a:xfrm>
            <a:off x="7849060" y="2282147"/>
            <a:ext cx="2377440" cy="676656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7"/>
          <p:cNvSpPr/>
          <p:nvPr/>
        </p:nvSpPr>
        <p:spPr>
          <a:xfrm>
            <a:off x="7986220" y="2391875"/>
            <a:ext cx="457200" cy="4572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0" name="Google Shape;250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00520" y="2506175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7"/>
          <p:cNvSpPr txBox="1"/>
          <p:nvPr/>
        </p:nvSpPr>
        <p:spPr>
          <a:xfrm>
            <a:off x="8562292" y="2282147"/>
            <a:ext cx="1554480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Data warehouse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7"/>
          <p:cNvSpPr/>
          <p:nvPr/>
        </p:nvSpPr>
        <p:spPr>
          <a:xfrm>
            <a:off x="9067648" y="3575304"/>
            <a:ext cx="2377440" cy="676656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7"/>
          <p:cNvSpPr/>
          <p:nvPr/>
        </p:nvSpPr>
        <p:spPr>
          <a:xfrm>
            <a:off x="9204808" y="3685032"/>
            <a:ext cx="457200" cy="457200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4" name="Google Shape;254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319108" y="3799332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7"/>
          <p:cNvSpPr txBox="1"/>
          <p:nvPr/>
        </p:nvSpPr>
        <p:spPr>
          <a:xfrm>
            <a:off x="9780880" y="3575304"/>
            <a:ext cx="1554480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Planilhas orçamentárias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7"/>
          <p:cNvSpPr/>
          <p:nvPr/>
        </p:nvSpPr>
        <p:spPr>
          <a:xfrm>
            <a:off x="7849060" y="4868461"/>
            <a:ext cx="2377440" cy="676656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7"/>
          <p:cNvSpPr/>
          <p:nvPr/>
        </p:nvSpPr>
        <p:spPr>
          <a:xfrm>
            <a:off x="7986220" y="4978189"/>
            <a:ext cx="457200" cy="4572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8" name="Google Shape;258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100520" y="5092489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7"/>
          <p:cNvSpPr txBox="1"/>
          <p:nvPr/>
        </p:nvSpPr>
        <p:spPr>
          <a:xfrm>
            <a:off x="8562292" y="4868461"/>
            <a:ext cx="1554480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PDFs contábeis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7"/>
          <p:cNvSpPr/>
          <p:nvPr/>
        </p:nvSpPr>
        <p:spPr>
          <a:xfrm>
            <a:off x="4907128" y="5404104"/>
            <a:ext cx="2377440" cy="676656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7"/>
          <p:cNvSpPr/>
          <p:nvPr/>
        </p:nvSpPr>
        <p:spPr>
          <a:xfrm>
            <a:off x="5044288" y="5513832"/>
            <a:ext cx="457200" cy="457200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62" name="Google Shape;262;p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158588" y="5628132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7"/>
          <p:cNvSpPr txBox="1"/>
          <p:nvPr/>
        </p:nvSpPr>
        <p:spPr>
          <a:xfrm>
            <a:off x="5620360" y="5404104"/>
            <a:ext cx="1554480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BI (REST / GraphQL)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7"/>
          <p:cNvSpPr/>
          <p:nvPr/>
        </p:nvSpPr>
        <p:spPr>
          <a:xfrm>
            <a:off x="1965196" y="4868461"/>
            <a:ext cx="2377440" cy="676656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7"/>
          <p:cNvSpPr/>
          <p:nvPr/>
        </p:nvSpPr>
        <p:spPr>
          <a:xfrm>
            <a:off x="2102356" y="4978189"/>
            <a:ext cx="457200" cy="4572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66" name="Google Shape;266;p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216656" y="5092489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7"/>
          <p:cNvSpPr txBox="1"/>
          <p:nvPr/>
        </p:nvSpPr>
        <p:spPr>
          <a:xfrm>
            <a:off x="2678428" y="4868461"/>
            <a:ext cx="1554480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SSO / provedor de identidade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7"/>
          <p:cNvSpPr/>
          <p:nvPr/>
        </p:nvSpPr>
        <p:spPr>
          <a:xfrm>
            <a:off x="746608" y="3575304"/>
            <a:ext cx="2377440" cy="676656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7"/>
          <p:cNvSpPr/>
          <p:nvPr/>
        </p:nvSpPr>
        <p:spPr>
          <a:xfrm>
            <a:off x="883768" y="3685032"/>
            <a:ext cx="457200" cy="457200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70" name="Google Shape;270;p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98068" y="3799332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7"/>
          <p:cNvSpPr txBox="1"/>
          <p:nvPr/>
        </p:nvSpPr>
        <p:spPr>
          <a:xfrm>
            <a:off x="1459840" y="3575304"/>
            <a:ext cx="1554480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API REST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7"/>
          <p:cNvSpPr/>
          <p:nvPr/>
        </p:nvSpPr>
        <p:spPr>
          <a:xfrm>
            <a:off x="1965196" y="2282147"/>
            <a:ext cx="2377440" cy="676656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7"/>
          <p:cNvSpPr/>
          <p:nvPr/>
        </p:nvSpPr>
        <p:spPr>
          <a:xfrm>
            <a:off x="2102356" y="2391875"/>
            <a:ext cx="457200" cy="4572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74" name="Google Shape;274;p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2216656" y="2506175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7"/>
          <p:cNvSpPr txBox="1"/>
          <p:nvPr/>
        </p:nvSpPr>
        <p:spPr>
          <a:xfrm>
            <a:off x="2678428" y="2282147"/>
            <a:ext cx="1554480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Cofre de credenciais e KMS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7"/>
          <p:cNvSpPr txBox="1"/>
          <p:nvPr>
            <p:ph idx="4294967295" type="sldNum"/>
          </p:nvPr>
        </p:nvSpPr>
        <p:spPr>
          <a:xfrm>
            <a:off x="10972800" y="6373368"/>
            <a:ext cx="667512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0677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6067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8"/>
          <p:cNvSpPr txBox="1"/>
          <p:nvPr/>
        </p:nvSpPr>
        <p:spPr>
          <a:xfrm>
            <a:off x="548640" y="329184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E7C89"/>
                </a:solidFill>
                <a:latin typeface="Calibri"/>
                <a:ea typeface="Calibri"/>
                <a:cs typeface="Calibri"/>
                <a:sym typeface="Calibri"/>
              </a:rPr>
              <a:t>SEGURANÇA E COMPLIANCE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8"/>
          <p:cNvSpPr txBox="1"/>
          <p:nvPr>
            <p:ph type="title"/>
          </p:nvPr>
        </p:nvSpPr>
        <p:spPr>
          <a:xfrm>
            <a:off x="548640" y="603504"/>
            <a:ext cx="11094415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</a:pPr>
            <a:r>
              <a:rPr b="1" lang="en-US" sz="3600">
                <a:solidFill>
                  <a:schemeClr val="dk2"/>
                </a:solidFill>
              </a:rPr>
              <a:t>Segurança e conformidade</a:t>
            </a:r>
            <a:endParaRPr sz="3600"/>
          </a:p>
        </p:txBody>
      </p:sp>
      <p:sp>
        <p:nvSpPr>
          <p:cNvPr id="284" name="Google Shape;284;p8"/>
          <p:cNvSpPr/>
          <p:nvPr/>
        </p:nvSpPr>
        <p:spPr>
          <a:xfrm>
            <a:off x="548640" y="1691640"/>
            <a:ext cx="3593592" cy="2011680"/>
          </a:xfrm>
          <a:prstGeom prst="roundRect">
            <a:avLst>
              <a:gd fmla="val 6364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8"/>
          <p:cNvSpPr/>
          <p:nvPr/>
        </p:nvSpPr>
        <p:spPr>
          <a:xfrm>
            <a:off x="822960" y="1965960"/>
            <a:ext cx="640080" cy="640080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86" name="Google Shape;28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2980" y="212598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8"/>
          <p:cNvSpPr txBox="1"/>
          <p:nvPr/>
        </p:nvSpPr>
        <p:spPr>
          <a:xfrm>
            <a:off x="1645920" y="1965960"/>
            <a:ext cx="2331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Isolamento por cliente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8"/>
          <p:cNvSpPr txBox="1"/>
          <p:nvPr/>
        </p:nvSpPr>
        <p:spPr>
          <a:xfrm>
            <a:off x="822960" y="2788920"/>
            <a:ext cx="3063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Banco vetorial, dados e chaves exclusivos do seu tenant.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8"/>
          <p:cNvSpPr/>
          <p:nvPr/>
        </p:nvSpPr>
        <p:spPr>
          <a:xfrm>
            <a:off x="4297680" y="1691640"/>
            <a:ext cx="3593592" cy="2011680"/>
          </a:xfrm>
          <a:prstGeom prst="roundRect">
            <a:avLst>
              <a:gd fmla="val 6364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8"/>
          <p:cNvSpPr/>
          <p:nvPr/>
        </p:nvSpPr>
        <p:spPr>
          <a:xfrm>
            <a:off x="4572000" y="1965960"/>
            <a:ext cx="640080" cy="64008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1" name="Google Shape;291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32020" y="212598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8"/>
          <p:cNvSpPr txBox="1"/>
          <p:nvPr/>
        </p:nvSpPr>
        <p:spPr>
          <a:xfrm>
            <a:off x="5394960" y="1965960"/>
            <a:ext cx="2331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Criptografia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8"/>
          <p:cNvSpPr txBox="1"/>
          <p:nvPr/>
        </p:nvSpPr>
        <p:spPr>
          <a:xfrm>
            <a:off x="4572000" y="2788920"/>
            <a:ext cx="3063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Em trânsito e em repouso, com chaves por cliente.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8"/>
          <p:cNvSpPr/>
          <p:nvPr/>
        </p:nvSpPr>
        <p:spPr>
          <a:xfrm>
            <a:off x="8046720" y="1691640"/>
            <a:ext cx="3593592" cy="2011680"/>
          </a:xfrm>
          <a:prstGeom prst="roundRect">
            <a:avLst>
              <a:gd fmla="val 6364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8"/>
          <p:cNvSpPr/>
          <p:nvPr/>
        </p:nvSpPr>
        <p:spPr>
          <a:xfrm>
            <a:off x="8321040" y="1965960"/>
            <a:ext cx="640080" cy="640080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6" name="Google Shape;296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81060" y="212598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8"/>
          <p:cNvSpPr txBox="1"/>
          <p:nvPr/>
        </p:nvSpPr>
        <p:spPr>
          <a:xfrm>
            <a:off x="9144000" y="1965960"/>
            <a:ext cx="2331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Acesso por perfil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8"/>
          <p:cNvSpPr txBox="1"/>
          <p:nvPr/>
        </p:nvSpPr>
        <p:spPr>
          <a:xfrm>
            <a:off x="8321040" y="2788920"/>
            <a:ext cx="3063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RBAC integrado ao seu SSO, com escopo por unidade e centro de custo.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8"/>
          <p:cNvSpPr/>
          <p:nvPr/>
        </p:nvSpPr>
        <p:spPr>
          <a:xfrm>
            <a:off x="548640" y="3886200"/>
            <a:ext cx="3593592" cy="2011680"/>
          </a:xfrm>
          <a:prstGeom prst="roundRect">
            <a:avLst>
              <a:gd fmla="val 6364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8"/>
          <p:cNvSpPr/>
          <p:nvPr/>
        </p:nvSpPr>
        <p:spPr>
          <a:xfrm>
            <a:off x="822960" y="4160520"/>
            <a:ext cx="640080" cy="64008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01" name="Google Shape;301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82980" y="432054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8"/>
          <p:cNvSpPr txBox="1"/>
          <p:nvPr/>
        </p:nvSpPr>
        <p:spPr>
          <a:xfrm>
            <a:off x="1645920" y="4160520"/>
            <a:ext cx="2331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Trilha de auditoria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8"/>
          <p:cNvSpPr txBox="1"/>
          <p:nvPr/>
        </p:nvSpPr>
        <p:spPr>
          <a:xfrm>
            <a:off x="822960" y="4983480"/>
            <a:ext cx="3063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Pergunta, fontes, versão da base e cálculo registrados.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8"/>
          <p:cNvSpPr/>
          <p:nvPr/>
        </p:nvSpPr>
        <p:spPr>
          <a:xfrm>
            <a:off x="4297680" y="3886200"/>
            <a:ext cx="3593592" cy="2011680"/>
          </a:xfrm>
          <a:prstGeom prst="roundRect">
            <a:avLst>
              <a:gd fmla="val 6364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8"/>
          <p:cNvSpPr/>
          <p:nvPr/>
        </p:nvSpPr>
        <p:spPr>
          <a:xfrm>
            <a:off x="4572000" y="4160520"/>
            <a:ext cx="640080" cy="640080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06" name="Google Shape;306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32020" y="432054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8"/>
          <p:cNvSpPr txBox="1"/>
          <p:nvPr/>
        </p:nvSpPr>
        <p:spPr>
          <a:xfrm>
            <a:off x="5394960" y="4160520"/>
            <a:ext cx="2331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Guardrails financeiros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8"/>
          <p:cNvSpPr txBox="1"/>
          <p:nvPr/>
        </p:nvSpPr>
        <p:spPr>
          <a:xfrm>
            <a:off x="4572000" y="4983480"/>
            <a:ext cx="3063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Fundamentação, coerência numérica e permissão antes da entrega.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8"/>
          <p:cNvSpPr/>
          <p:nvPr/>
        </p:nvSpPr>
        <p:spPr>
          <a:xfrm>
            <a:off x="8046720" y="3886200"/>
            <a:ext cx="3593592" cy="2011680"/>
          </a:xfrm>
          <a:prstGeom prst="roundRect">
            <a:avLst>
              <a:gd fmla="val 6364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8"/>
          <p:cNvSpPr/>
          <p:nvPr/>
        </p:nvSpPr>
        <p:spPr>
          <a:xfrm>
            <a:off x="8321040" y="4160520"/>
            <a:ext cx="640080" cy="64008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11" name="Google Shape;311;p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481060" y="432054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8"/>
          <p:cNvSpPr txBox="1"/>
          <p:nvPr/>
        </p:nvSpPr>
        <p:spPr>
          <a:xfrm>
            <a:off x="9144000" y="4160520"/>
            <a:ext cx="2331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LGPD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8"/>
          <p:cNvSpPr txBox="1"/>
          <p:nvPr/>
        </p:nvSpPr>
        <p:spPr>
          <a:xfrm>
            <a:off x="8321040" y="4983480"/>
            <a:ext cx="3063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Minimização, controle de acesso e retenção configurável.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8"/>
          <p:cNvSpPr txBox="1"/>
          <p:nvPr>
            <p:ph idx="4294967295" type="sldNum"/>
          </p:nvPr>
        </p:nvSpPr>
        <p:spPr>
          <a:xfrm>
            <a:off x="10972800" y="6373368"/>
            <a:ext cx="667512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0677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6067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9"/>
          <p:cNvSpPr txBox="1"/>
          <p:nvPr/>
        </p:nvSpPr>
        <p:spPr>
          <a:xfrm>
            <a:off x="548640" y="329184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E7C89"/>
                </a:solidFill>
                <a:latin typeface="Calibri"/>
                <a:ea typeface="Calibri"/>
                <a:cs typeface="Calibri"/>
                <a:sym typeface="Calibri"/>
              </a:rPr>
              <a:t>ESCOPO DA PROPOSTA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9"/>
          <p:cNvSpPr txBox="1"/>
          <p:nvPr>
            <p:ph type="title"/>
          </p:nvPr>
        </p:nvSpPr>
        <p:spPr>
          <a:xfrm>
            <a:off x="548640" y="603504"/>
            <a:ext cx="11094415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</a:pPr>
            <a:r>
              <a:rPr b="1" lang="en-US" sz="3600">
                <a:solidFill>
                  <a:schemeClr val="dk2"/>
                </a:solidFill>
              </a:rPr>
              <a:t>Escopo, fases e entregáveis</a:t>
            </a:r>
            <a:endParaRPr sz="3600"/>
          </a:p>
        </p:txBody>
      </p:sp>
      <p:graphicFrame>
        <p:nvGraphicFramePr>
          <p:cNvPr id="322" name="Google Shape;322;p9"/>
          <p:cNvGraphicFramePr/>
          <p:nvPr/>
        </p:nvGraphicFramePr>
        <p:xfrm>
          <a:off x="548640" y="16916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{B6638F94-3199-45B2-A4C9-2312ADF1B061}</a:tableStyleId>
              </a:tblPr>
              <a:tblGrid>
                <a:gridCol w="2286000"/>
                <a:gridCol w="5394950"/>
                <a:gridCol w="2194550"/>
                <a:gridCol w="1218900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chemeClr val="lt1"/>
                          </a:solidFill>
                        </a:rPr>
                        <a:t>Fase</a:t>
                      </a:r>
                      <a:endParaRPr sz="13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chemeClr val="lt1"/>
                          </a:solidFill>
                        </a:rPr>
                        <a:t>Entregáveis</a:t>
                      </a:r>
                      <a:endParaRPr sz="13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chemeClr val="lt1"/>
                          </a:solidFill>
                        </a:rPr>
                        <a:t>Responsáveis</a:t>
                      </a:r>
                      <a:endParaRPr sz="13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chemeClr val="lt1"/>
                          </a:solidFill>
                        </a:rPr>
                        <a:t>Duração</a:t>
                      </a:r>
                      <a:endParaRPr sz="13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960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chemeClr val="dk2"/>
                          </a:solidFill>
                        </a:rPr>
                        <a:t>Fase 0 · Prova de conceito</a:t>
                      </a:r>
                      <a:endParaRPr sz="13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1 ERP e 1 data warehouse conectados; catálogo com 20 métricas; 30 usuários-piloto; 2 relatórios executivos; relatório de resultados da PoC</a:t>
                      </a:r>
                      <a:endParaRPr sz="12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SynapseAI + Controladoria</a:t>
                      </a:r>
                      <a:endParaRPr sz="12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chemeClr val="dk2"/>
                          </a:solidFill>
                        </a:rPr>
                        <a:t>6 semanas</a:t>
                      </a:r>
                      <a:endParaRPr sz="13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4F7"/>
                    </a:solidFill>
                  </a:tcPr>
                </a:tc>
              </a:tr>
              <a:tr h="960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chemeClr val="dk2"/>
                          </a:solidFill>
                        </a:rPr>
                        <a:t>Fase 1 · Implantação</a:t>
                      </a:r>
                      <a:endParaRPr sz="13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Até 4 fontes; SSO e RBAC; catálogo semântico com 100 métricas; 3 modelos de relatório; homologação de segurança; treinamento de 3 turmas</a:t>
                      </a:r>
                      <a:endParaRPr sz="12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SynapseAI + TI do cliente</a:t>
                      </a:r>
                      <a:endParaRPr sz="12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chemeClr val="dk2"/>
                          </a:solidFill>
                        </a:rPr>
                        <a:t>14 semanas</a:t>
                      </a:r>
                      <a:endParaRPr sz="13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960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chemeClr val="dk2"/>
                          </a:solidFill>
                        </a:rPr>
                        <a:t>Fase 2 · Operação assistida</a:t>
                      </a:r>
                      <a:endParaRPr sz="13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Acompanhamento por Customer Success, ajustes de qualidade, revisão do catálogo e relatório mensal de uso</a:t>
                      </a:r>
                      <a:endParaRPr sz="12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Customer Success</a:t>
                      </a:r>
                      <a:endParaRPr sz="12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chemeClr val="dk2"/>
                          </a:solidFill>
                        </a:rPr>
                        <a:t>90 dias</a:t>
                      </a:r>
                      <a:endParaRPr sz="13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323" name="Google Shape;323;p9"/>
          <p:cNvSpPr/>
          <p:nvPr/>
        </p:nvSpPr>
        <p:spPr>
          <a:xfrm>
            <a:off x="548640" y="5349240"/>
            <a:ext cx="11094415" cy="731520"/>
          </a:xfrm>
          <a:prstGeom prst="roundRect">
            <a:avLst>
              <a:gd fmla="val 17500" name="adj"/>
            </a:avLst>
          </a:prstGeom>
          <a:solidFill>
            <a:srgbClr val="F2F4F7"/>
          </a:solidFill>
          <a:ln cap="flat" cmpd="sng" w="12700">
            <a:solidFill>
              <a:srgbClr val="F2F4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9"/>
          <p:cNvSpPr txBox="1"/>
          <p:nvPr/>
        </p:nvSpPr>
        <p:spPr>
          <a:xfrm>
            <a:off x="822960" y="5349240"/>
            <a:ext cx="10545775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Premissas do cenário de referência:  </a:t>
            </a: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120 usuários · 4 fontes de dados · nuvem privada. Itens fora do escopo (integrações adicionais, customizações e ambientes extras) são orçados à parte.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9"/>
          <p:cNvSpPr txBox="1"/>
          <p:nvPr>
            <p:ph idx="4294967295" type="sldNum"/>
          </p:nvPr>
        </p:nvSpPr>
        <p:spPr>
          <a:xfrm>
            <a:off x="10972800" y="6373368"/>
            <a:ext cx="667512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0677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6067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10"/>
          <p:cNvSpPr txBox="1"/>
          <p:nvPr/>
        </p:nvSpPr>
        <p:spPr>
          <a:xfrm>
            <a:off x="548640" y="329184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E7C89"/>
                </a:solidFill>
                <a:latin typeface="Calibri"/>
                <a:ea typeface="Calibri"/>
                <a:cs typeface="Calibri"/>
                <a:sym typeface="Calibri"/>
              </a:rPr>
              <a:t>CRONOGRAMA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0"/>
          <p:cNvSpPr txBox="1"/>
          <p:nvPr>
            <p:ph type="title"/>
          </p:nvPr>
        </p:nvSpPr>
        <p:spPr>
          <a:xfrm>
            <a:off x="548640" y="603504"/>
            <a:ext cx="11094415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</a:pPr>
            <a:r>
              <a:rPr b="1" lang="en-US" sz="3600">
                <a:solidFill>
                  <a:schemeClr val="dk2"/>
                </a:solidFill>
              </a:rPr>
              <a:t>Cronograma até o go-live e a operação</a:t>
            </a:r>
            <a:endParaRPr sz="3600"/>
          </a:p>
        </p:txBody>
      </p:sp>
      <p:cxnSp>
        <p:nvCxnSpPr>
          <p:cNvPr id="333" name="Google Shape;333;p10"/>
          <p:cNvCxnSpPr/>
          <p:nvPr/>
        </p:nvCxnSpPr>
        <p:spPr>
          <a:xfrm>
            <a:off x="914400" y="3822192"/>
            <a:ext cx="10360152" cy="0"/>
          </a:xfrm>
          <a:prstGeom prst="straightConnector1">
            <a:avLst/>
          </a:prstGeom>
          <a:noFill/>
          <a:ln cap="flat" cmpd="sng" w="31750">
            <a:solidFill>
              <a:srgbClr val="9FB3C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4" name="Google Shape;334;p10"/>
          <p:cNvSpPr/>
          <p:nvPr/>
        </p:nvSpPr>
        <p:spPr>
          <a:xfrm>
            <a:off x="978408" y="3429000"/>
            <a:ext cx="786384" cy="786384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5" name="Google Shape;335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75004" y="3625596"/>
            <a:ext cx="393192" cy="393192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10"/>
          <p:cNvSpPr txBox="1"/>
          <p:nvPr/>
        </p:nvSpPr>
        <p:spPr>
          <a:xfrm>
            <a:off x="502920" y="3246120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7C89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E7C89"/>
                </a:solidFill>
                <a:latin typeface="Calibri"/>
                <a:ea typeface="Calibri"/>
                <a:cs typeface="Calibri"/>
                <a:sym typeface="Calibri"/>
              </a:rPr>
              <a:t>Sem. 1–2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0"/>
          <p:cNvSpPr/>
          <p:nvPr/>
        </p:nvSpPr>
        <p:spPr>
          <a:xfrm>
            <a:off x="484632" y="1783080"/>
            <a:ext cx="1773936" cy="1463040"/>
          </a:xfrm>
          <a:prstGeom prst="roundRect">
            <a:avLst>
              <a:gd fmla="val 8750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10"/>
          <p:cNvSpPr txBox="1"/>
          <p:nvPr/>
        </p:nvSpPr>
        <p:spPr>
          <a:xfrm>
            <a:off x="594360" y="1892808"/>
            <a:ext cx="1554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Descoberta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0"/>
          <p:cNvSpPr txBox="1"/>
          <p:nvPr/>
        </p:nvSpPr>
        <p:spPr>
          <a:xfrm>
            <a:off x="594360" y="2404872"/>
            <a:ext cx="15544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Requisitos, fontes e critérios de sucesso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0"/>
          <p:cNvSpPr/>
          <p:nvPr/>
        </p:nvSpPr>
        <p:spPr>
          <a:xfrm>
            <a:off x="2871216" y="3429000"/>
            <a:ext cx="786384" cy="786384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41" name="Google Shape;341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67812" y="3625596"/>
            <a:ext cx="393192" cy="393192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10"/>
          <p:cNvSpPr txBox="1"/>
          <p:nvPr/>
        </p:nvSpPr>
        <p:spPr>
          <a:xfrm>
            <a:off x="2395728" y="4297680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7C89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E7C89"/>
                </a:solidFill>
                <a:latin typeface="Calibri"/>
                <a:ea typeface="Calibri"/>
                <a:cs typeface="Calibri"/>
                <a:sym typeface="Calibri"/>
              </a:rPr>
              <a:t>Sem. 3–8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0"/>
          <p:cNvSpPr/>
          <p:nvPr/>
        </p:nvSpPr>
        <p:spPr>
          <a:xfrm>
            <a:off x="2377440" y="4526280"/>
            <a:ext cx="1773936" cy="1463040"/>
          </a:xfrm>
          <a:prstGeom prst="roundRect">
            <a:avLst>
              <a:gd fmla="val 8750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10"/>
          <p:cNvSpPr txBox="1"/>
          <p:nvPr/>
        </p:nvSpPr>
        <p:spPr>
          <a:xfrm>
            <a:off x="2487168" y="4636008"/>
            <a:ext cx="1554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Prova de conceito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0"/>
          <p:cNvSpPr txBox="1"/>
          <p:nvPr/>
        </p:nvSpPr>
        <p:spPr>
          <a:xfrm>
            <a:off x="2487168" y="5148072"/>
            <a:ext cx="15544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6 semanas com dados do cliente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0"/>
          <p:cNvSpPr/>
          <p:nvPr/>
        </p:nvSpPr>
        <p:spPr>
          <a:xfrm>
            <a:off x="4764024" y="3429000"/>
            <a:ext cx="786384" cy="786384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47" name="Google Shape;347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60620" y="3625596"/>
            <a:ext cx="393192" cy="393192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10"/>
          <p:cNvSpPr txBox="1"/>
          <p:nvPr/>
        </p:nvSpPr>
        <p:spPr>
          <a:xfrm>
            <a:off x="4288536" y="3246120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7C89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E7C89"/>
                </a:solidFill>
                <a:latin typeface="Calibri"/>
                <a:ea typeface="Calibri"/>
                <a:cs typeface="Calibri"/>
                <a:sym typeface="Calibri"/>
              </a:rPr>
              <a:t>Sem. 9–16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0"/>
          <p:cNvSpPr/>
          <p:nvPr/>
        </p:nvSpPr>
        <p:spPr>
          <a:xfrm>
            <a:off x="4270248" y="1783080"/>
            <a:ext cx="1773936" cy="1463040"/>
          </a:xfrm>
          <a:prstGeom prst="roundRect">
            <a:avLst>
              <a:gd fmla="val 8750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10"/>
          <p:cNvSpPr txBox="1"/>
          <p:nvPr/>
        </p:nvSpPr>
        <p:spPr>
          <a:xfrm>
            <a:off x="4379976" y="1892808"/>
            <a:ext cx="1554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Integração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0"/>
          <p:cNvSpPr txBox="1"/>
          <p:nvPr/>
        </p:nvSpPr>
        <p:spPr>
          <a:xfrm>
            <a:off x="4379976" y="2404872"/>
            <a:ext cx="15544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Conectores, perfis e guardrails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0"/>
          <p:cNvSpPr/>
          <p:nvPr/>
        </p:nvSpPr>
        <p:spPr>
          <a:xfrm>
            <a:off x="6656832" y="3429000"/>
            <a:ext cx="786384" cy="786384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53" name="Google Shape;353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853428" y="3625596"/>
            <a:ext cx="393192" cy="393192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10"/>
          <p:cNvSpPr txBox="1"/>
          <p:nvPr/>
        </p:nvSpPr>
        <p:spPr>
          <a:xfrm>
            <a:off x="6181344" y="4297680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7C89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E7C89"/>
                </a:solidFill>
                <a:latin typeface="Calibri"/>
                <a:ea typeface="Calibri"/>
                <a:cs typeface="Calibri"/>
                <a:sym typeface="Calibri"/>
              </a:rPr>
              <a:t>Sem. 17–20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0"/>
          <p:cNvSpPr/>
          <p:nvPr/>
        </p:nvSpPr>
        <p:spPr>
          <a:xfrm>
            <a:off x="6163056" y="4526280"/>
            <a:ext cx="1773936" cy="1463040"/>
          </a:xfrm>
          <a:prstGeom prst="roundRect">
            <a:avLst>
              <a:gd fmla="val 8750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10"/>
          <p:cNvSpPr txBox="1"/>
          <p:nvPr/>
        </p:nvSpPr>
        <p:spPr>
          <a:xfrm>
            <a:off x="6272784" y="4636008"/>
            <a:ext cx="1554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Homologação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0"/>
          <p:cNvSpPr txBox="1"/>
          <p:nvPr/>
        </p:nvSpPr>
        <p:spPr>
          <a:xfrm>
            <a:off x="6272784" y="5148072"/>
            <a:ext cx="15544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Qualidade, segurança e carga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0"/>
          <p:cNvSpPr/>
          <p:nvPr/>
        </p:nvSpPr>
        <p:spPr>
          <a:xfrm>
            <a:off x="8549640" y="3429000"/>
            <a:ext cx="786384" cy="786384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59" name="Google Shape;359;p1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746236" y="3625596"/>
            <a:ext cx="393192" cy="393192"/>
          </a:xfrm>
          <a:prstGeom prst="rect">
            <a:avLst/>
          </a:prstGeom>
          <a:noFill/>
          <a:ln>
            <a:noFill/>
          </a:ln>
        </p:spPr>
      </p:pic>
      <p:sp>
        <p:nvSpPr>
          <p:cNvPr id="360" name="Google Shape;360;p10"/>
          <p:cNvSpPr txBox="1"/>
          <p:nvPr/>
        </p:nvSpPr>
        <p:spPr>
          <a:xfrm>
            <a:off x="8074152" y="3246120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7C89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E7C89"/>
                </a:solidFill>
                <a:latin typeface="Calibri"/>
                <a:ea typeface="Calibri"/>
                <a:cs typeface="Calibri"/>
                <a:sym typeface="Calibri"/>
              </a:rPr>
              <a:t>Sem. 21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0"/>
          <p:cNvSpPr/>
          <p:nvPr/>
        </p:nvSpPr>
        <p:spPr>
          <a:xfrm>
            <a:off x="8055864" y="1783080"/>
            <a:ext cx="1773936" cy="1463040"/>
          </a:xfrm>
          <a:prstGeom prst="roundRect">
            <a:avLst>
              <a:gd fmla="val 8750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10"/>
          <p:cNvSpPr txBox="1"/>
          <p:nvPr/>
        </p:nvSpPr>
        <p:spPr>
          <a:xfrm>
            <a:off x="8165592" y="1892808"/>
            <a:ext cx="1554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Go-live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0"/>
          <p:cNvSpPr txBox="1"/>
          <p:nvPr/>
        </p:nvSpPr>
        <p:spPr>
          <a:xfrm>
            <a:off x="8165592" y="2404872"/>
            <a:ext cx="15544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Entrada em produção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0"/>
          <p:cNvSpPr/>
          <p:nvPr/>
        </p:nvSpPr>
        <p:spPr>
          <a:xfrm>
            <a:off x="10442448" y="3429000"/>
            <a:ext cx="786384" cy="786384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65" name="Google Shape;365;p1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639044" y="3625596"/>
            <a:ext cx="393192" cy="393192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10"/>
          <p:cNvSpPr txBox="1"/>
          <p:nvPr/>
        </p:nvSpPr>
        <p:spPr>
          <a:xfrm>
            <a:off x="9966960" y="4297680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7C89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E7C89"/>
                </a:solidFill>
                <a:latin typeface="Calibri"/>
                <a:ea typeface="Calibri"/>
                <a:cs typeface="Calibri"/>
                <a:sym typeface="Calibri"/>
              </a:rPr>
              <a:t>Sem. 22–34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0"/>
          <p:cNvSpPr/>
          <p:nvPr/>
        </p:nvSpPr>
        <p:spPr>
          <a:xfrm>
            <a:off x="9948672" y="4526280"/>
            <a:ext cx="1773936" cy="1463040"/>
          </a:xfrm>
          <a:prstGeom prst="roundRect">
            <a:avLst>
              <a:gd fmla="val 8750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10"/>
          <p:cNvSpPr txBox="1"/>
          <p:nvPr/>
        </p:nvSpPr>
        <p:spPr>
          <a:xfrm>
            <a:off x="10058400" y="4636008"/>
            <a:ext cx="1554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Operação assistida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0"/>
          <p:cNvSpPr txBox="1"/>
          <p:nvPr/>
        </p:nvSpPr>
        <p:spPr>
          <a:xfrm>
            <a:off x="10058400" y="5148072"/>
            <a:ext cx="15544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Customer Success e melhoria contínua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0"/>
          <p:cNvSpPr txBox="1"/>
          <p:nvPr>
            <p:ph idx="4294967295" type="sldNum"/>
          </p:nvPr>
        </p:nvSpPr>
        <p:spPr>
          <a:xfrm>
            <a:off x="10972800" y="6373368"/>
            <a:ext cx="667512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0677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6067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11"/>
          <p:cNvSpPr txBox="1"/>
          <p:nvPr/>
        </p:nvSpPr>
        <p:spPr>
          <a:xfrm>
            <a:off x="548640" y="329184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E7C89"/>
                </a:solidFill>
                <a:latin typeface="Calibri"/>
                <a:ea typeface="Calibri"/>
                <a:cs typeface="Calibri"/>
                <a:sym typeface="Calibri"/>
              </a:rPr>
              <a:t>BUSINESS CASE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1"/>
          <p:cNvSpPr txBox="1"/>
          <p:nvPr>
            <p:ph type="title"/>
          </p:nvPr>
        </p:nvSpPr>
        <p:spPr>
          <a:xfrm>
            <a:off x="548640" y="603504"/>
            <a:ext cx="11094415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</a:pPr>
            <a:r>
              <a:rPr b="1" lang="en-US" sz="3600">
                <a:solidFill>
                  <a:schemeClr val="dk2"/>
                </a:solidFill>
              </a:rPr>
              <a:t>Retorno estimado do investimento</a:t>
            </a:r>
            <a:endParaRPr sz="3600"/>
          </a:p>
        </p:txBody>
      </p:sp>
      <p:sp>
        <p:nvSpPr>
          <p:cNvPr id="378" name="Google Shape;378;p11"/>
          <p:cNvSpPr/>
          <p:nvPr/>
        </p:nvSpPr>
        <p:spPr>
          <a:xfrm>
            <a:off x="548640" y="1691640"/>
            <a:ext cx="4754880" cy="3063240"/>
          </a:xfrm>
          <a:prstGeom prst="roundRect">
            <a:avLst>
              <a:gd fmla="val 4179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11"/>
          <p:cNvSpPr txBox="1"/>
          <p:nvPr/>
        </p:nvSpPr>
        <p:spPr>
          <a:xfrm>
            <a:off x="822960" y="1828800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E7C89"/>
                </a:solidFill>
                <a:latin typeface="Calibri"/>
                <a:ea typeface="Calibri"/>
                <a:cs typeface="Calibri"/>
                <a:sym typeface="Calibri"/>
              </a:rPr>
              <a:t>PREMISSAS (EDITÁVEIS)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1"/>
          <p:cNvSpPr txBox="1"/>
          <p:nvPr/>
        </p:nvSpPr>
        <p:spPr>
          <a:xfrm>
            <a:off x="822960" y="2240280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Usuários ativos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1"/>
          <p:cNvSpPr txBox="1"/>
          <p:nvPr/>
        </p:nvSpPr>
        <p:spPr>
          <a:xfrm>
            <a:off x="3657600" y="2240280"/>
            <a:ext cx="1417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120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1"/>
          <p:cNvSpPr txBox="1"/>
          <p:nvPr/>
        </p:nvSpPr>
        <p:spPr>
          <a:xfrm>
            <a:off x="822960" y="2697480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Horas economizadas por usuário/mês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1"/>
          <p:cNvSpPr txBox="1"/>
          <p:nvPr/>
        </p:nvSpPr>
        <p:spPr>
          <a:xfrm>
            <a:off x="3657600" y="2697480"/>
            <a:ext cx="1417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12 h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1"/>
          <p:cNvSpPr txBox="1"/>
          <p:nvPr/>
        </p:nvSpPr>
        <p:spPr>
          <a:xfrm>
            <a:off x="822960" y="3154680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Custo-hora médio carregado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1"/>
          <p:cNvSpPr txBox="1"/>
          <p:nvPr/>
        </p:nvSpPr>
        <p:spPr>
          <a:xfrm>
            <a:off x="3657600" y="3154680"/>
            <a:ext cx="1417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R$ 95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1"/>
          <p:cNvSpPr txBox="1"/>
          <p:nvPr/>
        </p:nvSpPr>
        <p:spPr>
          <a:xfrm>
            <a:off x="822960" y="3611880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Adoção no 1º ano pós go-live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1"/>
          <p:cNvSpPr txBox="1"/>
          <p:nvPr/>
        </p:nvSpPr>
        <p:spPr>
          <a:xfrm>
            <a:off x="3657600" y="3611880"/>
            <a:ext cx="1417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80%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1"/>
          <p:cNvSpPr/>
          <p:nvPr/>
        </p:nvSpPr>
        <p:spPr>
          <a:xfrm>
            <a:off x="548640" y="4937760"/>
            <a:ext cx="4754880" cy="1143000"/>
          </a:xfrm>
          <a:prstGeom prst="roundRect">
            <a:avLst>
              <a:gd fmla="val 11200" name="adj"/>
            </a:avLst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11"/>
          <p:cNvSpPr txBox="1"/>
          <p:nvPr/>
        </p:nvSpPr>
        <p:spPr>
          <a:xfrm>
            <a:off x="822960" y="5047488"/>
            <a:ext cx="4297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D6E0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7FD6E0"/>
                </a:solidFill>
                <a:latin typeface="Calibri"/>
                <a:ea typeface="Calibri"/>
                <a:cs typeface="Calibri"/>
                <a:sym typeface="Calibri"/>
              </a:rPr>
              <a:t>BENEFÍCIO ANUAL ESTIMADO (ADOÇÃO PLENA)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1"/>
          <p:cNvSpPr txBox="1"/>
          <p:nvPr/>
        </p:nvSpPr>
        <p:spPr>
          <a:xfrm>
            <a:off x="822960" y="5349240"/>
            <a:ext cx="42976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R$ 1,64 mi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91" name="Google Shape;391;p11"/>
          <p:cNvGraphicFramePr/>
          <p:nvPr/>
        </p:nvGraphicFramePr>
        <p:xfrm>
          <a:off x="5577840" y="1645920"/>
          <a:ext cx="6080760" cy="361188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392" name="Google Shape;392;p11"/>
          <p:cNvSpPr/>
          <p:nvPr/>
        </p:nvSpPr>
        <p:spPr>
          <a:xfrm>
            <a:off x="5577840" y="5394960"/>
            <a:ext cx="2971800" cy="713232"/>
          </a:xfrm>
          <a:prstGeom prst="roundRect">
            <a:avLst>
              <a:gd fmla="val 17949" name="adj"/>
            </a:avLst>
          </a:prstGeom>
          <a:solidFill>
            <a:srgbClr val="0E7C89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11"/>
          <p:cNvSpPr txBox="1"/>
          <p:nvPr/>
        </p:nvSpPr>
        <p:spPr>
          <a:xfrm>
            <a:off x="5760720" y="5394960"/>
            <a:ext cx="14173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8 meses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1"/>
          <p:cNvSpPr txBox="1"/>
          <p:nvPr/>
        </p:nvSpPr>
        <p:spPr>
          <a:xfrm>
            <a:off x="7178040" y="5394960"/>
            <a:ext cx="132588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payback a partir da assinatura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1"/>
          <p:cNvSpPr/>
          <p:nvPr/>
        </p:nvSpPr>
        <p:spPr>
          <a:xfrm>
            <a:off x="8686800" y="5394960"/>
            <a:ext cx="2971800" cy="713232"/>
          </a:xfrm>
          <a:prstGeom prst="roundRect">
            <a:avLst>
              <a:gd fmla="val 17949" name="adj"/>
            </a:avLst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11"/>
          <p:cNvSpPr txBox="1"/>
          <p:nvPr/>
        </p:nvSpPr>
        <p:spPr>
          <a:xfrm>
            <a:off x="8869680" y="5394960"/>
            <a:ext cx="14173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R$ 2,16 mi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1"/>
          <p:cNvSpPr txBox="1"/>
          <p:nvPr/>
        </p:nvSpPr>
        <p:spPr>
          <a:xfrm>
            <a:off x="10287000" y="5394960"/>
            <a:ext cx="132588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resultado líquido em 36 meses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1"/>
          <p:cNvSpPr txBox="1"/>
          <p:nvPr/>
        </p:nvSpPr>
        <p:spPr>
          <a:xfrm>
            <a:off x="548640" y="6126480"/>
            <a:ext cx="110642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Estimativa baseada em premissas informadas; não constitui garantia de resultado. 120 usuários × 12 h/mês × R$ 95/h × 12 meses.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1"/>
          <p:cNvSpPr txBox="1"/>
          <p:nvPr>
            <p:ph idx="4294967295" type="sldNum"/>
          </p:nvPr>
        </p:nvSpPr>
        <p:spPr>
          <a:xfrm>
            <a:off x="10972800" y="6373368"/>
            <a:ext cx="667512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0677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6067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12"/>
          <p:cNvSpPr txBox="1"/>
          <p:nvPr/>
        </p:nvSpPr>
        <p:spPr>
          <a:xfrm>
            <a:off x="548640" y="329184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E7C89"/>
                </a:solidFill>
                <a:latin typeface="Calibri"/>
                <a:ea typeface="Calibri"/>
                <a:cs typeface="Calibri"/>
                <a:sym typeface="Calibri"/>
              </a:rPr>
              <a:t>INVESTIMENTO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2"/>
          <p:cNvSpPr txBox="1"/>
          <p:nvPr>
            <p:ph type="title"/>
          </p:nvPr>
        </p:nvSpPr>
        <p:spPr>
          <a:xfrm>
            <a:off x="548640" y="603504"/>
            <a:ext cx="11094415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</a:pPr>
            <a:r>
              <a:rPr b="1" lang="en-US" sz="3600">
                <a:solidFill>
                  <a:schemeClr val="dk2"/>
                </a:solidFill>
              </a:rPr>
              <a:t>Investimento: pacote recomendado</a:t>
            </a:r>
            <a:endParaRPr sz="3600"/>
          </a:p>
        </p:txBody>
      </p:sp>
      <p:graphicFrame>
        <p:nvGraphicFramePr>
          <p:cNvPr id="407" name="Google Shape;407;p12"/>
          <p:cNvGraphicFramePr/>
          <p:nvPr/>
        </p:nvGraphicFramePr>
        <p:xfrm>
          <a:off x="548640" y="16459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{B6638F94-3199-45B2-A4C9-2312ADF1B061}</a:tableStyleId>
              </a:tblPr>
              <a:tblGrid>
                <a:gridCol w="2011675"/>
                <a:gridCol w="4846325"/>
                <a:gridCol w="2743200"/>
                <a:gridCol w="1493225"/>
              </a:tblGrid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chemeClr val="lt1"/>
                          </a:solidFill>
                        </a:rPr>
                        <a:t>Item</a:t>
                      </a:r>
                      <a:endParaRPr sz="13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chemeClr val="lt1"/>
                          </a:solidFill>
                        </a:rPr>
                        <a:t>O que inclui</a:t>
                      </a:r>
                      <a:endParaRPr sz="13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chemeClr val="lt1"/>
                          </a:solidFill>
                        </a:rPr>
                        <a:t>Modelo de cobrança</a:t>
                      </a:r>
                      <a:endParaRPr sz="13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chemeClr val="lt1"/>
                          </a:solidFill>
                        </a:rPr>
                        <a:t>Valor (R$)</a:t>
                      </a:r>
                      <a:endParaRPr sz="13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dk2"/>
                          </a:solidFill>
                        </a:rPr>
                        <a:t>Prova de conceito</a:t>
                      </a:r>
                      <a:endParaRPr sz="12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6 semanas · 1 ERP + 1 data warehouse · 20 métricas · 30 usuários-piloto</a:t>
                      </a:r>
                      <a:endParaRPr sz="12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Pontual · crédito integral na implantação se contratada em até 60 dias</a:t>
                      </a:r>
                      <a:endParaRPr sz="12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dk1"/>
                          </a:solidFill>
                        </a:rPr>
                        <a:t>R$ 60.000</a:t>
                      </a:r>
                      <a:endParaRPr sz="12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4F7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dk2"/>
                          </a:solidFill>
                        </a:rPr>
                        <a:t>Implantação</a:t>
                      </a:r>
                      <a:endParaRPr sz="12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4 fontes, SSO e RBAC, catálogo semântico (100 métricas), 3 modelos de relatório, treinamento</a:t>
                      </a:r>
                      <a:endParaRPr sz="12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Pontual · 40% assinatura, 40% homologação, 20% go-live</a:t>
                      </a:r>
                      <a:endParaRPr sz="12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dk1"/>
                          </a:solidFill>
                        </a:rPr>
                        <a:t>R$ 170.000</a:t>
                      </a:r>
                      <a:endParaRPr sz="12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dk2"/>
                          </a:solidFill>
                        </a:rPr>
                        <a:t>Licença de uso</a:t>
                      </a:r>
                      <a:endParaRPr sz="12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120 usuários × R$ 290/mês</a:t>
                      </a:r>
                      <a:endParaRPr sz="12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Anual, a partir do go-live</a:t>
                      </a:r>
                      <a:endParaRPr sz="12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dk1"/>
                          </a:solidFill>
                        </a:rPr>
                        <a:t>R$ 417.600</a:t>
                      </a:r>
                      <a:endParaRPr sz="12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4F7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dk2"/>
                          </a:solidFill>
                        </a:rPr>
                        <a:t>Plataforma gerenciada</a:t>
                      </a:r>
                      <a:endParaRPr sz="12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Hospedagem isolada, guardrails, observabilidade de IA, atualizações e Customer Success</a:t>
                      </a:r>
                      <a:endParaRPr sz="12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Anual, a partir do go-live</a:t>
                      </a:r>
                      <a:endParaRPr sz="12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dk1"/>
                          </a:solidFill>
                        </a:rPr>
                        <a:t>R$ 125.000</a:t>
                      </a:r>
                      <a:endParaRPr sz="12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dk2"/>
                          </a:solidFill>
                        </a:rPr>
                        <a:t>Suporte</a:t>
                      </a:r>
                      <a:endParaRPr sz="12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Suporte 24/7 para severidades 1 e 2, com plantão N3 e AI Ops</a:t>
                      </a:r>
                      <a:endParaRPr sz="12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Anual, a partir do go-live</a:t>
                      </a:r>
                      <a:endParaRPr sz="12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dk1"/>
                          </a:solidFill>
                        </a:rPr>
                        <a:t>R$ 70.000</a:t>
                      </a:r>
                      <a:endParaRPr sz="12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4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dk2"/>
                          </a:solidFill>
                        </a:rPr>
                        <a:t>Consumo</a:t>
                      </a:r>
                      <a:endParaRPr sz="12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Inclui até 50.000 consultas por mês; excedente de R$ 0,45 por consulta</a:t>
                      </a:r>
                      <a:endParaRPr sz="12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Incluso até o limite</a:t>
                      </a:r>
                      <a:endParaRPr sz="12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dk1"/>
                          </a:solidFill>
                        </a:rPr>
                        <a:t>Incluso</a:t>
                      </a:r>
                      <a:endParaRPr sz="12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408" name="Google Shape;408;p12"/>
          <p:cNvSpPr/>
          <p:nvPr/>
        </p:nvSpPr>
        <p:spPr>
          <a:xfrm>
            <a:off x="548640" y="5349240"/>
            <a:ext cx="3593592" cy="777240"/>
          </a:xfrm>
          <a:prstGeom prst="roundRect">
            <a:avLst>
              <a:gd fmla="val 16471" name="adj"/>
            </a:avLst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12"/>
          <p:cNvSpPr txBox="1"/>
          <p:nvPr/>
        </p:nvSpPr>
        <p:spPr>
          <a:xfrm>
            <a:off x="777240" y="5413248"/>
            <a:ext cx="3200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D6E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7FD6E0"/>
                </a:solidFill>
                <a:latin typeface="Calibri"/>
                <a:ea typeface="Calibri"/>
                <a:cs typeface="Calibri"/>
                <a:sym typeface="Calibri"/>
              </a:rPr>
              <a:t>IMPLANTAÇÃO (PONTUAL)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2"/>
          <p:cNvSpPr txBox="1"/>
          <p:nvPr/>
        </p:nvSpPr>
        <p:spPr>
          <a:xfrm>
            <a:off x="777240" y="5650992"/>
            <a:ext cx="3200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R$ 170.000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2"/>
          <p:cNvSpPr/>
          <p:nvPr/>
        </p:nvSpPr>
        <p:spPr>
          <a:xfrm>
            <a:off x="4297680" y="5349240"/>
            <a:ext cx="3593592" cy="777240"/>
          </a:xfrm>
          <a:prstGeom prst="roundRect">
            <a:avLst>
              <a:gd fmla="val 16471" name="adj"/>
            </a:avLst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12"/>
          <p:cNvSpPr txBox="1"/>
          <p:nvPr/>
        </p:nvSpPr>
        <p:spPr>
          <a:xfrm>
            <a:off x="4526280" y="5413248"/>
            <a:ext cx="3200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D6E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7FD6E0"/>
                </a:solidFill>
                <a:latin typeface="Calibri"/>
                <a:ea typeface="Calibri"/>
                <a:cs typeface="Calibri"/>
                <a:sym typeface="Calibri"/>
              </a:rPr>
              <a:t>RECORRENTE ANUAL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2"/>
          <p:cNvSpPr txBox="1"/>
          <p:nvPr/>
        </p:nvSpPr>
        <p:spPr>
          <a:xfrm>
            <a:off x="4526280" y="5650992"/>
            <a:ext cx="3200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R$ 612.600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2"/>
          <p:cNvSpPr/>
          <p:nvPr/>
        </p:nvSpPr>
        <p:spPr>
          <a:xfrm>
            <a:off x="8046720" y="5349240"/>
            <a:ext cx="3593592" cy="777240"/>
          </a:xfrm>
          <a:prstGeom prst="roundRect">
            <a:avLst>
              <a:gd fmla="val 16471" name="adj"/>
            </a:avLst>
          </a:prstGeom>
          <a:solidFill>
            <a:srgbClr val="0E7C89"/>
          </a:solidFill>
          <a:ln cap="flat" cmpd="sng" w="12700">
            <a:solidFill>
              <a:srgbClr val="0E7C8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12"/>
          <p:cNvSpPr txBox="1"/>
          <p:nvPr/>
        </p:nvSpPr>
        <p:spPr>
          <a:xfrm>
            <a:off x="8275320" y="5413248"/>
            <a:ext cx="3200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D6E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7FD6E0"/>
                </a:solidFill>
                <a:latin typeface="Calibri"/>
                <a:ea typeface="Calibri"/>
                <a:cs typeface="Calibri"/>
                <a:sym typeface="Calibri"/>
              </a:rPr>
              <a:t>INVESTIMENTO EM 36 MESES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2"/>
          <p:cNvSpPr txBox="1"/>
          <p:nvPr/>
        </p:nvSpPr>
        <p:spPr>
          <a:xfrm>
            <a:off x="8275320" y="5650992"/>
            <a:ext cx="3200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R$ 1.752.550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2"/>
          <p:cNvSpPr txBox="1"/>
          <p:nvPr/>
        </p:nvSpPr>
        <p:spPr>
          <a:xfrm>
            <a:off x="548640" y="6144768"/>
            <a:ext cx="110642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Equivale a ~R$ 425 por usuário/mês (≈ US$ 81), com licença, plataforma e suporte incluídos. Valores em R$, sem impostos; proposta de referência, sujeita a aprovação comercial.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2"/>
          <p:cNvSpPr txBox="1"/>
          <p:nvPr>
            <p:ph idx="4294967295" type="sldNum"/>
          </p:nvPr>
        </p:nvSpPr>
        <p:spPr>
          <a:xfrm>
            <a:off x="10972800" y="6373368"/>
            <a:ext cx="667512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0677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6067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13"/>
          <p:cNvSpPr txBox="1"/>
          <p:nvPr/>
        </p:nvSpPr>
        <p:spPr>
          <a:xfrm>
            <a:off x="548640" y="329184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E7C89"/>
                </a:solidFill>
                <a:latin typeface="Calibri"/>
                <a:ea typeface="Calibri"/>
                <a:cs typeface="Calibri"/>
                <a:sym typeface="Calibri"/>
              </a:rPr>
              <a:t>OPÇÕES DE CONTRATAÇÃO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3"/>
          <p:cNvSpPr txBox="1"/>
          <p:nvPr>
            <p:ph type="title"/>
          </p:nvPr>
        </p:nvSpPr>
        <p:spPr>
          <a:xfrm>
            <a:off x="548640" y="603504"/>
            <a:ext cx="11094415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</a:pPr>
            <a:r>
              <a:rPr b="1" lang="en-US" sz="3600">
                <a:solidFill>
                  <a:schemeClr val="dk2"/>
                </a:solidFill>
              </a:rPr>
              <a:t>Três pacotes para decidir</a:t>
            </a:r>
            <a:endParaRPr sz="3600"/>
          </a:p>
        </p:txBody>
      </p:sp>
      <p:sp>
        <p:nvSpPr>
          <p:cNvPr id="426" name="Google Shape;426;p13"/>
          <p:cNvSpPr/>
          <p:nvPr/>
        </p:nvSpPr>
        <p:spPr>
          <a:xfrm>
            <a:off x="548640" y="1691640"/>
            <a:ext cx="3593592" cy="4434840"/>
          </a:xfrm>
          <a:prstGeom prst="roundRect">
            <a:avLst>
              <a:gd fmla="val 4580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13"/>
          <p:cNvSpPr txBox="1"/>
          <p:nvPr/>
        </p:nvSpPr>
        <p:spPr>
          <a:xfrm>
            <a:off x="822960" y="1938528"/>
            <a:ext cx="3017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Essencial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3"/>
          <p:cNvSpPr txBox="1"/>
          <p:nvPr/>
        </p:nvSpPr>
        <p:spPr>
          <a:xfrm>
            <a:off x="822960" y="2377440"/>
            <a:ext cx="3063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Equipe piloto ou área única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3"/>
          <p:cNvSpPr txBox="1"/>
          <p:nvPr/>
        </p:nvSpPr>
        <p:spPr>
          <a:xfrm>
            <a:off x="822960" y="2743200"/>
            <a:ext cx="3063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9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0E7C89"/>
                </a:solidFill>
                <a:latin typeface="Calibri"/>
                <a:ea typeface="Calibri"/>
                <a:cs typeface="Calibri"/>
                <a:sym typeface="Calibri"/>
              </a:rPr>
              <a:t>R$ 284 mil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3"/>
          <p:cNvSpPr txBox="1"/>
          <p:nvPr/>
        </p:nvSpPr>
        <p:spPr>
          <a:xfrm>
            <a:off x="822960" y="3273552"/>
            <a:ext cx="3063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por ano a partir do go-live · implantação R$ 94 mil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31" name="Google Shape;431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960" y="3904488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432" name="Google Shape;432;p13"/>
          <p:cNvSpPr txBox="1"/>
          <p:nvPr/>
        </p:nvSpPr>
        <p:spPr>
          <a:xfrm>
            <a:off x="1115568" y="3840480"/>
            <a:ext cx="2880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Até 60 usuários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33" name="Google Shape;433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960" y="4334256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434" name="Google Shape;434;p13"/>
          <p:cNvSpPr txBox="1"/>
          <p:nvPr/>
        </p:nvSpPr>
        <p:spPr>
          <a:xfrm>
            <a:off x="1115568" y="4270248"/>
            <a:ext cx="2880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 fontes: ERP e data warehouse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35" name="Google Shape;43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960" y="4764024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13"/>
          <p:cNvSpPr txBox="1"/>
          <p:nvPr/>
        </p:nvSpPr>
        <p:spPr>
          <a:xfrm>
            <a:off x="1115568" y="4700016"/>
            <a:ext cx="2880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Catálogo com até 40 métricas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37" name="Google Shape;43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960" y="5193792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438" name="Google Shape;438;p13"/>
          <p:cNvSpPr txBox="1"/>
          <p:nvPr/>
        </p:nvSpPr>
        <p:spPr>
          <a:xfrm>
            <a:off x="1115568" y="5129784"/>
            <a:ext cx="2880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Suporte em horário comercial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39" name="Google Shape;439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960" y="562356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440" name="Google Shape;440;p13"/>
          <p:cNvSpPr txBox="1"/>
          <p:nvPr/>
        </p:nvSpPr>
        <p:spPr>
          <a:xfrm>
            <a:off x="1115568" y="5559552"/>
            <a:ext cx="2880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Nuvem privada dedicada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3"/>
          <p:cNvSpPr/>
          <p:nvPr/>
        </p:nvSpPr>
        <p:spPr>
          <a:xfrm>
            <a:off x="4297680" y="1691640"/>
            <a:ext cx="3593592" cy="4434840"/>
          </a:xfrm>
          <a:prstGeom prst="roundRect">
            <a:avLst>
              <a:gd fmla="val 4580" name="adj"/>
            </a:avLst>
          </a:prstGeom>
          <a:solidFill>
            <a:schemeClr val="dk2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13"/>
          <p:cNvSpPr/>
          <p:nvPr/>
        </p:nvSpPr>
        <p:spPr>
          <a:xfrm>
            <a:off x="5440680" y="1554480"/>
            <a:ext cx="1325880" cy="274320"/>
          </a:xfrm>
          <a:prstGeom prst="roundRect">
            <a:avLst>
              <a:gd fmla="val 50000" name="adj"/>
            </a:avLst>
          </a:prstGeom>
          <a:solidFill>
            <a:srgbClr val="0E7C89"/>
          </a:solidFill>
          <a:ln cap="flat" cmpd="sng" w="12700">
            <a:solidFill>
              <a:srgbClr val="0E7C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13"/>
          <p:cNvSpPr txBox="1"/>
          <p:nvPr/>
        </p:nvSpPr>
        <p:spPr>
          <a:xfrm>
            <a:off x="5440680" y="1554480"/>
            <a:ext cx="1325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RECOMENDADO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3"/>
          <p:cNvSpPr txBox="1"/>
          <p:nvPr/>
        </p:nvSpPr>
        <p:spPr>
          <a:xfrm>
            <a:off x="4572000" y="1938528"/>
            <a:ext cx="3017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Profissional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3"/>
          <p:cNvSpPr txBox="1"/>
          <p:nvPr/>
        </p:nvSpPr>
        <p:spPr>
          <a:xfrm>
            <a:off x="4572000" y="2377440"/>
            <a:ext cx="3063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C8D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B7C8DE"/>
                </a:solidFill>
                <a:latin typeface="Calibri"/>
                <a:ea typeface="Calibri"/>
                <a:cs typeface="Calibri"/>
                <a:sym typeface="Calibri"/>
              </a:rPr>
              <a:t>Controladoria e FP&amp;A em escala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3"/>
          <p:cNvSpPr txBox="1"/>
          <p:nvPr/>
        </p:nvSpPr>
        <p:spPr>
          <a:xfrm>
            <a:off x="4572000" y="2743200"/>
            <a:ext cx="3063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D6E0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7FD6E0"/>
                </a:solidFill>
                <a:latin typeface="Calibri"/>
                <a:ea typeface="Calibri"/>
                <a:cs typeface="Calibri"/>
                <a:sym typeface="Calibri"/>
              </a:rPr>
              <a:t>R$ 613 mil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3"/>
          <p:cNvSpPr txBox="1"/>
          <p:nvPr/>
        </p:nvSpPr>
        <p:spPr>
          <a:xfrm>
            <a:off x="4572000" y="3273552"/>
            <a:ext cx="3063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C8D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B7C8DE"/>
                </a:solidFill>
                <a:latin typeface="Calibri"/>
                <a:ea typeface="Calibri"/>
                <a:cs typeface="Calibri"/>
                <a:sym typeface="Calibri"/>
              </a:rPr>
              <a:t>por ano a partir do go-live · implantação R$ 170 mil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48" name="Google Shape;448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0" y="3904488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449" name="Google Shape;449;p13"/>
          <p:cNvSpPr txBox="1"/>
          <p:nvPr/>
        </p:nvSpPr>
        <p:spPr>
          <a:xfrm>
            <a:off x="4864608" y="3840480"/>
            <a:ext cx="2880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Até 120 usuários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50" name="Google Shape;450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0" y="4334256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451" name="Google Shape;451;p13"/>
          <p:cNvSpPr txBox="1"/>
          <p:nvPr/>
        </p:nvSpPr>
        <p:spPr>
          <a:xfrm>
            <a:off x="4864608" y="4270248"/>
            <a:ext cx="2880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 fontes: ERP, DW, planilhas e PDFs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52" name="Google Shape;452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0" y="4764024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453" name="Google Shape;453;p13"/>
          <p:cNvSpPr txBox="1"/>
          <p:nvPr/>
        </p:nvSpPr>
        <p:spPr>
          <a:xfrm>
            <a:off x="4864608" y="4700016"/>
            <a:ext cx="2880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Catálogo com até 100 métricas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54" name="Google Shape;454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0" y="5193792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13"/>
          <p:cNvSpPr txBox="1"/>
          <p:nvPr/>
        </p:nvSpPr>
        <p:spPr>
          <a:xfrm>
            <a:off x="4864608" y="5129784"/>
            <a:ext cx="2880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Suporte 24/7 (severidades 1 e 2)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56" name="Google Shape;456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0" y="562356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457" name="Google Shape;457;p13"/>
          <p:cNvSpPr txBox="1"/>
          <p:nvPr/>
        </p:nvSpPr>
        <p:spPr>
          <a:xfrm>
            <a:off x="4864608" y="5559552"/>
            <a:ext cx="2880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Cenários e relatórios executivos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3"/>
          <p:cNvSpPr/>
          <p:nvPr/>
        </p:nvSpPr>
        <p:spPr>
          <a:xfrm>
            <a:off x="8046720" y="1691640"/>
            <a:ext cx="3593592" cy="4434840"/>
          </a:xfrm>
          <a:prstGeom prst="roundRect">
            <a:avLst>
              <a:gd fmla="val 4580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13"/>
          <p:cNvSpPr txBox="1"/>
          <p:nvPr/>
        </p:nvSpPr>
        <p:spPr>
          <a:xfrm>
            <a:off x="8321040" y="1938528"/>
            <a:ext cx="3017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Enterprise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13"/>
          <p:cNvSpPr txBox="1"/>
          <p:nvPr/>
        </p:nvSpPr>
        <p:spPr>
          <a:xfrm>
            <a:off x="8321040" y="2377440"/>
            <a:ext cx="3063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Grupo multiunidade e alta criticidade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3"/>
          <p:cNvSpPr txBox="1"/>
          <p:nvPr/>
        </p:nvSpPr>
        <p:spPr>
          <a:xfrm>
            <a:off x="8321040" y="2743200"/>
            <a:ext cx="3063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9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0E7C89"/>
                </a:solidFill>
                <a:latin typeface="Calibri"/>
                <a:ea typeface="Calibri"/>
                <a:cs typeface="Calibri"/>
                <a:sym typeface="Calibri"/>
              </a:rPr>
              <a:t>R$ 917 mil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3"/>
          <p:cNvSpPr txBox="1"/>
          <p:nvPr/>
        </p:nvSpPr>
        <p:spPr>
          <a:xfrm>
            <a:off x="8321040" y="3273552"/>
            <a:ext cx="3063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por ano a partir do go-live · implantação R$ 238 mil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63" name="Google Shape;463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21040" y="3904488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464" name="Google Shape;464;p13"/>
          <p:cNvSpPr txBox="1"/>
          <p:nvPr/>
        </p:nvSpPr>
        <p:spPr>
          <a:xfrm>
            <a:off x="8613648" y="3840480"/>
            <a:ext cx="2880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Até 190 usuários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65" name="Google Shape;46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21040" y="4334256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466" name="Google Shape;466;p13"/>
          <p:cNvSpPr txBox="1"/>
          <p:nvPr/>
        </p:nvSpPr>
        <p:spPr>
          <a:xfrm>
            <a:off x="8613648" y="4270248"/>
            <a:ext cx="2880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Fontes extras sob demanda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67" name="Google Shape;46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21040" y="4764024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468" name="Google Shape;468;p13"/>
          <p:cNvSpPr txBox="1"/>
          <p:nvPr/>
        </p:nvSpPr>
        <p:spPr>
          <a:xfrm>
            <a:off x="8613648" y="4700016"/>
            <a:ext cx="2880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Catálogo sem limite de métricas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69" name="Google Shape;469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21040" y="5193792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470" name="Google Shape;470;p13"/>
          <p:cNvSpPr txBox="1"/>
          <p:nvPr/>
        </p:nvSpPr>
        <p:spPr>
          <a:xfrm>
            <a:off x="8613648" y="5129784"/>
            <a:ext cx="2880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24/7 + gestor de incidentes dedicado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71" name="Google Shape;471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21040" y="562356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472" name="Google Shape;472;p13"/>
          <p:cNvSpPr txBox="1"/>
          <p:nvPr/>
        </p:nvSpPr>
        <p:spPr>
          <a:xfrm>
            <a:off x="8613648" y="5559552"/>
            <a:ext cx="2880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Homologação e produção redundantes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13"/>
          <p:cNvSpPr txBox="1"/>
          <p:nvPr>
            <p:ph idx="4294967295" type="sldNum"/>
          </p:nvPr>
        </p:nvSpPr>
        <p:spPr>
          <a:xfrm>
            <a:off x="10972800" y="6373368"/>
            <a:ext cx="667512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0677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6067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14"/>
          <p:cNvSpPr txBox="1"/>
          <p:nvPr/>
        </p:nvSpPr>
        <p:spPr>
          <a:xfrm>
            <a:off x="548640" y="329184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E7C89"/>
                </a:solidFill>
                <a:latin typeface="Calibri"/>
                <a:ea typeface="Calibri"/>
                <a:cs typeface="Calibri"/>
                <a:sym typeface="Calibri"/>
              </a:rPr>
              <a:t>CONDIÇÕES COMERCIAIS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14"/>
          <p:cNvSpPr txBox="1"/>
          <p:nvPr>
            <p:ph type="title"/>
          </p:nvPr>
        </p:nvSpPr>
        <p:spPr>
          <a:xfrm>
            <a:off x="548640" y="603504"/>
            <a:ext cx="11094415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</a:pPr>
            <a:r>
              <a:rPr b="1" lang="en-US" sz="3600">
                <a:solidFill>
                  <a:schemeClr val="dk2"/>
                </a:solidFill>
              </a:rPr>
              <a:t>Condições e acordos de nível de serviço</a:t>
            </a:r>
            <a:endParaRPr sz="3600"/>
          </a:p>
        </p:txBody>
      </p:sp>
      <p:sp>
        <p:nvSpPr>
          <p:cNvPr id="481" name="Google Shape;481;p14"/>
          <p:cNvSpPr/>
          <p:nvPr/>
        </p:nvSpPr>
        <p:spPr>
          <a:xfrm>
            <a:off x="548640" y="1691640"/>
            <a:ext cx="5669280" cy="4434840"/>
          </a:xfrm>
          <a:prstGeom prst="roundRect">
            <a:avLst>
              <a:gd fmla="val 2887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14"/>
          <p:cNvSpPr/>
          <p:nvPr/>
        </p:nvSpPr>
        <p:spPr>
          <a:xfrm>
            <a:off x="813816" y="1911096"/>
            <a:ext cx="475488" cy="475488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83" name="Google Shape;48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2688" y="2029968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14"/>
          <p:cNvSpPr txBox="1"/>
          <p:nvPr/>
        </p:nvSpPr>
        <p:spPr>
          <a:xfrm>
            <a:off x="1463040" y="1874520"/>
            <a:ext cx="1463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Validade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14"/>
          <p:cNvSpPr txBox="1"/>
          <p:nvPr/>
        </p:nvSpPr>
        <p:spPr>
          <a:xfrm>
            <a:off x="2834640" y="1874520"/>
            <a:ext cx="3246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30 dias a partir da emissão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14"/>
          <p:cNvSpPr/>
          <p:nvPr/>
        </p:nvSpPr>
        <p:spPr>
          <a:xfrm>
            <a:off x="813816" y="2606040"/>
            <a:ext cx="475488" cy="475488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87" name="Google Shape;487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2688" y="2724912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488" name="Google Shape;488;p14"/>
          <p:cNvSpPr txBox="1"/>
          <p:nvPr/>
        </p:nvSpPr>
        <p:spPr>
          <a:xfrm>
            <a:off x="1463040" y="2569464"/>
            <a:ext cx="1463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Pagamento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14"/>
          <p:cNvSpPr txBox="1"/>
          <p:nvPr/>
        </p:nvSpPr>
        <p:spPr>
          <a:xfrm>
            <a:off x="2834640" y="2569464"/>
            <a:ext cx="3246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Implantação em 3 parcelas (40/40/20); recorrente mensal, trimestral ou anual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14"/>
          <p:cNvSpPr/>
          <p:nvPr/>
        </p:nvSpPr>
        <p:spPr>
          <a:xfrm>
            <a:off x="813816" y="3300984"/>
            <a:ext cx="475488" cy="475488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91" name="Google Shape;491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32688" y="3419856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492" name="Google Shape;492;p14"/>
          <p:cNvSpPr txBox="1"/>
          <p:nvPr/>
        </p:nvSpPr>
        <p:spPr>
          <a:xfrm>
            <a:off x="1463040" y="3264408"/>
            <a:ext cx="1463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Reajuste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14"/>
          <p:cNvSpPr txBox="1"/>
          <p:nvPr/>
        </p:nvSpPr>
        <p:spPr>
          <a:xfrm>
            <a:off x="2834640" y="3264408"/>
            <a:ext cx="3246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Anual pelo IPCA, a partir do 13º mês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14"/>
          <p:cNvSpPr/>
          <p:nvPr/>
        </p:nvSpPr>
        <p:spPr>
          <a:xfrm>
            <a:off x="813816" y="3995928"/>
            <a:ext cx="475488" cy="475488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95" name="Google Shape;495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32688" y="4114800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496" name="Google Shape;496;p14"/>
          <p:cNvSpPr txBox="1"/>
          <p:nvPr/>
        </p:nvSpPr>
        <p:spPr>
          <a:xfrm>
            <a:off x="1463040" y="3959352"/>
            <a:ext cx="1463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Prazo contratual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14"/>
          <p:cNvSpPr txBox="1"/>
          <p:nvPr/>
        </p:nvSpPr>
        <p:spPr>
          <a:xfrm>
            <a:off x="2834640" y="3959352"/>
            <a:ext cx="3246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36 meses, com recorrente cobrado a partir do go-live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14"/>
          <p:cNvSpPr/>
          <p:nvPr/>
        </p:nvSpPr>
        <p:spPr>
          <a:xfrm>
            <a:off x="813816" y="4690872"/>
            <a:ext cx="475488" cy="475488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99" name="Google Shape;499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32688" y="4809744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p14"/>
          <p:cNvSpPr txBox="1"/>
          <p:nvPr/>
        </p:nvSpPr>
        <p:spPr>
          <a:xfrm>
            <a:off x="1463040" y="4654296"/>
            <a:ext cx="1463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Impostos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14"/>
          <p:cNvSpPr txBox="1"/>
          <p:nvPr/>
        </p:nvSpPr>
        <p:spPr>
          <a:xfrm>
            <a:off x="2834640" y="4654296"/>
            <a:ext cx="3246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Valores sem impostos; incidências conforme legislação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14"/>
          <p:cNvSpPr/>
          <p:nvPr/>
        </p:nvSpPr>
        <p:spPr>
          <a:xfrm>
            <a:off x="813816" y="5385816"/>
            <a:ext cx="475488" cy="475488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03" name="Google Shape;503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32688" y="5504688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14"/>
          <p:cNvSpPr txBox="1"/>
          <p:nvPr/>
        </p:nvSpPr>
        <p:spPr>
          <a:xfrm>
            <a:off x="1463040" y="5349240"/>
            <a:ext cx="1463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Privacidade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14"/>
          <p:cNvSpPr txBox="1"/>
          <p:nvPr/>
        </p:nvSpPr>
        <p:spPr>
          <a:xfrm>
            <a:off x="2834640" y="5349240"/>
            <a:ext cx="3246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DPA e política de retenção definidos em contrato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14"/>
          <p:cNvSpPr txBox="1"/>
          <p:nvPr/>
        </p:nvSpPr>
        <p:spPr>
          <a:xfrm>
            <a:off x="6492240" y="169164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E7C89"/>
                </a:solidFill>
                <a:latin typeface="Calibri"/>
                <a:ea typeface="Calibri"/>
                <a:cs typeface="Calibri"/>
                <a:sym typeface="Calibri"/>
              </a:rPr>
              <a:t>SLAs DE SUPORTE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07" name="Google Shape;507;p14"/>
          <p:cNvGraphicFramePr/>
          <p:nvPr/>
        </p:nvGraphicFramePr>
        <p:xfrm>
          <a:off x="6492240" y="20116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{B6638F94-3199-45B2-A4C9-2312ADF1B061}</a:tableStyleId>
              </a:tblPr>
              <a:tblGrid>
                <a:gridCol w="1554475"/>
                <a:gridCol w="1920250"/>
                <a:gridCol w="1673350"/>
              </a:tblGrid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chemeClr val="lt1"/>
                          </a:solidFill>
                        </a:rPr>
                        <a:t>Severidade</a:t>
                      </a:r>
                      <a:endParaRPr sz="13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chemeClr val="lt1"/>
                          </a:solidFill>
                        </a:rPr>
                        <a:t>1ª resposta</a:t>
                      </a:r>
                      <a:endParaRPr sz="13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chemeClr val="lt1"/>
                          </a:solidFill>
                        </a:rPr>
                        <a:t>Resolução</a:t>
                      </a:r>
                      <a:endParaRPr sz="13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dk2"/>
                          </a:solidFill>
                        </a:rPr>
                        <a:t>1 · Crítica</a:t>
                      </a:r>
                      <a:endParaRPr sz="12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&lt; 15 min (24/7)</a:t>
                      </a:r>
                      <a:endParaRPr sz="12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&lt; 4 h</a:t>
                      </a:r>
                      <a:endParaRPr sz="12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4F7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dk2"/>
                          </a:solidFill>
                        </a:rPr>
                        <a:t>2 · Alta</a:t>
                      </a:r>
                      <a:endParaRPr sz="12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&lt; 1 h</a:t>
                      </a:r>
                      <a:endParaRPr sz="12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&lt; 8 h</a:t>
                      </a:r>
                      <a:endParaRPr sz="12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dk2"/>
                          </a:solidFill>
                        </a:rPr>
                        <a:t>3 · Média</a:t>
                      </a:r>
                      <a:endParaRPr sz="12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&lt; 4 h (comercial)</a:t>
                      </a:r>
                      <a:endParaRPr sz="12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&lt; 48 h</a:t>
                      </a:r>
                      <a:endParaRPr sz="12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4F7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dk2"/>
                          </a:solidFill>
                        </a:rPr>
                        <a:t>4 · Baixa</a:t>
                      </a:r>
                      <a:endParaRPr sz="12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&lt; 12 h</a:t>
                      </a:r>
                      <a:endParaRPr sz="12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até 5 dias úteis</a:t>
                      </a:r>
                      <a:endParaRPr sz="12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508" name="Google Shape;508;p14"/>
          <p:cNvSpPr txBox="1"/>
          <p:nvPr/>
        </p:nvSpPr>
        <p:spPr>
          <a:xfrm>
            <a:off x="6492240" y="4160520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E7C89"/>
                </a:solidFill>
                <a:latin typeface="Calibri"/>
                <a:ea typeface="Calibri"/>
                <a:cs typeface="Calibri"/>
                <a:sym typeface="Calibri"/>
              </a:rPr>
              <a:t>INCENTIVOS (SUJEITOS À APROVAÇÃO)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14"/>
          <p:cNvSpPr/>
          <p:nvPr/>
        </p:nvSpPr>
        <p:spPr>
          <a:xfrm>
            <a:off x="6492240" y="4526280"/>
            <a:ext cx="2514600" cy="713232"/>
          </a:xfrm>
          <a:prstGeom prst="roundRect">
            <a:avLst>
              <a:gd fmla="val 17949" name="adj"/>
            </a:avLst>
          </a:prstGeom>
          <a:solidFill>
            <a:srgbClr val="E4F6F8"/>
          </a:solidFill>
          <a:ln cap="flat" cmpd="sng" w="9525">
            <a:solidFill>
              <a:srgbClr val="E4F6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14"/>
          <p:cNvSpPr txBox="1"/>
          <p:nvPr/>
        </p:nvSpPr>
        <p:spPr>
          <a:xfrm>
            <a:off x="6629400" y="4599432"/>
            <a:ext cx="2286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Crédito de 100% da PoC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14"/>
          <p:cNvSpPr txBox="1"/>
          <p:nvPr/>
        </p:nvSpPr>
        <p:spPr>
          <a:xfrm>
            <a:off x="6629400" y="4892040"/>
            <a:ext cx="2286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contratar em até 60 dias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14"/>
          <p:cNvSpPr/>
          <p:nvPr/>
        </p:nvSpPr>
        <p:spPr>
          <a:xfrm>
            <a:off x="9098280" y="4526280"/>
            <a:ext cx="2514600" cy="713232"/>
          </a:xfrm>
          <a:prstGeom prst="roundRect">
            <a:avLst>
              <a:gd fmla="val 17949" name="adj"/>
            </a:avLst>
          </a:prstGeom>
          <a:solidFill>
            <a:srgbClr val="E4F6F8"/>
          </a:solidFill>
          <a:ln cap="flat" cmpd="sng" w="9525">
            <a:solidFill>
              <a:srgbClr val="E4F6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14"/>
          <p:cNvSpPr txBox="1"/>
          <p:nvPr/>
        </p:nvSpPr>
        <p:spPr>
          <a:xfrm>
            <a:off x="9235440" y="4599432"/>
            <a:ext cx="2286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Pagamento anual antecipado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14"/>
          <p:cNvSpPr txBox="1"/>
          <p:nvPr/>
        </p:nvSpPr>
        <p:spPr>
          <a:xfrm>
            <a:off x="9235440" y="4892040"/>
            <a:ext cx="2286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5% sobre o recorrente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14"/>
          <p:cNvSpPr/>
          <p:nvPr/>
        </p:nvSpPr>
        <p:spPr>
          <a:xfrm>
            <a:off x="6492240" y="5330952"/>
            <a:ext cx="2514600" cy="713232"/>
          </a:xfrm>
          <a:prstGeom prst="roundRect">
            <a:avLst>
              <a:gd fmla="val 17949" name="adj"/>
            </a:avLst>
          </a:prstGeom>
          <a:solidFill>
            <a:srgbClr val="E4F6F8"/>
          </a:solidFill>
          <a:ln cap="flat" cmpd="sng" w="9525">
            <a:solidFill>
              <a:srgbClr val="E4F6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14"/>
          <p:cNvSpPr txBox="1"/>
          <p:nvPr/>
        </p:nvSpPr>
        <p:spPr>
          <a:xfrm>
            <a:off x="6629400" y="5404104"/>
            <a:ext cx="2286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Contrato de 36 meses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14"/>
          <p:cNvSpPr txBox="1"/>
          <p:nvPr/>
        </p:nvSpPr>
        <p:spPr>
          <a:xfrm>
            <a:off x="6629400" y="5696712"/>
            <a:ext cx="2286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8% sobre a licença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14"/>
          <p:cNvSpPr/>
          <p:nvPr/>
        </p:nvSpPr>
        <p:spPr>
          <a:xfrm>
            <a:off x="9098280" y="5330952"/>
            <a:ext cx="2514600" cy="713232"/>
          </a:xfrm>
          <a:prstGeom prst="roundRect">
            <a:avLst>
              <a:gd fmla="val 17949" name="adj"/>
            </a:avLst>
          </a:prstGeom>
          <a:solidFill>
            <a:srgbClr val="E4F6F8"/>
          </a:solidFill>
          <a:ln cap="flat" cmpd="sng" w="9525">
            <a:solidFill>
              <a:srgbClr val="E4F6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14"/>
          <p:cNvSpPr txBox="1"/>
          <p:nvPr/>
        </p:nvSpPr>
        <p:spPr>
          <a:xfrm>
            <a:off x="9235440" y="5404104"/>
            <a:ext cx="2286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Assinatura até [data]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14"/>
          <p:cNvSpPr txBox="1"/>
          <p:nvPr/>
        </p:nvSpPr>
        <p:spPr>
          <a:xfrm>
            <a:off x="9235440" y="5696712"/>
            <a:ext cx="2286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3% adicionais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14"/>
          <p:cNvSpPr txBox="1"/>
          <p:nvPr>
            <p:ph idx="4294967295" type="sldNum"/>
          </p:nvPr>
        </p:nvSpPr>
        <p:spPr>
          <a:xfrm>
            <a:off x="10972800" y="6373368"/>
            <a:ext cx="667512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0677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6067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15"/>
          <p:cNvSpPr txBox="1"/>
          <p:nvPr/>
        </p:nvSpPr>
        <p:spPr>
          <a:xfrm>
            <a:off x="548640" y="329184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E7C89"/>
                </a:solidFill>
                <a:latin typeface="Calibri"/>
                <a:ea typeface="Calibri"/>
                <a:cs typeface="Calibri"/>
                <a:sym typeface="Calibri"/>
              </a:rPr>
              <a:t>GOVERNANÇA DO PROJETO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15"/>
          <p:cNvSpPr txBox="1"/>
          <p:nvPr>
            <p:ph type="title"/>
          </p:nvPr>
        </p:nvSpPr>
        <p:spPr>
          <a:xfrm>
            <a:off x="548640" y="603504"/>
            <a:ext cx="11094415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</a:pPr>
            <a:r>
              <a:rPr b="1" lang="en-US" sz="3600">
                <a:solidFill>
                  <a:schemeClr val="dk2"/>
                </a:solidFill>
              </a:rPr>
              <a:t>Quem faz o quê</a:t>
            </a:r>
            <a:endParaRPr sz="3600"/>
          </a:p>
        </p:txBody>
      </p:sp>
      <p:sp>
        <p:nvSpPr>
          <p:cNvPr id="529" name="Google Shape;529;p15"/>
          <p:cNvSpPr/>
          <p:nvPr/>
        </p:nvSpPr>
        <p:spPr>
          <a:xfrm>
            <a:off x="548640" y="1691640"/>
            <a:ext cx="5440680" cy="4434840"/>
          </a:xfrm>
          <a:prstGeom prst="roundRect">
            <a:avLst>
              <a:gd fmla="val 2887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15"/>
          <p:cNvSpPr txBox="1"/>
          <p:nvPr/>
        </p:nvSpPr>
        <p:spPr>
          <a:xfrm>
            <a:off x="822960" y="1847088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E7C89"/>
                </a:solidFill>
                <a:latin typeface="Calibri"/>
                <a:ea typeface="Calibri"/>
                <a:cs typeface="Calibri"/>
                <a:sym typeface="Calibri"/>
              </a:rPr>
              <a:t>SYNAPSEAI SOLUTIONS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15"/>
          <p:cNvSpPr/>
          <p:nvPr/>
        </p:nvSpPr>
        <p:spPr>
          <a:xfrm>
            <a:off x="859536" y="2350008"/>
            <a:ext cx="566928" cy="566928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32" name="Google Shape;53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1268" y="2491740"/>
            <a:ext cx="283464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533" name="Google Shape;533;p15"/>
          <p:cNvSpPr txBox="1"/>
          <p:nvPr/>
        </p:nvSpPr>
        <p:spPr>
          <a:xfrm>
            <a:off x="1600200" y="2304288"/>
            <a:ext cx="4206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Gerente de projeto / Customer Success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15"/>
          <p:cNvSpPr txBox="1"/>
          <p:nvPr/>
        </p:nvSpPr>
        <p:spPr>
          <a:xfrm>
            <a:off x="1600200" y="2688336"/>
            <a:ext cx="4206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Plano, cronograma e relacionamento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15"/>
          <p:cNvSpPr/>
          <p:nvPr/>
        </p:nvSpPr>
        <p:spPr>
          <a:xfrm>
            <a:off x="859536" y="3300984"/>
            <a:ext cx="566928" cy="566928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36" name="Google Shape;536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01268" y="3442716"/>
            <a:ext cx="283464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537" name="Google Shape;537;p15"/>
          <p:cNvSpPr txBox="1"/>
          <p:nvPr/>
        </p:nvSpPr>
        <p:spPr>
          <a:xfrm>
            <a:off x="1600200" y="3255264"/>
            <a:ext cx="4206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Engenharia de Soluções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15"/>
          <p:cNvSpPr txBox="1"/>
          <p:nvPr/>
        </p:nvSpPr>
        <p:spPr>
          <a:xfrm>
            <a:off x="1600200" y="3639312"/>
            <a:ext cx="4206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Arquitetura, PoC e integrações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15"/>
          <p:cNvSpPr/>
          <p:nvPr/>
        </p:nvSpPr>
        <p:spPr>
          <a:xfrm>
            <a:off x="859536" y="4251960"/>
            <a:ext cx="566928" cy="566928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40" name="Google Shape;540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01268" y="4393692"/>
            <a:ext cx="283464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541" name="Google Shape;541;p15"/>
          <p:cNvSpPr txBox="1"/>
          <p:nvPr/>
        </p:nvSpPr>
        <p:spPr>
          <a:xfrm>
            <a:off x="1600200" y="4206240"/>
            <a:ext cx="4206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Especialista financeiro/contábil (SME)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15"/>
          <p:cNvSpPr txBox="1"/>
          <p:nvPr/>
        </p:nvSpPr>
        <p:spPr>
          <a:xfrm>
            <a:off x="1600200" y="4590288"/>
            <a:ext cx="4206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Valida a precisão técnica das respostas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15"/>
          <p:cNvSpPr/>
          <p:nvPr/>
        </p:nvSpPr>
        <p:spPr>
          <a:xfrm>
            <a:off x="859536" y="5202936"/>
            <a:ext cx="566928" cy="566928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44" name="Google Shape;544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01268" y="5344668"/>
            <a:ext cx="283464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545" name="Google Shape;545;p15"/>
          <p:cNvSpPr txBox="1"/>
          <p:nvPr/>
        </p:nvSpPr>
        <p:spPr>
          <a:xfrm>
            <a:off x="1600200" y="5157216"/>
            <a:ext cx="4206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AI Ops e Engenharia de Sustentação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15"/>
          <p:cNvSpPr txBox="1"/>
          <p:nvPr/>
        </p:nvSpPr>
        <p:spPr>
          <a:xfrm>
            <a:off x="1600200" y="5541264"/>
            <a:ext cx="4206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Qualidade da IA, latência e incidentes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15"/>
          <p:cNvSpPr/>
          <p:nvPr/>
        </p:nvSpPr>
        <p:spPr>
          <a:xfrm>
            <a:off x="6190488" y="1691640"/>
            <a:ext cx="5440680" cy="4434840"/>
          </a:xfrm>
          <a:prstGeom prst="roundRect">
            <a:avLst>
              <a:gd fmla="val 2887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15"/>
          <p:cNvSpPr txBox="1"/>
          <p:nvPr/>
        </p:nvSpPr>
        <p:spPr>
          <a:xfrm>
            <a:off x="6464808" y="1847088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E7C89"/>
                </a:solidFill>
                <a:latin typeface="Calibri"/>
                <a:ea typeface="Calibri"/>
                <a:cs typeface="Calibri"/>
                <a:sym typeface="Calibri"/>
              </a:rPr>
              <a:t>CLIENTE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15"/>
          <p:cNvSpPr/>
          <p:nvPr/>
        </p:nvSpPr>
        <p:spPr>
          <a:xfrm>
            <a:off x="6501384" y="2350008"/>
            <a:ext cx="566928" cy="566928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50" name="Google Shape;55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43116" y="2491740"/>
            <a:ext cx="283464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551" name="Google Shape;551;p15"/>
          <p:cNvSpPr txBox="1"/>
          <p:nvPr/>
        </p:nvSpPr>
        <p:spPr>
          <a:xfrm>
            <a:off x="7242048" y="2304288"/>
            <a:ext cx="4206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Patrocinador (CFO ou Controladoria)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15"/>
          <p:cNvSpPr txBox="1"/>
          <p:nvPr/>
        </p:nvSpPr>
        <p:spPr>
          <a:xfrm>
            <a:off x="7242048" y="2688336"/>
            <a:ext cx="4206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Decisão, prioridades e patrocínio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15"/>
          <p:cNvSpPr/>
          <p:nvPr/>
        </p:nvSpPr>
        <p:spPr>
          <a:xfrm>
            <a:off x="6501384" y="3300984"/>
            <a:ext cx="566928" cy="566928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54" name="Google Shape;554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643116" y="3442716"/>
            <a:ext cx="283464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555" name="Google Shape;555;p15"/>
          <p:cNvSpPr txBox="1"/>
          <p:nvPr/>
        </p:nvSpPr>
        <p:spPr>
          <a:xfrm>
            <a:off x="7242048" y="3255264"/>
            <a:ext cx="4206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TI e engenharia de dados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15"/>
          <p:cNvSpPr txBox="1"/>
          <p:nvPr/>
        </p:nvSpPr>
        <p:spPr>
          <a:xfrm>
            <a:off x="7242048" y="3639312"/>
            <a:ext cx="4206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Acesso a fontes, rede e SSO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15"/>
          <p:cNvSpPr/>
          <p:nvPr/>
        </p:nvSpPr>
        <p:spPr>
          <a:xfrm>
            <a:off x="6501384" y="4251960"/>
            <a:ext cx="566928" cy="566928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58" name="Google Shape;558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643116" y="4393692"/>
            <a:ext cx="283464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559" name="Google Shape;559;p15"/>
          <p:cNvSpPr txBox="1"/>
          <p:nvPr/>
        </p:nvSpPr>
        <p:spPr>
          <a:xfrm>
            <a:off x="7242048" y="4206240"/>
            <a:ext cx="4206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Segurança da informação e DPO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15"/>
          <p:cNvSpPr txBox="1"/>
          <p:nvPr/>
        </p:nvSpPr>
        <p:spPr>
          <a:xfrm>
            <a:off x="7242048" y="4590288"/>
            <a:ext cx="4206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Política de dados e segurança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15"/>
          <p:cNvSpPr/>
          <p:nvPr/>
        </p:nvSpPr>
        <p:spPr>
          <a:xfrm>
            <a:off x="6501384" y="5202936"/>
            <a:ext cx="566928" cy="566928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62" name="Google Shape;562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643116" y="5344668"/>
            <a:ext cx="283464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563" name="Google Shape;563;p15"/>
          <p:cNvSpPr txBox="1"/>
          <p:nvPr/>
        </p:nvSpPr>
        <p:spPr>
          <a:xfrm>
            <a:off x="7242048" y="5157216"/>
            <a:ext cx="4206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Usuários-chave de FP&amp;A e controladoria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15"/>
          <p:cNvSpPr txBox="1"/>
          <p:nvPr/>
        </p:nvSpPr>
        <p:spPr>
          <a:xfrm>
            <a:off x="7242048" y="5541264"/>
            <a:ext cx="4206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Validação e adoção no dia a dia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15"/>
          <p:cNvSpPr txBox="1"/>
          <p:nvPr>
            <p:ph idx="4294967295" type="sldNum"/>
          </p:nvPr>
        </p:nvSpPr>
        <p:spPr>
          <a:xfrm>
            <a:off x="10972800" y="6373368"/>
            <a:ext cx="667512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0677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6067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16"/>
          <p:cNvSpPr txBox="1"/>
          <p:nvPr/>
        </p:nvSpPr>
        <p:spPr>
          <a:xfrm>
            <a:off x="548640" y="329184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E7C89"/>
                </a:solidFill>
                <a:latin typeface="Calibri"/>
                <a:ea typeface="Calibri"/>
                <a:cs typeface="Calibri"/>
                <a:sym typeface="Calibri"/>
              </a:rPr>
              <a:t>RISCOS E MITIGAÇÃO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16"/>
          <p:cNvSpPr txBox="1"/>
          <p:nvPr>
            <p:ph type="title"/>
          </p:nvPr>
        </p:nvSpPr>
        <p:spPr>
          <a:xfrm>
            <a:off x="548640" y="603504"/>
            <a:ext cx="11094415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</a:pPr>
            <a:r>
              <a:rPr b="1" lang="en-US" sz="3600">
                <a:solidFill>
                  <a:schemeClr val="dk2"/>
                </a:solidFill>
              </a:rPr>
              <a:t>Riscos conhecidos e como tratamos</a:t>
            </a:r>
            <a:endParaRPr sz="3600"/>
          </a:p>
        </p:txBody>
      </p:sp>
      <p:graphicFrame>
        <p:nvGraphicFramePr>
          <p:cNvPr id="573" name="Google Shape;573;p16"/>
          <p:cNvGraphicFramePr/>
          <p:nvPr/>
        </p:nvGraphicFramePr>
        <p:xfrm>
          <a:off x="548640" y="16916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{B6638F94-3199-45B2-A4C9-2312ADF1B061}</a:tableStyleId>
              </a:tblPr>
              <a:tblGrid>
                <a:gridCol w="3931925"/>
                <a:gridCol w="7162500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chemeClr val="lt1"/>
                          </a:solidFill>
                        </a:rPr>
                        <a:t>Risco</a:t>
                      </a:r>
                      <a:endParaRPr sz="1300" u="none" cap="none" strike="noStrike"/>
                    </a:p>
                  </a:txBody>
                  <a:tcPr marT="0" marB="0" marR="137150" marL="137150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chemeClr val="lt1"/>
                          </a:solidFill>
                        </a:rPr>
                        <a:t>Mitigação</a:t>
                      </a:r>
                      <a:endParaRPr sz="1300" u="none" cap="none" strike="noStrike"/>
                    </a:p>
                  </a:txBody>
                  <a:tcPr marT="0" marB="0" marR="137150" marL="137150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777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chemeClr val="dk2"/>
                          </a:solidFill>
                        </a:rPr>
                        <a:t>Qualidade dos dados de origem</a:t>
                      </a:r>
                      <a:endParaRPr sz="1300" u="none" cap="none" strike="noStrike"/>
                    </a:p>
                  </a:txBody>
                  <a:tcPr marT="0" marB="0" marR="137150" marL="137150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chemeClr val="dk1"/>
                          </a:solidFill>
                        </a:rPr>
                        <a:t>Validações de completude e reconciliação; responsável pelo catálogo semântico definido na PoC.</a:t>
                      </a:r>
                      <a:endParaRPr sz="1300" u="none" cap="none" strike="noStrike"/>
                    </a:p>
                  </a:txBody>
                  <a:tcPr marT="0" marB="0" marR="137150" marL="137150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4F7"/>
                    </a:solidFill>
                  </a:tcPr>
                </a:tc>
              </a:tr>
              <a:tr h="777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chemeClr val="dk2"/>
                          </a:solidFill>
                        </a:rPr>
                        <a:t>Baixa adoção pelos usuários</a:t>
                      </a:r>
                      <a:endParaRPr sz="1300" u="none" cap="none" strike="noStrike"/>
                    </a:p>
                  </a:txBody>
                  <a:tcPr marT="0" marB="0" marR="137150" marL="137150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chemeClr val="dk1"/>
                          </a:solidFill>
                        </a:rPr>
                        <a:t>Usuários-chave na PoC, treinamento por turma e métricas de uso acompanhadas pelo Customer Success.</a:t>
                      </a:r>
                      <a:endParaRPr sz="1300" u="none" cap="none" strike="noStrike"/>
                    </a:p>
                  </a:txBody>
                  <a:tcPr marT="0" marB="0" marR="137150" marL="137150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777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chemeClr val="dk2"/>
                          </a:solidFill>
                        </a:rPr>
                        <a:t>Respostas imprecisas</a:t>
                      </a:r>
                      <a:endParaRPr sz="1300" u="none" cap="none" strike="noStrike"/>
                    </a:p>
                  </a:txBody>
                  <a:tcPr marT="0" marB="0" marR="137150" marL="137150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chemeClr val="dk1"/>
                          </a:solidFill>
                        </a:rPr>
                        <a:t>Guardrails, feedback in-app e monitoramento de qualidade por AI Ops.</a:t>
                      </a:r>
                      <a:endParaRPr sz="1300" u="none" cap="none" strike="noStrike"/>
                    </a:p>
                  </a:txBody>
                  <a:tcPr marT="0" marB="0" marR="137150" marL="137150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4F7"/>
                    </a:solidFill>
                  </a:tcPr>
                </a:tc>
              </a:tr>
              <a:tr h="777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chemeClr val="dk2"/>
                          </a:solidFill>
                        </a:rPr>
                        <a:t>Mudanças no plano de contas</a:t>
                      </a:r>
                      <a:endParaRPr sz="1300" u="none" cap="none" strike="noStrike"/>
                    </a:p>
                  </a:txBody>
                  <a:tcPr marT="0" marB="0" marR="137150" marL="137150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chemeClr val="dk1"/>
                          </a:solidFill>
                        </a:rPr>
                        <a:t>Processo de revisão do catálogo a cada mudança contábil, com versionamento.</a:t>
                      </a:r>
                      <a:endParaRPr sz="1300" u="none" cap="none" strike="noStrike"/>
                    </a:p>
                  </a:txBody>
                  <a:tcPr marT="0" marB="0" marR="137150" marL="137150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574" name="Google Shape;574;p16"/>
          <p:cNvSpPr/>
          <p:nvPr/>
        </p:nvSpPr>
        <p:spPr>
          <a:xfrm>
            <a:off x="548640" y="5532120"/>
            <a:ext cx="11094415" cy="566928"/>
          </a:xfrm>
          <a:prstGeom prst="roundRect">
            <a:avLst>
              <a:gd fmla="val 22581" name="adj"/>
            </a:avLst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p16"/>
          <p:cNvSpPr txBox="1"/>
          <p:nvPr/>
        </p:nvSpPr>
        <p:spPr>
          <a:xfrm>
            <a:off x="548640" y="5532120"/>
            <a:ext cx="11094415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Governança: comitê quinzenal durante a implantação e mensal na operação assistida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16"/>
          <p:cNvSpPr txBox="1"/>
          <p:nvPr>
            <p:ph idx="4294967295" type="sldNum"/>
          </p:nvPr>
        </p:nvSpPr>
        <p:spPr>
          <a:xfrm>
            <a:off x="10972800" y="6373368"/>
            <a:ext cx="667512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0677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6067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17"/>
          <p:cNvSpPr txBox="1"/>
          <p:nvPr/>
        </p:nvSpPr>
        <p:spPr>
          <a:xfrm>
            <a:off x="548640" y="329184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E7C89"/>
                </a:solidFill>
                <a:latin typeface="Calibri"/>
                <a:ea typeface="Calibri"/>
                <a:cs typeface="Calibri"/>
                <a:sym typeface="Calibri"/>
              </a:rPr>
              <a:t>POR QUE A SYNAPSEAI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17"/>
          <p:cNvSpPr txBox="1"/>
          <p:nvPr>
            <p:ph type="title"/>
          </p:nvPr>
        </p:nvSpPr>
        <p:spPr>
          <a:xfrm>
            <a:off x="548640" y="603504"/>
            <a:ext cx="11094415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</a:pPr>
            <a:r>
              <a:rPr b="1" lang="en-US" sz="3600">
                <a:solidFill>
                  <a:schemeClr val="dk2"/>
                </a:solidFill>
              </a:rPr>
              <a:t>Por que a SynapseAI para Finanças</a:t>
            </a:r>
            <a:endParaRPr sz="3600"/>
          </a:p>
        </p:txBody>
      </p:sp>
      <p:sp>
        <p:nvSpPr>
          <p:cNvPr id="584" name="Google Shape;584;p17"/>
          <p:cNvSpPr/>
          <p:nvPr/>
        </p:nvSpPr>
        <p:spPr>
          <a:xfrm>
            <a:off x="548640" y="1691640"/>
            <a:ext cx="3593592" cy="1463040"/>
          </a:xfrm>
          <a:prstGeom prst="roundRect">
            <a:avLst>
              <a:gd fmla="val 10000" name="adj"/>
            </a:avLst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17"/>
          <p:cNvSpPr txBox="1"/>
          <p:nvPr/>
        </p:nvSpPr>
        <p:spPr>
          <a:xfrm>
            <a:off x="777240" y="1691640"/>
            <a:ext cx="146304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D6E0"/>
              </a:buClr>
              <a:buSzPts val="3800"/>
              <a:buFont typeface="Calibri"/>
              <a:buNone/>
            </a:pPr>
            <a:r>
              <a:rPr b="1" i="0" lang="en-US" sz="3800" u="none" cap="none" strike="noStrike">
                <a:solidFill>
                  <a:srgbClr val="7FD6E0"/>
                </a:solidFill>
                <a:latin typeface="Calibri"/>
                <a:ea typeface="Calibri"/>
                <a:cs typeface="Calibri"/>
                <a:sym typeface="Calibri"/>
              </a:rPr>
              <a:t>300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17"/>
          <p:cNvSpPr txBox="1"/>
          <p:nvPr/>
        </p:nvSpPr>
        <p:spPr>
          <a:xfrm>
            <a:off x="2240280" y="1691640"/>
            <a:ext cx="173736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colaboradores em 7 áreas, de IA e engenharia a suporte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17"/>
          <p:cNvSpPr/>
          <p:nvPr/>
        </p:nvSpPr>
        <p:spPr>
          <a:xfrm>
            <a:off x="4297680" y="1691640"/>
            <a:ext cx="3593592" cy="1463040"/>
          </a:xfrm>
          <a:prstGeom prst="roundRect">
            <a:avLst>
              <a:gd fmla="val 10000" name="adj"/>
            </a:avLst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8" name="Google Shape;588;p17"/>
          <p:cNvSpPr txBox="1"/>
          <p:nvPr/>
        </p:nvSpPr>
        <p:spPr>
          <a:xfrm>
            <a:off x="4526280" y="1691640"/>
            <a:ext cx="146304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D6E0"/>
              </a:buClr>
              <a:buSzPts val="3800"/>
              <a:buFont typeface="Calibri"/>
              <a:buNone/>
            </a:pPr>
            <a:r>
              <a:rPr b="1" i="0" lang="en-US" sz="3800" u="none" cap="none" strike="noStrike">
                <a:solidFill>
                  <a:srgbClr val="7FD6E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17"/>
          <p:cNvSpPr txBox="1"/>
          <p:nvPr/>
        </p:nvSpPr>
        <p:spPr>
          <a:xfrm>
            <a:off x="5989320" y="1691640"/>
            <a:ext cx="173736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produtos de IA generativa para Finanças, Educação e Saúde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17"/>
          <p:cNvSpPr/>
          <p:nvPr/>
        </p:nvSpPr>
        <p:spPr>
          <a:xfrm>
            <a:off x="8046720" y="1691640"/>
            <a:ext cx="3593592" cy="1463040"/>
          </a:xfrm>
          <a:prstGeom prst="roundRect">
            <a:avLst>
              <a:gd fmla="val 10000" name="adj"/>
            </a:avLst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1" name="Google Shape;591;p17"/>
          <p:cNvSpPr txBox="1"/>
          <p:nvPr/>
        </p:nvSpPr>
        <p:spPr>
          <a:xfrm>
            <a:off x="8275320" y="1691640"/>
            <a:ext cx="146304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D6E0"/>
              </a:buClr>
              <a:buSzPts val="3800"/>
              <a:buFont typeface="Calibri"/>
              <a:buNone/>
            </a:pPr>
            <a:r>
              <a:rPr b="1" i="0" lang="en-US" sz="3800" u="none" cap="none" strike="noStrike">
                <a:solidFill>
                  <a:srgbClr val="7FD6E0"/>
                </a:solidFill>
                <a:latin typeface="Calibri"/>
                <a:ea typeface="Calibri"/>
                <a:cs typeface="Calibri"/>
                <a:sym typeface="Calibri"/>
              </a:rPr>
              <a:t>24/7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17"/>
          <p:cNvSpPr txBox="1"/>
          <p:nvPr/>
        </p:nvSpPr>
        <p:spPr>
          <a:xfrm>
            <a:off x="9738360" y="1691640"/>
            <a:ext cx="173736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operação e plantão para produtos de alta criticidade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17"/>
          <p:cNvSpPr/>
          <p:nvPr/>
        </p:nvSpPr>
        <p:spPr>
          <a:xfrm>
            <a:off x="548640" y="3429000"/>
            <a:ext cx="5422392" cy="1188720"/>
          </a:xfrm>
          <a:prstGeom prst="roundRect">
            <a:avLst>
              <a:gd fmla="val 10769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" name="Google Shape;594;p17"/>
          <p:cNvSpPr/>
          <p:nvPr/>
        </p:nvSpPr>
        <p:spPr>
          <a:xfrm>
            <a:off x="795528" y="3721608"/>
            <a:ext cx="603504" cy="603504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95" name="Google Shape;59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6404" y="3872484"/>
            <a:ext cx="301752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596" name="Google Shape;596;p17"/>
          <p:cNvSpPr txBox="1"/>
          <p:nvPr/>
        </p:nvSpPr>
        <p:spPr>
          <a:xfrm>
            <a:off x="1600200" y="3593592"/>
            <a:ext cx="4206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Verticalização por domínio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17"/>
          <p:cNvSpPr txBox="1"/>
          <p:nvPr/>
        </p:nvSpPr>
        <p:spPr>
          <a:xfrm>
            <a:off x="1600200" y="3959352"/>
            <a:ext cx="42062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Cada produto nasce do contexto operacional e regulatório do setor.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17"/>
          <p:cNvSpPr/>
          <p:nvPr/>
        </p:nvSpPr>
        <p:spPr>
          <a:xfrm>
            <a:off x="6217920" y="3429000"/>
            <a:ext cx="5422392" cy="1188720"/>
          </a:xfrm>
          <a:prstGeom prst="roundRect">
            <a:avLst>
              <a:gd fmla="val 10769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9" name="Google Shape;599;p17"/>
          <p:cNvSpPr/>
          <p:nvPr/>
        </p:nvSpPr>
        <p:spPr>
          <a:xfrm>
            <a:off x="6464808" y="3721608"/>
            <a:ext cx="603504" cy="603504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00" name="Google Shape;600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15684" y="3872484"/>
            <a:ext cx="301752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601" name="Google Shape;601;p17"/>
          <p:cNvSpPr txBox="1"/>
          <p:nvPr/>
        </p:nvSpPr>
        <p:spPr>
          <a:xfrm>
            <a:off x="7269480" y="3593592"/>
            <a:ext cx="4206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IA explicável e auditável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17"/>
          <p:cNvSpPr txBox="1"/>
          <p:nvPr/>
        </p:nvSpPr>
        <p:spPr>
          <a:xfrm>
            <a:off x="7269480" y="3959352"/>
            <a:ext cx="42062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Respostas ligadas a fontes confiáveis e registradas em trilha.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17"/>
          <p:cNvSpPr/>
          <p:nvPr/>
        </p:nvSpPr>
        <p:spPr>
          <a:xfrm>
            <a:off x="548640" y="4800600"/>
            <a:ext cx="5422392" cy="1188720"/>
          </a:xfrm>
          <a:prstGeom prst="roundRect">
            <a:avLst>
              <a:gd fmla="val 10769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17"/>
          <p:cNvSpPr/>
          <p:nvPr/>
        </p:nvSpPr>
        <p:spPr>
          <a:xfrm>
            <a:off x="795528" y="5093208"/>
            <a:ext cx="603504" cy="603504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05" name="Google Shape;605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46404" y="5244084"/>
            <a:ext cx="301752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606" name="Google Shape;606;p17"/>
          <p:cNvSpPr txBox="1"/>
          <p:nvPr/>
        </p:nvSpPr>
        <p:spPr>
          <a:xfrm>
            <a:off x="1600200" y="4965192"/>
            <a:ext cx="4206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Compliance desde a concepção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17"/>
          <p:cNvSpPr txBox="1"/>
          <p:nvPr/>
        </p:nvSpPr>
        <p:spPr>
          <a:xfrm>
            <a:off x="1600200" y="5330952"/>
            <a:ext cx="42062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Isolamento por cliente, criptografia e controle de acesso rigoroso.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17"/>
          <p:cNvSpPr/>
          <p:nvPr/>
        </p:nvSpPr>
        <p:spPr>
          <a:xfrm>
            <a:off x="6217920" y="4800600"/>
            <a:ext cx="5422392" cy="1188720"/>
          </a:xfrm>
          <a:prstGeom prst="roundRect">
            <a:avLst>
              <a:gd fmla="val 10769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9" name="Google Shape;609;p17"/>
          <p:cNvSpPr/>
          <p:nvPr/>
        </p:nvSpPr>
        <p:spPr>
          <a:xfrm>
            <a:off x="6464808" y="5093208"/>
            <a:ext cx="603504" cy="603504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10" name="Google Shape;610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15684" y="5244084"/>
            <a:ext cx="301752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611" name="Google Shape;611;p17"/>
          <p:cNvSpPr txBox="1"/>
          <p:nvPr/>
        </p:nvSpPr>
        <p:spPr>
          <a:xfrm>
            <a:off x="7269480" y="4965192"/>
            <a:ext cx="4206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Parceria de longo prazo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17"/>
          <p:cNvSpPr txBox="1"/>
          <p:nvPr/>
        </p:nvSpPr>
        <p:spPr>
          <a:xfrm>
            <a:off x="7269480" y="5330952"/>
            <a:ext cx="42062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Customer Success, melhoria contínua e especialistas de domínio internos.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17"/>
          <p:cNvSpPr txBox="1"/>
          <p:nvPr>
            <p:ph idx="4294967295" type="sldNum"/>
          </p:nvPr>
        </p:nvSpPr>
        <p:spPr>
          <a:xfrm>
            <a:off x="10972800" y="6373368"/>
            <a:ext cx="667512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0677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6067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18"/>
          <p:cNvSpPr txBox="1"/>
          <p:nvPr/>
        </p:nvSpPr>
        <p:spPr>
          <a:xfrm>
            <a:off x="548640" y="329184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E7C89"/>
                </a:solidFill>
                <a:latin typeface="Calibri"/>
                <a:ea typeface="Calibri"/>
                <a:cs typeface="Calibri"/>
                <a:sym typeface="Calibri"/>
              </a:rPr>
              <a:t>PRÓXIMOS PASSOS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18"/>
          <p:cNvSpPr txBox="1"/>
          <p:nvPr>
            <p:ph type="title"/>
          </p:nvPr>
        </p:nvSpPr>
        <p:spPr>
          <a:xfrm>
            <a:off x="548640" y="603504"/>
            <a:ext cx="11094415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</a:pPr>
            <a:r>
              <a:rPr b="1" lang="en-US" sz="3600">
                <a:solidFill>
                  <a:schemeClr val="dk2"/>
                </a:solidFill>
              </a:rPr>
              <a:t>Do aceite ao kick-off</a:t>
            </a:r>
            <a:endParaRPr sz="3600"/>
          </a:p>
        </p:txBody>
      </p:sp>
      <p:sp>
        <p:nvSpPr>
          <p:cNvPr id="621" name="Google Shape;621;p18"/>
          <p:cNvSpPr/>
          <p:nvPr/>
        </p:nvSpPr>
        <p:spPr>
          <a:xfrm>
            <a:off x="548640" y="1691640"/>
            <a:ext cx="2606040" cy="3200400"/>
          </a:xfrm>
          <a:prstGeom prst="roundRect">
            <a:avLst>
              <a:gd fmla="val 4912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2" name="Google Shape;622;p18"/>
          <p:cNvSpPr/>
          <p:nvPr/>
        </p:nvSpPr>
        <p:spPr>
          <a:xfrm>
            <a:off x="777240" y="1965960"/>
            <a:ext cx="640080" cy="640080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23" name="Google Shape;62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7260" y="212598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624" name="Google Shape;624;p18"/>
          <p:cNvSpPr txBox="1"/>
          <p:nvPr/>
        </p:nvSpPr>
        <p:spPr>
          <a:xfrm>
            <a:off x="1554480" y="2148840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E7C89"/>
                </a:solidFill>
                <a:latin typeface="Calibri"/>
                <a:ea typeface="Calibri"/>
                <a:cs typeface="Calibri"/>
                <a:sym typeface="Calibri"/>
              </a:rPr>
              <a:t>PASSO 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18"/>
          <p:cNvSpPr txBox="1"/>
          <p:nvPr/>
        </p:nvSpPr>
        <p:spPr>
          <a:xfrm>
            <a:off x="777240" y="2788920"/>
            <a:ext cx="21945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Validação técnica e de segurança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18"/>
          <p:cNvSpPr txBox="1"/>
          <p:nvPr/>
        </p:nvSpPr>
        <p:spPr>
          <a:xfrm>
            <a:off x="777240" y="3429000"/>
            <a:ext cx="21945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Sessão com TI, InfoSec e DPO para validar arquitetura e requisitos.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18"/>
          <p:cNvSpPr txBox="1"/>
          <p:nvPr/>
        </p:nvSpPr>
        <p:spPr>
          <a:xfrm>
            <a:off x="777240" y="4434840"/>
            <a:ext cx="2194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9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E7C89"/>
                </a:solidFill>
                <a:latin typeface="Calibri"/>
                <a:ea typeface="Calibri"/>
                <a:cs typeface="Calibri"/>
                <a:sym typeface="Calibri"/>
              </a:rPr>
              <a:t>Até [data]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18"/>
          <p:cNvSpPr/>
          <p:nvPr/>
        </p:nvSpPr>
        <p:spPr>
          <a:xfrm>
            <a:off x="3346704" y="1691640"/>
            <a:ext cx="2606040" cy="3200400"/>
          </a:xfrm>
          <a:prstGeom prst="roundRect">
            <a:avLst>
              <a:gd fmla="val 4912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9" name="Google Shape;629;p18"/>
          <p:cNvSpPr/>
          <p:nvPr/>
        </p:nvSpPr>
        <p:spPr>
          <a:xfrm>
            <a:off x="3575304" y="1965960"/>
            <a:ext cx="640080" cy="640080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30" name="Google Shape;630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35324" y="212598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631" name="Google Shape;631;p18"/>
          <p:cNvSpPr txBox="1"/>
          <p:nvPr/>
        </p:nvSpPr>
        <p:spPr>
          <a:xfrm>
            <a:off x="4352544" y="2148840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E7C89"/>
                </a:solidFill>
                <a:latin typeface="Calibri"/>
                <a:ea typeface="Calibri"/>
                <a:cs typeface="Calibri"/>
                <a:sym typeface="Calibri"/>
              </a:rPr>
              <a:t>PASSO 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18"/>
          <p:cNvSpPr txBox="1"/>
          <p:nvPr/>
        </p:nvSpPr>
        <p:spPr>
          <a:xfrm>
            <a:off x="3575304" y="2788920"/>
            <a:ext cx="21945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Ajustes de escopo e comercial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18"/>
          <p:cNvSpPr txBox="1"/>
          <p:nvPr/>
        </p:nvSpPr>
        <p:spPr>
          <a:xfrm>
            <a:off x="3575304" y="3429000"/>
            <a:ext cx="21945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Revisão final de pacote, condições e minuta contratual.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18"/>
          <p:cNvSpPr txBox="1"/>
          <p:nvPr/>
        </p:nvSpPr>
        <p:spPr>
          <a:xfrm>
            <a:off x="3575304" y="4434840"/>
            <a:ext cx="2194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9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E7C89"/>
                </a:solidFill>
                <a:latin typeface="Calibri"/>
                <a:ea typeface="Calibri"/>
                <a:cs typeface="Calibri"/>
                <a:sym typeface="Calibri"/>
              </a:rPr>
              <a:t>Até [data]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p18"/>
          <p:cNvSpPr/>
          <p:nvPr/>
        </p:nvSpPr>
        <p:spPr>
          <a:xfrm>
            <a:off x="6144768" y="1691640"/>
            <a:ext cx="2606040" cy="3200400"/>
          </a:xfrm>
          <a:prstGeom prst="roundRect">
            <a:avLst>
              <a:gd fmla="val 4912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6" name="Google Shape;636;p18"/>
          <p:cNvSpPr/>
          <p:nvPr/>
        </p:nvSpPr>
        <p:spPr>
          <a:xfrm>
            <a:off x="6373368" y="1965960"/>
            <a:ext cx="640080" cy="640080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37" name="Google Shape;637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33388" y="212598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638" name="Google Shape;638;p18"/>
          <p:cNvSpPr txBox="1"/>
          <p:nvPr/>
        </p:nvSpPr>
        <p:spPr>
          <a:xfrm>
            <a:off x="7150608" y="2148840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E7C89"/>
                </a:solidFill>
                <a:latin typeface="Calibri"/>
                <a:ea typeface="Calibri"/>
                <a:cs typeface="Calibri"/>
                <a:sym typeface="Calibri"/>
              </a:rPr>
              <a:t>PASSO 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" name="Google Shape;639;p18"/>
          <p:cNvSpPr txBox="1"/>
          <p:nvPr/>
        </p:nvSpPr>
        <p:spPr>
          <a:xfrm>
            <a:off x="6373368" y="2788920"/>
            <a:ext cx="21945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Assinatura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" name="Google Shape;640;p18"/>
          <p:cNvSpPr txBox="1"/>
          <p:nvPr/>
        </p:nvSpPr>
        <p:spPr>
          <a:xfrm>
            <a:off x="6373368" y="3429000"/>
            <a:ext cx="21945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Aceite da proposta e assinatura do contrato e do DPA.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" name="Google Shape;641;p18"/>
          <p:cNvSpPr txBox="1"/>
          <p:nvPr/>
        </p:nvSpPr>
        <p:spPr>
          <a:xfrm>
            <a:off x="6373368" y="4434840"/>
            <a:ext cx="2194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9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E7C89"/>
                </a:solidFill>
                <a:latin typeface="Calibri"/>
                <a:ea typeface="Calibri"/>
                <a:cs typeface="Calibri"/>
                <a:sym typeface="Calibri"/>
              </a:rPr>
              <a:t>Até [data]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" name="Google Shape;642;p18"/>
          <p:cNvSpPr/>
          <p:nvPr/>
        </p:nvSpPr>
        <p:spPr>
          <a:xfrm>
            <a:off x="8942832" y="1691640"/>
            <a:ext cx="2606040" cy="3200400"/>
          </a:xfrm>
          <a:prstGeom prst="roundRect">
            <a:avLst>
              <a:gd fmla="val 4912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3" name="Google Shape;643;p18"/>
          <p:cNvSpPr/>
          <p:nvPr/>
        </p:nvSpPr>
        <p:spPr>
          <a:xfrm>
            <a:off x="9171432" y="1965960"/>
            <a:ext cx="640080" cy="64008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44" name="Google Shape;644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331452" y="212598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645" name="Google Shape;645;p18"/>
          <p:cNvSpPr txBox="1"/>
          <p:nvPr/>
        </p:nvSpPr>
        <p:spPr>
          <a:xfrm>
            <a:off x="9948672" y="2148840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E7C89"/>
                </a:solidFill>
                <a:latin typeface="Calibri"/>
                <a:ea typeface="Calibri"/>
                <a:cs typeface="Calibri"/>
                <a:sym typeface="Calibri"/>
              </a:rPr>
              <a:t>PASSO 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p18"/>
          <p:cNvSpPr txBox="1"/>
          <p:nvPr/>
        </p:nvSpPr>
        <p:spPr>
          <a:xfrm>
            <a:off x="9171432" y="2788920"/>
            <a:ext cx="21945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Kick-off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" name="Google Shape;647;p18"/>
          <p:cNvSpPr txBox="1"/>
          <p:nvPr/>
        </p:nvSpPr>
        <p:spPr>
          <a:xfrm>
            <a:off x="9171432" y="3429000"/>
            <a:ext cx="21945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Início da descoberta e da prova de conceito com o time do projeto.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8" name="Google Shape;648;p18"/>
          <p:cNvSpPr txBox="1"/>
          <p:nvPr/>
        </p:nvSpPr>
        <p:spPr>
          <a:xfrm>
            <a:off x="9171432" y="4434840"/>
            <a:ext cx="2194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9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E7C89"/>
                </a:solidFill>
                <a:latin typeface="Calibri"/>
                <a:ea typeface="Calibri"/>
                <a:cs typeface="Calibri"/>
                <a:sym typeface="Calibri"/>
              </a:rPr>
              <a:t>[data]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p18"/>
          <p:cNvSpPr/>
          <p:nvPr/>
        </p:nvSpPr>
        <p:spPr>
          <a:xfrm>
            <a:off x="548640" y="5120640"/>
            <a:ext cx="11094415" cy="960120"/>
          </a:xfrm>
          <a:prstGeom prst="roundRect">
            <a:avLst>
              <a:gd fmla="val 13333" name="adj"/>
            </a:avLst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0" name="Google Shape;650;p18"/>
          <p:cNvSpPr txBox="1"/>
          <p:nvPr/>
        </p:nvSpPr>
        <p:spPr>
          <a:xfrm>
            <a:off x="914400" y="5248656"/>
            <a:ext cx="6400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Calibri"/>
              <a:buNone/>
            </a:pPr>
            <a:r>
              <a:rPr b="1" i="0" lang="en-US" sz="2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Podemos confirmar a data de kick-off hoje?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p18"/>
          <p:cNvSpPr txBox="1"/>
          <p:nvPr/>
        </p:nvSpPr>
        <p:spPr>
          <a:xfrm>
            <a:off x="914400" y="5669280"/>
            <a:ext cx="6400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C8DE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B7C8DE"/>
                </a:solidFill>
                <a:latin typeface="Calibri"/>
                <a:ea typeface="Calibri"/>
                <a:cs typeface="Calibri"/>
                <a:sym typeface="Calibri"/>
              </a:rPr>
              <a:t>Nome do responsável comercial  ·  Cargo  ·  Contato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" name="Google Shape;652;p18"/>
          <p:cNvSpPr/>
          <p:nvPr/>
        </p:nvSpPr>
        <p:spPr>
          <a:xfrm>
            <a:off x="8412480" y="5303520"/>
            <a:ext cx="3017520" cy="457200"/>
          </a:xfrm>
          <a:prstGeom prst="roundRect">
            <a:avLst>
              <a:gd fmla="val 50000" name="adj"/>
            </a:avLst>
          </a:prstGeom>
          <a:solidFill>
            <a:srgbClr val="0E7C89"/>
          </a:solidFill>
          <a:ln cap="flat" cmpd="sng" w="12700">
            <a:solidFill>
              <a:srgbClr val="0E7C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3" name="Google Shape;653;p18"/>
          <p:cNvSpPr txBox="1"/>
          <p:nvPr/>
        </p:nvSpPr>
        <p:spPr>
          <a:xfrm>
            <a:off x="8412480" y="5303520"/>
            <a:ext cx="3017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finbrain.synapseai.com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4" name="Google Shape;654;p18"/>
          <p:cNvSpPr txBox="1"/>
          <p:nvPr>
            <p:ph idx="4294967295" type="sldNum"/>
          </p:nvPr>
        </p:nvSpPr>
        <p:spPr>
          <a:xfrm>
            <a:off x="10972800" y="6373368"/>
            <a:ext cx="667512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0677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6067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19"/>
          <p:cNvSpPr txBox="1"/>
          <p:nvPr>
            <p:ph type="title"/>
          </p:nvPr>
        </p:nvSpPr>
        <p:spPr>
          <a:xfrm>
            <a:off x="731520" y="2103120"/>
            <a:ext cx="73152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</a:pPr>
            <a:r>
              <a:rPr b="1" lang="en-US" sz="6000">
                <a:solidFill>
                  <a:schemeClr val="lt1"/>
                </a:solidFill>
              </a:rPr>
              <a:t>Obrigado</a:t>
            </a:r>
            <a:endParaRPr sz="6000"/>
          </a:p>
        </p:txBody>
      </p:sp>
      <p:sp>
        <p:nvSpPr>
          <p:cNvPr id="661" name="Google Shape;661;p19"/>
          <p:cNvSpPr txBox="1"/>
          <p:nvPr>
            <p:ph idx="1" type="body"/>
          </p:nvPr>
        </p:nvSpPr>
        <p:spPr>
          <a:xfrm>
            <a:off x="731520" y="3566160"/>
            <a:ext cx="6400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B7C8DE"/>
              </a:buClr>
              <a:buSzPts val="2200"/>
              <a:buNone/>
            </a:pPr>
            <a:r>
              <a:rPr lang="en-US" sz="2200">
                <a:solidFill>
                  <a:srgbClr val="B7C8DE"/>
                </a:solidFill>
              </a:rPr>
              <a:t>Vamos transformar esta proposta em resultado</a:t>
            </a:r>
            <a:endParaRPr sz="2200"/>
          </a:p>
        </p:txBody>
      </p:sp>
      <p:pic>
        <p:nvPicPr>
          <p:cNvPr descr="preencoded.png" id="662" name="Google Shape;66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0" y="4562856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663" name="Google Shape;663;p19"/>
          <p:cNvSpPr txBox="1"/>
          <p:nvPr/>
        </p:nvSpPr>
        <p:spPr>
          <a:xfrm>
            <a:off x="1143000" y="4526280"/>
            <a:ext cx="21945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C8DE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B7C8DE"/>
                </a:solidFill>
                <a:latin typeface="Calibri"/>
                <a:ea typeface="Calibri"/>
                <a:cs typeface="Calibri"/>
                <a:sym typeface="Calibri"/>
              </a:rPr>
              <a:t>Site institucional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" name="Google Shape;664;p19"/>
          <p:cNvSpPr txBox="1"/>
          <p:nvPr/>
        </p:nvSpPr>
        <p:spPr>
          <a:xfrm>
            <a:off x="3291840" y="4526280"/>
            <a:ext cx="4114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www.synapseai.com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65" name="Google Shape;665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1520" y="5020056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666" name="Google Shape;666;p19"/>
          <p:cNvSpPr txBox="1"/>
          <p:nvPr/>
        </p:nvSpPr>
        <p:spPr>
          <a:xfrm>
            <a:off x="1143000" y="4983480"/>
            <a:ext cx="21945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C8DE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B7C8DE"/>
                </a:solidFill>
                <a:latin typeface="Calibri"/>
                <a:ea typeface="Calibri"/>
                <a:cs typeface="Calibri"/>
                <a:sym typeface="Calibri"/>
              </a:rPr>
              <a:t>Documentação do produto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7" name="Google Shape;667;p19"/>
          <p:cNvSpPr txBox="1"/>
          <p:nvPr/>
        </p:nvSpPr>
        <p:spPr>
          <a:xfrm>
            <a:off x="3291840" y="4983480"/>
            <a:ext cx="4114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docs.synapseai.com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68" name="Google Shape;668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1520" y="5477256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669" name="Google Shape;669;p19"/>
          <p:cNvSpPr txBox="1"/>
          <p:nvPr/>
        </p:nvSpPr>
        <p:spPr>
          <a:xfrm>
            <a:off x="1143000" y="5440680"/>
            <a:ext cx="21945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C8DE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B7C8DE"/>
                </a:solidFill>
                <a:latin typeface="Calibri"/>
                <a:ea typeface="Calibri"/>
                <a:cs typeface="Calibri"/>
                <a:sym typeface="Calibri"/>
              </a:rPr>
              <a:t>Seu contato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p19"/>
          <p:cNvSpPr txBox="1"/>
          <p:nvPr/>
        </p:nvSpPr>
        <p:spPr>
          <a:xfrm>
            <a:off x="3291840" y="5440680"/>
            <a:ext cx="4114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Nome  ·  Cargo  ·  Contato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ynapseAI">
  <a:themeElements>
    <a:clrScheme name="SynapseAI">
      <a:dk1>
        <a:srgbClr val="1B2430"/>
      </a:dk1>
      <a:lt1>
        <a:srgbClr val="FFFFFF"/>
      </a:lt1>
      <a:dk2>
        <a:srgbClr val="103050"/>
      </a:dk2>
      <a:lt2>
        <a:srgbClr val="F2F4F7"/>
      </a:lt2>
      <a:accent1>
        <a:srgbClr val="17A9B9"/>
      </a:accent1>
      <a:accent2>
        <a:srgbClr val="4DA3E8"/>
      </a:accent2>
      <a:accent3>
        <a:srgbClr val="8A7BE0"/>
      </a:accent3>
      <a:accent4>
        <a:srgbClr val="E8A23A"/>
      </a:accent4>
      <a:accent5>
        <a:srgbClr val="2FBF8F"/>
      </a:accent5>
      <a:accent6>
        <a:srgbClr val="606770"/>
      </a:accent6>
      <a:hlink>
        <a:srgbClr val="17A9B9"/>
      </a:hlink>
      <a:folHlink>
        <a:srgbClr val="60677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ynapseAI">
  <a:themeElements>
    <a:clrScheme name="SynapseAI">
      <a:dk1>
        <a:srgbClr val="1B2430"/>
      </a:dk1>
      <a:lt1>
        <a:srgbClr val="FFFFFF"/>
      </a:lt1>
      <a:dk2>
        <a:srgbClr val="103050"/>
      </a:dk2>
      <a:lt2>
        <a:srgbClr val="F2F4F7"/>
      </a:lt2>
      <a:accent1>
        <a:srgbClr val="17A9B9"/>
      </a:accent1>
      <a:accent2>
        <a:srgbClr val="4DA3E8"/>
      </a:accent2>
      <a:accent3>
        <a:srgbClr val="8A7BE0"/>
      </a:accent3>
      <a:accent4>
        <a:srgbClr val="E8A23A"/>
      </a:accent4>
      <a:accent5>
        <a:srgbClr val="2FBF8F"/>
      </a:accent5>
      <a:accent6>
        <a:srgbClr val="606770"/>
      </a:accent6>
      <a:hlink>
        <a:srgbClr val="17A9B9"/>
      </a:hlink>
      <a:folHlink>
        <a:srgbClr val="60677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2026-10-03T05:14:30Z</dcterms:created>
  <dc:creator>SynapseAI Solutions</dc:creator>
</cp:coreProperties>
</file>