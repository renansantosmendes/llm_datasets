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J2qmSLjdNrLYlGXkWDLCh1WW1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00932C-4092-44C4-92BF-D1D44923BBF5}">
  <a:tblStyle styleId="{4200932C-4092-44C4-92BF-D1D44923BBF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305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3050"/>
                </a:solidFill>
                <a:latin typeface="+mn-lt"/>
              </a:rPr>
              <a:t>Fluxo por ano contratual (R$ mil)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Investimento</c:v>
                </c:pt>
              </c:strCache>
            </c:strRef>
          </c:tx>
          <c:spPr>
            <a:solidFill>
              <a:srgbClr val="9AA6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115</c:v>
                </c:pt>
                <c:pt idx="1">
                  <c:v>105</c:v>
                </c:pt>
                <c:pt idx="2">
                  <c:v>105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Benefício estimado</c:v>
                </c:pt>
              </c:strCache>
            </c:strRef>
          </c:tx>
          <c:spPr>
            <a:solidFill>
              <a:srgbClr val="8A7B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306</c:v>
                </c:pt>
                <c:pt idx="1">
                  <c:v>485</c:v>
                </c:pt>
                <c:pt idx="2">
                  <c:v>510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0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Proposta para leads em estágio final. Preencha o nome do cliente, o responsável comercial e a data de validade. Os valores são de referência e devem ser validados pela liderança comercial antes do envio.</a:t>
            </a:r>
            <a:endParaRPr/>
          </a:p>
        </p:txBody>
      </p:sp>
      <p:sp>
        <p:nvSpPr>
          <p:cNvPr id="35" name="Google Shape;3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Apresente em 30 segundos e vá direto ao resumo executivo. Em reuniões de fechamento, a decisão costuma estar nos slides de investimento, business case e condições.</a:t>
            </a:r>
            <a:endParaRPr/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Resuma em uma frase: o que vai ser entregue, quanto custa e em quanto tempo se paga. Os três indicadores à direita são calculados com as premissas do slide de business case.</a:t>
            </a:r>
            <a:endParaRPr/>
          </a:p>
        </p:txBody>
      </p:sp>
      <p:sp>
        <p:nvSpPr>
          <p:cNvPr id="83" name="Google Shape;8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Substitua os três cards pelas dores reais ouvidas nas reuniões com o cliente. Quanto mais específico, mais forte fica o business case.</a:t>
            </a:r>
            <a:endParaRPr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Apresente apenas as funcionalidades ligadas às dores do slide anterior.</a:t>
            </a:r>
            <a:endParaRPr/>
          </a:p>
        </p:txBody>
      </p:sp>
      <p:sp>
        <p:nvSpPr>
          <p:cNvPr id="138" name="Google Shape;1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Mostre o fluxo ponta a ponta e destaque as três garantias: fundamentação nos dados do cliente, rastreabilidade e humano no controle.</a:t>
            </a:r>
            <a:endParaRPr/>
          </a:p>
        </p:txBody>
      </p:sp>
      <p:sp>
        <p:nvSpPr>
          <p:cNvPr id="175" name="Google Shape;17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sistemas listados são exemplos típicos; o escopo exato de integração é fechado na PoC. Adapte os satélites aos sistemas reais do cliente.</a:t>
            </a:r>
            <a:endParaRPr/>
          </a:p>
        </p:txBody>
      </p:sp>
      <p:sp>
        <p:nvSpPr>
          <p:cNvPr id="229" name="Google Shape;22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Antecipe as perguntas de segurança e privacidade. Ofereça uma sessão técnica com a equipe de InfoSec do cliente.</a:t>
            </a:r>
            <a:endParaRPr/>
          </a:p>
        </p:txBody>
      </p:sp>
      <p:sp>
        <p:nvSpPr>
          <p:cNvPr id="280" name="Google Shape;28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Deixe claro o que está incluído e o que está fora. Itens fora do escopo viram propostas complementares.</a:t>
            </a:r>
            <a:endParaRPr/>
          </a:p>
        </p:txBody>
      </p:sp>
      <p:sp>
        <p:nvSpPr>
          <p:cNvPr id="318" name="Google Shape;31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prazos assumem acesso às fontes e disponibilidade do time do cliente. Calendário e janelas de entrada em produção são alinhados no kick-off.</a:t>
            </a:r>
            <a:endParaRPr/>
          </a:p>
        </p:txBody>
      </p:sp>
      <p:sp>
        <p:nvSpPr>
          <p:cNvPr id="329" name="Google Shape;32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Premissas ilustrativas e conservadoras (adoção de 80% no primeiro ano após o go-live). Valide cada premissa com o cliente e, se possível, substitua pelos números dele. Nunca apresente o retorno como garantia.</a:t>
            </a:r>
            <a:endParaRPr/>
          </a:p>
        </p:txBody>
      </p:sp>
      <p:sp>
        <p:nvSpPr>
          <p:cNvPr id="374" name="Google Shape;37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VALORES DE REFERÊNCIA. Âncoras de mercado (jun–set/2026): Articulate 360 AI Teams custa US$ 1.749 por usuário/ano; iSpring Cloud AI, US$ 720 por autor/ano. Câmbio de referência: R$ 5,22/US$. Equivale a ~R$ 7.013 por autor/ano (≈ US$ 1.344), com licença, plataforma e suporte incluídos. Preço em condição comercial competitiva: confirme margem e alçada de desconto com a liderança antes do envio.</a:t>
            </a:r>
            <a:endParaRPr/>
          </a:p>
        </p:txBody>
      </p:sp>
      <p:sp>
        <p:nvSpPr>
          <p:cNvPr id="403" name="Google Shape;40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pacote Profissional é o recomendado e corresponde ao cenário de referência. Use Essencial como porta de entrada e Enterprise para ampliar escopo e criticidade.</a:t>
            </a:r>
            <a:endParaRPr/>
          </a:p>
        </p:txBody>
      </p:sp>
      <p:sp>
        <p:nvSpPr>
          <p:cNvPr id="422" name="Google Shape;42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Condições e incentivos são sugestões e exigem aprovação da liderança comercial. Valide alçada de desconto antes de oferecer.</a:t>
            </a:r>
            <a:endParaRPr/>
          </a:p>
        </p:txBody>
      </p:sp>
      <p:sp>
        <p:nvSpPr>
          <p:cNvPr id="477" name="Google Shape;47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Peça ao cliente que nomeie os responsáveis ainda antes da assinatura: isso reduz atrasos de início.</a:t>
            </a:r>
            <a:endParaRPr/>
          </a:p>
        </p:txBody>
      </p:sp>
      <p:sp>
        <p:nvSpPr>
          <p:cNvPr id="525" name="Google Shape;52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os riscos de frente aumenta a confiança no fechamento. Complemente com riscos específicos do cliente.</a:t>
            </a:r>
            <a:endParaRPr/>
          </a:p>
        </p:txBody>
      </p:sp>
      <p:sp>
        <p:nvSpPr>
          <p:cNvPr id="569" name="Google Shape;56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Retome os três pontos que mais pesaram nas conversas anteriores.</a:t>
            </a:r>
            <a:endParaRPr/>
          </a:p>
        </p:txBody>
      </p:sp>
      <p:sp>
        <p:nvSpPr>
          <p:cNvPr id="580" name="Google Shape;58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Peça uma data concreta para cada passo. Combine o responsável do cliente por cada etapa antes de encerrar a reunião.</a:t>
            </a:r>
            <a:endParaRPr/>
          </a:p>
        </p:txBody>
      </p:sp>
      <p:sp>
        <p:nvSpPr>
          <p:cNvPr id="617" name="Google Shape;61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Notas comerciais de preço. Âncoras de mercado (jun–set/2026): Articulate 360 AI Teams custa US$ 1.749 por usuário/ano; iSpring Cloud AI, US$ 720 por autor/ano. Câmbio de referência: R$ 5,22/US$. Equivale a ~R$ 7.013 por autor/ano (≈ US$ 1.344), com licença, plataforma e suporte incluídos. As referências de terceiros são estimativas públicas (jun–set/2026) e podem mudar; confirme antes de usar em negociação. Preços da SynapseAI são de referência e dependem de aprovação.</a:t>
            </a:r>
            <a:endParaRPr/>
          </a:p>
        </p:txBody>
      </p:sp>
      <p:sp>
        <p:nvSpPr>
          <p:cNvPr id="658" name="Google Shape;65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>
  <p:cSld name="CAP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white.png" id="12" name="Google Shape;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548640"/>
            <a:ext cx="676656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1"/>
          <p:cNvSpPr/>
          <p:nvPr/>
        </p:nvSpPr>
        <p:spPr>
          <a:xfrm>
            <a:off x="1600200" y="777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SynapseAI Solutions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1"/>
          <p:cNvSpPr txBox="1"/>
          <p:nvPr>
            <p:ph type="title"/>
          </p:nvPr>
        </p:nvSpPr>
        <p:spPr>
          <a:xfrm>
            <a:off x="731520" y="1874520"/>
            <a:ext cx="7680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b="1" i="0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21"/>
          <p:cNvSpPr txBox="1"/>
          <p:nvPr>
            <p:ph idx="1" type="body"/>
          </p:nvPr>
        </p:nvSpPr>
        <p:spPr>
          <a:xfrm>
            <a:off x="731520" y="4023360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B7C8DE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ULO">
  <p:cSld name="TITUL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dark.png" id="17" name="Google Shape;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336792"/>
            <a:ext cx="246888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2"/>
          <p:cNvSpPr/>
          <p:nvPr/>
        </p:nvSpPr>
        <p:spPr>
          <a:xfrm>
            <a:off x="914400" y="6373368"/>
            <a:ext cx="6400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SynapseAI Solutions  ·  Proposta comercial  ·  Confidencial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2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CHAMENTO">
  <p:cSld name="FECHAMEN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white.png" id="22" name="Google Shape;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548640"/>
            <a:ext cx="676656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3"/>
          <p:cNvSpPr/>
          <p:nvPr/>
        </p:nvSpPr>
        <p:spPr>
          <a:xfrm>
            <a:off x="1600200" y="777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SynapseAI Solutions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3"/>
          <p:cNvSpPr txBox="1"/>
          <p:nvPr>
            <p:ph type="title"/>
          </p:nvPr>
        </p:nvSpPr>
        <p:spPr>
          <a:xfrm>
            <a:off x="731520" y="2103120"/>
            <a:ext cx="7315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731520" y="356616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40"/>
              </a:spcBef>
              <a:spcAft>
                <a:spcPts val="0"/>
              </a:spcAft>
              <a:buClr>
                <a:srgbClr val="B7C8DE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ULO_ESCURO">
  <p:cSld name="TITULO_ESCUR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white.png" id="28" name="Google Shape;2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336792"/>
            <a:ext cx="246888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5"/>
          <p:cNvSpPr/>
          <p:nvPr/>
        </p:nvSpPr>
        <p:spPr>
          <a:xfrm>
            <a:off x="914400" y="6373368"/>
            <a:ext cx="6400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SynapseAI Solutions  ·  Proposta comercial  ·  Confidencial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5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25"/>
          <p:cNvSpPr txBox="1"/>
          <p:nvPr>
            <p:ph idx="12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6.png"/><Relationship Id="rId7" Type="http://schemas.openxmlformats.org/officeDocument/2006/relationships/image" Target="../media/image3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10" Type="http://schemas.openxmlformats.org/officeDocument/2006/relationships/image" Target="../media/image28.png"/><Relationship Id="rId9" Type="http://schemas.openxmlformats.org/officeDocument/2006/relationships/image" Target="../media/image43.png"/><Relationship Id="rId5" Type="http://schemas.openxmlformats.org/officeDocument/2006/relationships/image" Target="../media/image25.png"/><Relationship Id="rId6" Type="http://schemas.openxmlformats.org/officeDocument/2006/relationships/image" Target="../media/image6.png"/><Relationship Id="rId7" Type="http://schemas.openxmlformats.org/officeDocument/2006/relationships/image" Target="../media/image35.png"/><Relationship Id="rId8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11" Type="http://schemas.openxmlformats.org/officeDocument/2006/relationships/image" Target="../media/image30.png"/><Relationship Id="rId10" Type="http://schemas.openxmlformats.org/officeDocument/2006/relationships/image" Target="../media/image31.png"/><Relationship Id="rId9" Type="http://schemas.openxmlformats.org/officeDocument/2006/relationships/image" Target="../media/image34.png"/><Relationship Id="rId5" Type="http://schemas.openxmlformats.org/officeDocument/2006/relationships/image" Target="../media/image7.png"/><Relationship Id="rId6" Type="http://schemas.openxmlformats.org/officeDocument/2006/relationships/image" Target="../media/image17.png"/><Relationship Id="rId7" Type="http://schemas.openxmlformats.org/officeDocument/2006/relationships/image" Target="../media/image27.png"/><Relationship Id="rId8" Type="http://schemas.openxmlformats.org/officeDocument/2006/relationships/image" Target="../media/image3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3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image" Target="../media/image16.png"/><Relationship Id="rId7" Type="http://schemas.openxmlformats.org/officeDocument/2006/relationships/image" Target="../media/image36.png"/><Relationship Id="rId8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image" Target="../media/image31.png"/><Relationship Id="rId6" Type="http://schemas.openxmlformats.org/officeDocument/2006/relationships/image" Target="../media/image40.png"/><Relationship Id="rId7" Type="http://schemas.openxmlformats.org/officeDocument/2006/relationships/image" Target="../media/image42.png"/><Relationship Id="rId8" Type="http://schemas.openxmlformats.org/officeDocument/2006/relationships/image" Target="../media/image4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8.png"/><Relationship Id="rId4" Type="http://schemas.openxmlformats.org/officeDocument/2006/relationships/image" Target="../media/image3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2.png"/><Relationship Id="rId4" Type="http://schemas.openxmlformats.org/officeDocument/2006/relationships/image" Target="../media/image62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8.png"/><Relationship Id="rId4" Type="http://schemas.openxmlformats.org/officeDocument/2006/relationships/image" Target="../media/image71.png"/><Relationship Id="rId9" Type="http://schemas.openxmlformats.org/officeDocument/2006/relationships/image" Target="../media/image33.png"/><Relationship Id="rId5" Type="http://schemas.openxmlformats.org/officeDocument/2006/relationships/image" Target="../media/image70.png"/><Relationship Id="rId6" Type="http://schemas.openxmlformats.org/officeDocument/2006/relationships/image" Target="../media/image78.png"/><Relationship Id="rId7" Type="http://schemas.openxmlformats.org/officeDocument/2006/relationships/image" Target="../media/image82.png"/><Relationship Id="rId8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79.png"/><Relationship Id="rId5" Type="http://schemas.openxmlformats.org/officeDocument/2006/relationships/image" Target="../media/image69.png"/><Relationship Id="rId6" Type="http://schemas.openxmlformats.org/officeDocument/2006/relationships/image" Target="../media/image4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Relationship Id="rId4" Type="http://schemas.openxmlformats.org/officeDocument/2006/relationships/image" Target="../media/image85.png"/><Relationship Id="rId5" Type="http://schemas.openxmlformats.org/officeDocument/2006/relationships/image" Target="../media/image65.png"/><Relationship Id="rId6" Type="http://schemas.openxmlformats.org/officeDocument/2006/relationships/image" Target="../media/image4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6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 txBox="1"/>
          <p:nvPr/>
        </p:nvSpPr>
        <p:spPr>
          <a:xfrm>
            <a:off x="731520" y="1463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PROPOSTA COMERCIAL · EDUCAÇÃO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 txBox="1"/>
          <p:nvPr>
            <p:ph type="title"/>
          </p:nvPr>
        </p:nvSpPr>
        <p:spPr>
          <a:xfrm>
            <a:off x="731520" y="1874520"/>
            <a:ext cx="7680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Proposta comercial: CourseGen Studio</a:t>
            </a:r>
            <a:endParaRPr sz="4200"/>
          </a:p>
        </p:txBody>
      </p:sp>
      <p:sp>
        <p:nvSpPr>
          <p:cNvPr id="39" name="Google Shape;39;p1"/>
          <p:cNvSpPr txBox="1"/>
          <p:nvPr>
            <p:ph idx="1" type="body"/>
          </p:nvPr>
        </p:nvSpPr>
        <p:spPr>
          <a:xfrm>
            <a:off x="731520" y="4023360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2000"/>
              <a:buNone/>
            </a:pPr>
            <a:r>
              <a:rPr lang="en-US" sz="2000">
                <a:solidFill>
                  <a:srgbClr val="B7C8DE"/>
                </a:solidFill>
              </a:rPr>
              <a:t>Geração Assistida de Conteúdo Educacional</a:t>
            </a:r>
            <a:endParaRPr sz="2000"/>
          </a:p>
        </p:txBody>
      </p:sp>
      <p:pic>
        <p:nvPicPr>
          <p:cNvPr descr="assets/sym_coursegen.png" id="40" name="Google Shape;4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92640" y="1188720"/>
            <a:ext cx="1737360" cy="1737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CONTEÚDO DA PROPOSTA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O que esta proposta contém</a:t>
            </a:r>
            <a:endParaRPr sz="3600"/>
          </a:p>
        </p:txBody>
      </p:sp>
      <p:sp>
        <p:nvSpPr>
          <p:cNvPr id="48" name="Google Shape;48;p2"/>
          <p:cNvSpPr/>
          <p:nvPr/>
        </p:nvSpPr>
        <p:spPr>
          <a:xfrm>
            <a:off x="548640" y="1645920"/>
            <a:ext cx="6583680" cy="804672"/>
          </a:xfrm>
          <a:prstGeom prst="roundRect">
            <a:avLst>
              <a:gd fmla="val 1590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731520" y="1764792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 txBox="1"/>
          <p:nvPr/>
        </p:nvSpPr>
        <p:spPr>
          <a:xfrm>
            <a:off x="731520" y="17647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1508760" y="17556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Resumo e desafio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1508760" y="20848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O que ouvimos e o objetivo do projeto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48640" y="2560320"/>
            <a:ext cx="6583680" cy="804672"/>
          </a:xfrm>
          <a:prstGeom prst="roundRect">
            <a:avLst>
              <a:gd fmla="val 1590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731520" y="2679192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 txBox="1"/>
          <p:nvPr/>
        </p:nvSpPr>
        <p:spPr>
          <a:xfrm>
            <a:off x="731520" y="26791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1508760" y="26700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solução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1508760" y="29992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Como funciona, arquitetura e segurança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48640" y="3474720"/>
            <a:ext cx="6583680" cy="804672"/>
          </a:xfrm>
          <a:prstGeom prst="roundRect">
            <a:avLst>
              <a:gd fmla="val 1590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731520" y="3593592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 txBox="1"/>
          <p:nvPr/>
        </p:nvSpPr>
        <p:spPr>
          <a:xfrm>
            <a:off x="731520" y="35935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508760" y="35844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Escopo e cronograma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508760" y="39136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Fases, entregáveis e governança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48640" y="4389120"/>
            <a:ext cx="6583680" cy="804672"/>
          </a:xfrm>
          <a:prstGeom prst="roundRect">
            <a:avLst>
              <a:gd fmla="val 1590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731520" y="4507992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 txBox="1"/>
          <p:nvPr/>
        </p:nvSpPr>
        <p:spPr>
          <a:xfrm>
            <a:off x="731520" y="45079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1508760" y="44988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Investimento e business case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1508760" y="48280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Valores, pacotes e retorno estimado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48640" y="5303520"/>
            <a:ext cx="6583680" cy="804672"/>
          </a:xfrm>
          <a:prstGeom prst="roundRect">
            <a:avLst>
              <a:gd fmla="val 1590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731520" y="5422392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 txBox="1"/>
          <p:nvPr/>
        </p:nvSpPr>
        <p:spPr>
          <a:xfrm>
            <a:off x="731520" y="54223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1508760" y="54132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Condições e próximos passos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508760" y="57424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SLAs, condições comerciais e assinatura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7589520" y="1645920"/>
            <a:ext cx="4050792" cy="4462272"/>
          </a:xfrm>
          <a:prstGeom prst="roundRect">
            <a:avLst>
              <a:gd fmla="val 4063" name="adj"/>
            </a:avLst>
          </a:prstGeom>
          <a:solidFill>
            <a:srgbClr val="EFECFA"/>
          </a:solidFill>
          <a:ln cap="flat" cmpd="sng" w="12700">
            <a:solidFill>
              <a:srgbClr val="EFEC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sym_coursegen.png" id="74" name="Google Shape;7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3920" y="1965960"/>
            <a:ext cx="219456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"/>
          <p:cNvSpPr txBox="1"/>
          <p:nvPr/>
        </p:nvSpPr>
        <p:spPr>
          <a:xfrm>
            <a:off x="7589520" y="4343400"/>
            <a:ext cx="4050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CourseGen Studio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7818120" y="4846320"/>
            <a:ext cx="3593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Geração Assistida de Conteúdo Educacional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7909560" y="5532120"/>
            <a:ext cx="3410712" cy="329184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 txBox="1"/>
          <p:nvPr/>
        </p:nvSpPr>
        <p:spPr>
          <a:xfrm>
            <a:off x="7909560" y="5532120"/>
            <a:ext cx="34107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Cenário de referência: 15 autores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RESUMO EXECUTIVO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Resumo da proposta</a:t>
            </a:r>
            <a:endParaRPr sz="3600"/>
          </a:p>
        </p:txBody>
      </p:sp>
      <p:sp>
        <p:nvSpPr>
          <p:cNvPr id="87" name="Google Shape;87;p3"/>
          <p:cNvSpPr txBox="1"/>
          <p:nvPr/>
        </p:nvSpPr>
        <p:spPr>
          <a:xfrm>
            <a:off x="548640" y="1691640"/>
            <a:ext cx="6309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Acelerar a criação e a atualização de cursos com padrão pedagógico consistente, mantendo autoria e aprovação humanas.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85216" y="3328416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948" y="347014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 txBox="1"/>
          <p:nvPr/>
        </p:nvSpPr>
        <p:spPr>
          <a:xfrm>
            <a:off x="1371600" y="324612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Escopo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1371600" y="3557016"/>
            <a:ext cx="5577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3 modelos pedagógicos, fontes institucionais (500 documentos), banco de questões, exportação SCORM, PPTX e PDF, treinamento.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85216" y="4288536"/>
            <a:ext cx="566928" cy="5669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948" y="443026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 txBox="1"/>
          <p:nvPr/>
        </p:nvSpPr>
        <p:spPr>
          <a:xfrm>
            <a:off x="1371600" y="420624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Investimento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1371600" y="4517136"/>
            <a:ext cx="5577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Implantação de R$ 36 mil e recorrente de R$ 105 mil por ano a partir do go-live.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585216" y="5248656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6948" y="539038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 txBox="1"/>
          <p:nvPr/>
        </p:nvSpPr>
        <p:spPr>
          <a:xfrm>
            <a:off x="1371600" y="516636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Prazo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1371600" y="5477256"/>
            <a:ext cx="5577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Prova de conceito e implantação com go-live em cerca de 11 semanas.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7269480" y="1691640"/>
            <a:ext cx="4370832" cy="1325880"/>
          </a:xfrm>
          <a:prstGeom prst="roundRect">
            <a:avLst>
              <a:gd fmla="val 11034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 txBox="1"/>
          <p:nvPr/>
        </p:nvSpPr>
        <p:spPr>
          <a:xfrm>
            <a:off x="7498080" y="1691640"/>
            <a:ext cx="20574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R$ 115 mil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9601200" y="1691640"/>
            <a:ext cx="19202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investimento no 1º ano contratual (implantação + recorrente a partir do go-live)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7269480" y="3200400"/>
            <a:ext cx="4370832" cy="1325880"/>
          </a:xfrm>
          <a:prstGeom prst="roundRect">
            <a:avLst>
              <a:gd fmla="val 11034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7498080" y="3200400"/>
            <a:ext cx="20574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5 meses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9601200" y="3200400"/>
            <a:ext cx="19202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payback estimado a partir da assinatura, com premissas conservadoras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7269480" y="4709160"/>
            <a:ext cx="4370832" cy="1325880"/>
          </a:xfrm>
          <a:prstGeom prst="roundRect">
            <a:avLst>
              <a:gd fmla="val 11034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7498080" y="4709160"/>
            <a:ext cx="20574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11 semanas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9601200" y="4709160"/>
            <a:ext cx="19202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até o go-live, após descoberta, PoC, integração e homologação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ENTENDIMENTO DO DESAFIO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O que ouvimos do seu time</a:t>
            </a:r>
            <a:endParaRPr sz="3600"/>
          </a:p>
        </p:txBody>
      </p:sp>
      <p:sp>
        <p:nvSpPr>
          <p:cNvPr id="117" name="Google Shape;117;p4"/>
          <p:cNvSpPr/>
          <p:nvPr/>
        </p:nvSpPr>
        <p:spPr>
          <a:xfrm>
            <a:off x="548640" y="1691640"/>
            <a:ext cx="3593592" cy="3017520"/>
          </a:xfrm>
          <a:prstGeom prst="roundRect">
            <a:avLst>
              <a:gd fmla="val 424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822960" y="182880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822960" y="26974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Produção lenta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822960" y="3200400"/>
            <a:ext cx="30632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Criar ementas, aulas, materiais e avaliações consome semanas de professores e IDs.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297680" y="1691640"/>
            <a:ext cx="3593592" cy="3017520"/>
          </a:xfrm>
          <a:prstGeom prst="roundRect">
            <a:avLst>
              <a:gd fmla="val 424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4572000" y="182880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4572000" y="26974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Padrão irregular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4572000" y="3200400"/>
            <a:ext cx="30632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 qualidade e o formato pedagógico variam entre cursos e equipes.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8046720" y="1691640"/>
            <a:ext cx="3593592" cy="3017520"/>
          </a:xfrm>
          <a:prstGeom prst="roundRect">
            <a:avLst>
              <a:gd fmla="val 424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8321040" y="182880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8321040" y="26974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Atualização cara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8321040" y="3200400"/>
            <a:ext cx="30632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Revisar conteúdo e avaliações a cada mudança é lento e custoso.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48640" y="4983480"/>
            <a:ext cx="11094415" cy="1097280"/>
          </a:xfrm>
          <a:prstGeom prst="roundRect">
            <a:avLst>
              <a:gd fmla="val 11667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914400" y="5212080"/>
            <a:ext cx="640080" cy="64008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" y="53721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 txBox="1"/>
          <p:nvPr/>
        </p:nvSpPr>
        <p:spPr>
          <a:xfrm>
            <a:off x="1828800" y="51389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OBJETIVO DO PROJETO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1828800" y="5440680"/>
            <a:ext cx="9509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Acelerar a criação e a atualização de cursos com padrão pedagógico consistente, mantendo autoria e aprovação humanas.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A SOLUÇÃO · EDUCAÇÃO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CourseGen Studio: o que você recebe</a:t>
            </a:r>
            <a:endParaRPr sz="3600"/>
          </a:p>
        </p:txBody>
      </p:sp>
      <p:sp>
        <p:nvSpPr>
          <p:cNvPr id="142" name="Google Shape;142;p5"/>
          <p:cNvSpPr/>
          <p:nvPr/>
        </p:nvSpPr>
        <p:spPr>
          <a:xfrm>
            <a:off x="548640" y="1645920"/>
            <a:ext cx="3749040" cy="4526280"/>
          </a:xfrm>
          <a:prstGeom prst="roundRect">
            <a:avLst>
              <a:gd fmla="val 4390" name="adj"/>
            </a:avLst>
          </a:prstGeom>
          <a:solidFill>
            <a:srgbClr val="EFECFA"/>
          </a:solidFill>
          <a:ln cap="flat" cmpd="sng" w="12700">
            <a:solidFill>
              <a:srgbClr val="EFEC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sym_coursegen.png" id="143" name="Google Shape;1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1920240"/>
            <a:ext cx="201168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 txBox="1"/>
          <p:nvPr/>
        </p:nvSpPr>
        <p:spPr>
          <a:xfrm>
            <a:off x="731520" y="411480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CourseGen Studio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822960" y="461772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Geração Assistida de Conteúdo Educacional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1463040" y="5257800"/>
            <a:ext cx="1920240" cy="31089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 txBox="1"/>
          <p:nvPr/>
        </p:nvSpPr>
        <p:spPr>
          <a:xfrm>
            <a:off x="1463040" y="5257800"/>
            <a:ext cx="1920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Educação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731520" y="56692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coursegen.synapseai.com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663440" y="1645920"/>
            <a:ext cx="3374136" cy="1783080"/>
          </a:xfrm>
          <a:prstGeom prst="roundRect">
            <a:avLst>
              <a:gd fmla="val 717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4892040" y="1920240"/>
            <a:ext cx="566928" cy="5669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1" name="Google Shape;15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3772" y="206197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 txBox="1"/>
          <p:nvPr/>
        </p:nvSpPr>
        <p:spPr>
          <a:xfrm>
            <a:off x="5577840" y="18745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Consistência pedagógica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4892040" y="260604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Alinhamento a Bloom e matriz objetivo × atividade × questão.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8266176" y="1645920"/>
            <a:ext cx="3374136" cy="1783080"/>
          </a:xfrm>
          <a:prstGeom prst="roundRect">
            <a:avLst>
              <a:gd fmla="val 717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8494776" y="1920240"/>
            <a:ext cx="566928" cy="5669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36508" y="206197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/>
          <p:cNvSpPr txBox="1"/>
          <p:nvPr/>
        </p:nvSpPr>
        <p:spPr>
          <a:xfrm>
            <a:off x="9180576" y="18745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Seu acervo como base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8494776" y="260604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RAG institucional para manter aderência ao contexto.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663440" y="3611880"/>
            <a:ext cx="3374136" cy="1783080"/>
          </a:xfrm>
          <a:prstGeom prst="roundRect">
            <a:avLst>
              <a:gd fmla="val 717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4892040" y="3886200"/>
            <a:ext cx="566928" cy="5669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1" name="Google Shape;16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33772" y="402793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/>
          <p:cNvSpPr txBox="1"/>
          <p:nvPr/>
        </p:nvSpPr>
        <p:spPr>
          <a:xfrm>
            <a:off x="5577840" y="384048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Versionamento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4892040" y="457200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Histórico, comparação e aprovação de cada versão.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8266176" y="3611880"/>
            <a:ext cx="3374136" cy="1783080"/>
          </a:xfrm>
          <a:prstGeom prst="roundRect">
            <a:avLst>
              <a:gd fmla="val 717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8494776" y="3886200"/>
            <a:ext cx="566928" cy="5669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36508" y="402793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/>
          <p:cNvSpPr txBox="1"/>
          <p:nvPr/>
        </p:nvSpPr>
        <p:spPr>
          <a:xfrm>
            <a:off x="9180576" y="384048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Exportação flexível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8494776" y="457200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PDF, PPTX, HTML e SCORM.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4663440" y="5623560"/>
            <a:ext cx="6976872" cy="548640"/>
          </a:xfrm>
          <a:prstGeom prst="roundRect">
            <a:avLst>
              <a:gd fmla="val 23333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 txBox="1"/>
          <p:nvPr/>
        </p:nvSpPr>
        <p:spPr>
          <a:xfrm>
            <a:off x="4663440" y="5623560"/>
            <a:ext cx="69768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Apoio à decisão: a decisão final é sempre do profissional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COMO FUNCIONA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Do dado ao resultado, em cinco etapas</a:t>
            </a:r>
            <a:endParaRPr sz="3600"/>
          </a:p>
        </p:txBody>
      </p:sp>
      <p:sp>
        <p:nvSpPr>
          <p:cNvPr id="179" name="Google Shape;179;p6"/>
          <p:cNvSpPr/>
          <p:nvPr/>
        </p:nvSpPr>
        <p:spPr>
          <a:xfrm>
            <a:off x="548640" y="1691640"/>
            <a:ext cx="2103120" cy="2606040"/>
          </a:xfrm>
          <a:prstGeom prst="roundRect">
            <a:avLst>
              <a:gd fmla="val 60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 txBox="1"/>
          <p:nvPr/>
        </p:nvSpPr>
        <p:spPr>
          <a:xfrm>
            <a:off x="713232" y="18013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1234440" y="2011680"/>
            <a:ext cx="731520" cy="73152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 txBox="1"/>
          <p:nvPr/>
        </p:nvSpPr>
        <p:spPr>
          <a:xfrm>
            <a:off x="658368" y="2880360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Briefing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685800" y="3273552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Público, carga horária, objetivos e competências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6"/>
          <p:cNvCxnSpPr/>
          <p:nvPr/>
        </p:nvCxnSpPr>
        <p:spPr>
          <a:xfrm>
            <a:off x="2679192" y="2377440"/>
            <a:ext cx="109728" cy="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6" name="Google Shape;186;p6"/>
          <p:cNvSpPr/>
          <p:nvPr/>
        </p:nvSpPr>
        <p:spPr>
          <a:xfrm>
            <a:off x="2798064" y="1691640"/>
            <a:ext cx="2103120" cy="2606040"/>
          </a:xfrm>
          <a:prstGeom prst="roundRect">
            <a:avLst>
              <a:gd fmla="val 60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 txBox="1"/>
          <p:nvPr/>
        </p:nvSpPr>
        <p:spPr>
          <a:xfrm>
            <a:off x="2962656" y="18013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3483864" y="2011680"/>
            <a:ext cx="731520" cy="73152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9" name="Google Shape;18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6744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6"/>
          <p:cNvSpPr txBox="1"/>
          <p:nvPr/>
        </p:nvSpPr>
        <p:spPr>
          <a:xfrm>
            <a:off x="2907792" y="2880360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Ementa e aulas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2935224" y="3273552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Módulos, planos de aula e materiais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p6"/>
          <p:cNvCxnSpPr/>
          <p:nvPr/>
        </p:nvCxnSpPr>
        <p:spPr>
          <a:xfrm>
            <a:off x="4928616" y="2377440"/>
            <a:ext cx="109728" cy="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3" name="Google Shape;193;p6"/>
          <p:cNvSpPr/>
          <p:nvPr/>
        </p:nvSpPr>
        <p:spPr>
          <a:xfrm>
            <a:off x="5047488" y="1691640"/>
            <a:ext cx="2103120" cy="2606040"/>
          </a:xfrm>
          <a:prstGeom prst="roundRect">
            <a:avLst>
              <a:gd fmla="val 60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 txBox="1"/>
          <p:nvPr/>
        </p:nvSpPr>
        <p:spPr>
          <a:xfrm>
            <a:off x="5212080" y="18013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5733288" y="2011680"/>
            <a:ext cx="731520" cy="73152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16168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6"/>
          <p:cNvSpPr txBox="1"/>
          <p:nvPr/>
        </p:nvSpPr>
        <p:spPr>
          <a:xfrm>
            <a:off x="5157216" y="2880360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Avaliações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5184648" y="3273552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Questões, rubricas e gabaritos alinhados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6"/>
          <p:cNvCxnSpPr/>
          <p:nvPr/>
        </p:nvCxnSpPr>
        <p:spPr>
          <a:xfrm>
            <a:off x="7178040" y="2377440"/>
            <a:ext cx="109728" cy="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0" name="Google Shape;200;p6"/>
          <p:cNvSpPr/>
          <p:nvPr/>
        </p:nvSpPr>
        <p:spPr>
          <a:xfrm>
            <a:off x="7296912" y="1691640"/>
            <a:ext cx="2103120" cy="2606040"/>
          </a:xfrm>
          <a:prstGeom prst="roundRect">
            <a:avLst>
              <a:gd fmla="val 60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7461504" y="18013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7982712" y="2011680"/>
            <a:ext cx="731520" cy="73152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65592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6"/>
          <p:cNvSpPr txBox="1"/>
          <p:nvPr/>
        </p:nvSpPr>
        <p:spPr>
          <a:xfrm>
            <a:off x="7406640" y="2880360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Alinhamento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7434072" y="3273552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Objetivo × atividade × questão (Bloom)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6"/>
          <p:cNvCxnSpPr/>
          <p:nvPr/>
        </p:nvCxnSpPr>
        <p:spPr>
          <a:xfrm>
            <a:off x="9427464" y="2377440"/>
            <a:ext cx="109728" cy="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7" name="Google Shape;207;p6"/>
          <p:cNvSpPr/>
          <p:nvPr/>
        </p:nvSpPr>
        <p:spPr>
          <a:xfrm>
            <a:off x="9546336" y="1691640"/>
            <a:ext cx="2103120" cy="2606040"/>
          </a:xfrm>
          <a:prstGeom prst="roundRect">
            <a:avLst>
              <a:gd fmla="val 60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 txBox="1"/>
          <p:nvPr/>
        </p:nvSpPr>
        <p:spPr>
          <a:xfrm>
            <a:off x="9710928" y="18013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10232136" y="2011680"/>
            <a:ext cx="731520" cy="73152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0" name="Google Shape;21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15016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6"/>
          <p:cNvSpPr txBox="1"/>
          <p:nvPr/>
        </p:nvSpPr>
        <p:spPr>
          <a:xfrm>
            <a:off x="9656064" y="2880360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Aprovar e exportar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9683496" y="3273552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PDF, PPTX, HTML e SCORM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548640" y="4572000"/>
            <a:ext cx="3593592" cy="1508760"/>
          </a:xfrm>
          <a:prstGeom prst="roundRect">
            <a:avLst>
              <a:gd fmla="val 8485" name="adj"/>
            </a:avLst>
          </a:prstGeom>
          <a:solidFill>
            <a:srgbClr val="F2F4F7"/>
          </a:solidFill>
          <a:ln cap="flat" cmpd="sng" w="95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786384" y="5010912"/>
            <a:ext cx="621792" cy="621792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1832" y="516636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6"/>
          <p:cNvSpPr txBox="1"/>
          <p:nvPr/>
        </p:nvSpPr>
        <p:spPr>
          <a:xfrm>
            <a:off x="1600200" y="4572000"/>
            <a:ext cx="24231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Alinhamento a Bloom verificado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297680" y="4572000"/>
            <a:ext cx="3593592" cy="1508760"/>
          </a:xfrm>
          <a:prstGeom prst="roundRect">
            <a:avLst>
              <a:gd fmla="val 8485" name="adj"/>
            </a:avLst>
          </a:prstGeom>
          <a:solidFill>
            <a:srgbClr val="F2F4F7"/>
          </a:solidFill>
          <a:ln cap="flat" cmpd="sng" w="95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4535424" y="5010912"/>
            <a:ext cx="621792" cy="621792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9" name="Google Shape;219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90872" y="516636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6"/>
          <p:cNvSpPr txBox="1"/>
          <p:nvPr/>
        </p:nvSpPr>
        <p:spPr>
          <a:xfrm>
            <a:off x="5349240" y="4572000"/>
            <a:ext cx="24231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Versionamento e histórico completos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8046720" y="4572000"/>
            <a:ext cx="3593592" cy="1508760"/>
          </a:xfrm>
          <a:prstGeom prst="roundRect">
            <a:avLst>
              <a:gd fmla="val 8485" name="adj"/>
            </a:avLst>
          </a:prstGeom>
          <a:solidFill>
            <a:srgbClr val="F2F4F7"/>
          </a:solidFill>
          <a:ln cap="flat" cmpd="sng" w="95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8284464" y="5010912"/>
            <a:ext cx="621792" cy="621792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39912" y="516636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6"/>
          <p:cNvSpPr txBox="1"/>
          <p:nvPr/>
        </p:nvSpPr>
        <p:spPr>
          <a:xfrm>
            <a:off x="9098280" y="4572000"/>
            <a:ext cx="24231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Aprovação humana antes de exportar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ARQUITETURA E INTEGRAÇÕES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Integra com o seu ecossistema</a:t>
            </a:r>
            <a:endParaRPr sz="3600"/>
          </a:p>
        </p:txBody>
      </p:sp>
      <p:cxnSp>
        <p:nvCxnSpPr>
          <p:cNvPr id="233" name="Google Shape;233;p7"/>
          <p:cNvCxnSpPr/>
          <p:nvPr/>
        </p:nvCxnSpPr>
        <p:spPr>
          <a:xfrm>
            <a:off x="6095848" y="2084832"/>
            <a:ext cx="0" cy="1828800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7"/>
          <p:cNvCxnSpPr/>
          <p:nvPr/>
        </p:nvCxnSpPr>
        <p:spPr>
          <a:xfrm flipH="1" rot="10800000">
            <a:off x="6095848" y="2620475"/>
            <a:ext cx="2941932" cy="1293157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" name="Google Shape;235;p7"/>
          <p:cNvCxnSpPr/>
          <p:nvPr/>
        </p:nvCxnSpPr>
        <p:spPr>
          <a:xfrm>
            <a:off x="6095848" y="3913632"/>
            <a:ext cx="4160520" cy="0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p7"/>
          <p:cNvCxnSpPr/>
          <p:nvPr/>
        </p:nvCxnSpPr>
        <p:spPr>
          <a:xfrm>
            <a:off x="6095848" y="3913632"/>
            <a:ext cx="2941932" cy="1293157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7" name="Google Shape;237;p7"/>
          <p:cNvCxnSpPr/>
          <p:nvPr/>
        </p:nvCxnSpPr>
        <p:spPr>
          <a:xfrm>
            <a:off x="6095848" y="3913632"/>
            <a:ext cx="0" cy="1828800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7"/>
          <p:cNvCxnSpPr/>
          <p:nvPr/>
        </p:nvCxnSpPr>
        <p:spPr>
          <a:xfrm flipH="1" rot="10800000">
            <a:off x="3153916" y="3913632"/>
            <a:ext cx="2941932" cy="1293157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7"/>
          <p:cNvCxnSpPr/>
          <p:nvPr/>
        </p:nvCxnSpPr>
        <p:spPr>
          <a:xfrm>
            <a:off x="1935328" y="3913632"/>
            <a:ext cx="4160520" cy="0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7"/>
          <p:cNvCxnSpPr/>
          <p:nvPr/>
        </p:nvCxnSpPr>
        <p:spPr>
          <a:xfrm>
            <a:off x="3153916" y="2620475"/>
            <a:ext cx="2941932" cy="1293157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7"/>
          <p:cNvSpPr/>
          <p:nvPr/>
        </p:nvSpPr>
        <p:spPr>
          <a:xfrm>
            <a:off x="4861408" y="2679192"/>
            <a:ext cx="2468880" cy="2468880"/>
          </a:xfrm>
          <a:prstGeom prst="ellipse">
            <a:avLst/>
          </a:prstGeom>
          <a:solidFill>
            <a:schemeClr val="dk2"/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sym_coursegen.png" id="242" name="Google Shape;2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648" y="2953512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7"/>
          <p:cNvSpPr txBox="1"/>
          <p:nvPr/>
        </p:nvSpPr>
        <p:spPr>
          <a:xfrm>
            <a:off x="4998568" y="3959352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CourseGen Studio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SynapseAI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4907128" y="1746504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5044288" y="1856232"/>
            <a:ext cx="457200" cy="4572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6" name="Google Shape;24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8588" y="19705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7"/>
          <p:cNvSpPr txBox="1"/>
          <p:nvPr/>
        </p:nvSpPr>
        <p:spPr>
          <a:xfrm>
            <a:off x="5620360" y="1746504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LMS (SCORM)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7849060" y="2282147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7986220" y="2391875"/>
            <a:ext cx="457200" cy="45720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0" name="Google Shape;25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00520" y="25061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7"/>
          <p:cNvSpPr txBox="1"/>
          <p:nvPr/>
        </p:nvSpPr>
        <p:spPr>
          <a:xfrm>
            <a:off x="8562292" y="2282147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Acervo de materiais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9067648" y="3575304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9204808" y="3685032"/>
            <a:ext cx="457200" cy="4572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4" name="Google Shape;25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19108" y="37993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7"/>
          <p:cNvSpPr txBox="1"/>
          <p:nvPr/>
        </p:nvSpPr>
        <p:spPr>
          <a:xfrm>
            <a:off x="9780880" y="3575304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Banco de questões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7849060" y="4868461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7986220" y="4978189"/>
            <a:ext cx="457200" cy="45720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8" name="Google Shape;25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00520" y="509248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7"/>
          <p:cNvSpPr txBox="1"/>
          <p:nvPr/>
        </p:nvSpPr>
        <p:spPr>
          <a:xfrm>
            <a:off x="8562292" y="4868461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SSO / provedor de identidade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4907128" y="5404104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5044288" y="5513832"/>
            <a:ext cx="457200" cy="4572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2" name="Google Shape;26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58588" y="56281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7"/>
          <p:cNvSpPr txBox="1"/>
          <p:nvPr/>
        </p:nvSpPr>
        <p:spPr>
          <a:xfrm>
            <a:off x="5620360" y="5404104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PPTX, PDF e HTML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1965196" y="4868461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2102356" y="4978189"/>
            <a:ext cx="457200" cy="45720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6" name="Google Shape;266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216656" y="509248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7"/>
          <p:cNvSpPr txBox="1"/>
          <p:nvPr/>
        </p:nvSpPr>
        <p:spPr>
          <a:xfrm>
            <a:off x="2678428" y="4868461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EduMentor 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746608" y="3575304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883768" y="3685032"/>
            <a:ext cx="457200" cy="4572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0" name="Google Shape;270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98068" y="37993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7"/>
          <p:cNvSpPr txBox="1"/>
          <p:nvPr/>
        </p:nvSpPr>
        <p:spPr>
          <a:xfrm>
            <a:off x="1459840" y="3575304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API REST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1965196" y="2282147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2102356" y="2391875"/>
            <a:ext cx="457200" cy="45720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4" name="Google Shape;274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16656" y="25061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7"/>
          <p:cNvSpPr txBox="1"/>
          <p:nvPr/>
        </p:nvSpPr>
        <p:spPr>
          <a:xfrm>
            <a:off x="2678428" y="2282147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Cofre de credenciais e KMS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SEGURANÇA E COMPLIANCE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Segurança e conformidade</a:t>
            </a:r>
            <a:endParaRPr sz="3600"/>
          </a:p>
        </p:txBody>
      </p:sp>
      <p:sp>
        <p:nvSpPr>
          <p:cNvPr id="284" name="Google Shape;284;p8"/>
          <p:cNvSpPr/>
          <p:nvPr/>
        </p:nvSpPr>
        <p:spPr>
          <a:xfrm>
            <a:off x="548640" y="169164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6" name="Google Shape;28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980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8"/>
          <p:cNvSpPr txBox="1"/>
          <p:nvPr/>
        </p:nvSpPr>
        <p:spPr>
          <a:xfrm>
            <a:off x="1645920" y="196596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Isolamento por cliente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 txBox="1"/>
          <p:nvPr/>
        </p:nvSpPr>
        <p:spPr>
          <a:xfrm>
            <a:off x="822960" y="278892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Acervo, modelos e fontes exclusivos do seu tenant.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4297680" y="169164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4572000" y="1965960"/>
            <a:ext cx="640080" cy="64008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1" name="Google Shape;29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2020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8"/>
          <p:cNvSpPr txBox="1"/>
          <p:nvPr/>
        </p:nvSpPr>
        <p:spPr>
          <a:xfrm>
            <a:off x="5394960" y="196596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Criptografia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 txBox="1"/>
          <p:nvPr/>
        </p:nvSpPr>
        <p:spPr>
          <a:xfrm>
            <a:off x="4572000" y="278892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Em trânsito e em repouso.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8046720" y="169164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8321040" y="196596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6" name="Google Shape;29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81060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8"/>
          <p:cNvSpPr txBox="1"/>
          <p:nvPr/>
        </p:nvSpPr>
        <p:spPr>
          <a:xfrm>
            <a:off x="9144000" y="196596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Acesso por perfil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 txBox="1"/>
          <p:nvPr/>
        </p:nvSpPr>
        <p:spPr>
          <a:xfrm>
            <a:off x="8321040" y="278892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Autor, revisor, curador e administrador.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548640" y="388620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1" name="Google Shape;30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2980" y="43205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8"/>
          <p:cNvSpPr txBox="1"/>
          <p:nvPr/>
        </p:nvSpPr>
        <p:spPr>
          <a:xfrm>
            <a:off x="1645920" y="41605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Controle de versões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 txBox="1"/>
          <p:nvPr/>
        </p:nvSpPr>
        <p:spPr>
          <a:xfrm>
            <a:off x="822960" y="498348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Histórico, comparação e restauração de versões.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4297680" y="388620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4572000" y="416052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6" name="Google Shape;30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32020" y="43205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8"/>
          <p:cNvSpPr txBox="1"/>
          <p:nvPr/>
        </p:nvSpPr>
        <p:spPr>
          <a:xfrm>
            <a:off x="5394960" y="41605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Aprovação obrigatória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 txBox="1"/>
          <p:nvPr/>
        </p:nvSpPr>
        <p:spPr>
          <a:xfrm>
            <a:off x="4572000" y="498348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Somente versões aprovadas podem ser exportadas.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8046720" y="388620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8321040" y="4160520"/>
            <a:ext cx="640080" cy="64008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1" name="Google Shape;311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1060" y="43205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8"/>
          <p:cNvSpPr txBox="1"/>
          <p:nvPr/>
        </p:nvSpPr>
        <p:spPr>
          <a:xfrm>
            <a:off x="9144000" y="41605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LGPD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 txBox="1"/>
          <p:nvPr/>
        </p:nvSpPr>
        <p:spPr>
          <a:xfrm>
            <a:off x="8321040" y="498348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Controle de acesso e trilha de ações dos usuários.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9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ESCOPO DA PROPOSTA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Escopo, fases e entregáveis</a:t>
            </a:r>
            <a:endParaRPr sz="3600"/>
          </a:p>
        </p:txBody>
      </p:sp>
      <p:graphicFrame>
        <p:nvGraphicFramePr>
          <p:cNvPr id="322" name="Google Shape;322;p9"/>
          <p:cNvGraphicFramePr/>
          <p:nvPr/>
        </p:nvGraphicFramePr>
        <p:xfrm>
          <a:off x="5486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{4200932C-4092-44C4-92BF-D1D44923BBF5}</a:tableStyleId>
              </a:tblPr>
              <a:tblGrid>
                <a:gridCol w="2286000"/>
                <a:gridCol w="5394950"/>
                <a:gridCol w="2194550"/>
                <a:gridCol w="12189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Fase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Entregáveis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Responsáveis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Duração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96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Fase 0 · Prova de conceito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1 curso completo (ementa, aulas, materiais e avaliação); 5 autores; 1 modelo pedagógico; relatório de resultados da PoC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SynapseAI + Time de L&amp;D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4 semanas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96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Fase 1 · Implantação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3 modelos pedagógicos; fontes institucionais (500 documentos); banco de questões; exportação SCORM, PPTX e PDF; treinamento de 15 autores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SynapseAI + Time de L&amp;D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7 semanas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6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Fase 2 · Operação assistida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Acompanhamento de uso, ajuste de modelos e fontes, relatório mensal de produtividade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Customer Success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90 dias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23" name="Google Shape;323;p9"/>
          <p:cNvSpPr/>
          <p:nvPr/>
        </p:nvSpPr>
        <p:spPr>
          <a:xfrm>
            <a:off x="548640" y="5349240"/>
            <a:ext cx="11094415" cy="731520"/>
          </a:xfrm>
          <a:prstGeom prst="roundRect">
            <a:avLst>
              <a:gd fmla="val 17500" name="adj"/>
            </a:avLst>
          </a:prstGeom>
          <a:solidFill>
            <a:srgbClr val="F2F4F7"/>
          </a:solidFill>
          <a:ln cap="flat" cmpd="sng" w="12700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 txBox="1"/>
          <p:nvPr/>
        </p:nvSpPr>
        <p:spPr>
          <a:xfrm>
            <a:off x="822960" y="5349240"/>
            <a:ext cx="1054577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Premissas do cenário de referência:  </a:t>
            </a: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 autores · até 150 cursos/ano · SaaS. Itens fora do escopo (integrações adicionais, customizações e ambientes extras) são orçados à parte.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Cronograma até o go-live e a operação</a:t>
            </a:r>
            <a:endParaRPr sz="3600"/>
          </a:p>
        </p:txBody>
      </p:sp>
      <p:cxnSp>
        <p:nvCxnSpPr>
          <p:cNvPr id="333" name="Google Shape;333;p10"/>
          <p:cNvCxnSpPr/>
          <p:nvPr/>
        </p:nvCxnSpPr>
        <p:spPr>
          <a:xfrm>
            <a:off x="914400" y="3822192"/>
            <a:ext cx="10360152" cy="0"/>
          </a:xfrm>
          <a:prstGeom prst="straightConnector1">
            <a:avLst/>
          </a:prstGeom>
          <a:noFill/>
          <a:ln cap="flat" cmpd="sng" w="317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10"/>
          <p:cNvSpPr/>
          <p:nvPr/>
        </p:nvSpPr>
        <p:spPr>
          <a:xfrm>
            <a:off x="978408" y="3429000"/>
            <a:ext cx="786384" cy="78638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5" name="Google Shape;33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5004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0"/>
          <p:cNvSpPr txBox="1"/>
          <p:nvPr/>
        </p:nvSpPr>
        <p:spPr>
          <a:xfrm>
            <a:off x="502920" y="32461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484632" y="17830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"/>
          <p:cNvSpPr txBox="1"/>
          <p:nvPr/>
        </p:nvSpPr>
        <p:spPr>
          <a:xfrm>
            <a:off x="594360" y="18928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Descoberta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 txBox="1"/>
          <p:nvPr/>
        </p:nvSpPr>
        <p:spPr>
          <a:xfrm>
            <a:off x="594360" y="24048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Requisitos, fontes e critérios de sucesso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2871216" y="3429000"/>
            <a:ext cx="786384" cy="78638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1" name="Google Shape;34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7812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0"/>
          <p:cNvSpPr txBox="1"/>
          <p:nvPr/>
        </p:nvSpPr>
        <p:spPr>
          <a:xfrm>
            <a:off x="2395728" y="42976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2–5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2377440" y="45262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"/>
          <p:cNvSpPr txBox="1"/>
          <p:nvPr/>
        </p:nvSpPr>
        <p:spPr>
          <a:xfrm>
            <a:off x="2487168" y="46360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Prova de conceito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 txBox="1"/>
          <p:nvPr/>
        </p:nvSpPr>
        <p:spPr>
          <a:xfrm>
            <a:off x="2487168" y="51480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4 semanas com dados do cliente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4764024" y="3429000"/>
            <a:ext cx="786384" cy="78638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7" name="Google Shape;34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0620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0"/>
          <p:cNvSpPr txBox="1"/>
          <p:nvPr/>
        </p:nvSpPr>
        <p:spPr>
          <a:xfrm>
            <a:off x="4288536" y="32461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6–8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4270248" y="17830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0"/>
          <p:cNvSpPr txBox="1"/>
          <p:nvPr/>
        </p:nvSpPr>
        <p:spPr>
          <a:xfrm>
            <a:off x="4379976" y="18928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Integração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 txBox="1"/>
          <p:nvPr/>
        </p:nvSpPr>
        <p:spPr>
          <a:xfrm>
            <a:off x="4379976" y="24048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Conectores, perfis e guardrails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6656832" y="3429000"/>
            <a:ext cx="786384" cy="78638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3" name="Google Shape;35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3428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0"/>
          <p:cNvSpPr txBox="1"/>
          <p:nvPr/>
        </p:nvSpPr>
        <p:spPr>
          <a:xfrm>
            <a:off x="6181344" y="42976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9–10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6163056" y="45262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"/>
          <p:cNvSpPr txBox="1"/>
          <p:nvPr/>
        </p:nvSpPr>
        <p:spPr>
          <a:xfrm>
            <a:off x="6272784" y="46360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Homologação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 txBox="1"/>
          <p:nvPr/>
        </p:nvSpPr>
        <p:spPr>
          <a:xfrm>
            <a:off x="6272784" y="51480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Qualidade, segurança e carga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8549640" y="3429000"/>
            <a:ext cx="786384" cy="786384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9" name="Google Shape;359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46236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0"/>
          <p:cNvSpPr txBox="1"/>
          <p:nvPr/>
        </p:nvSpPr>
        <p:spPr>
          <a:xfrm>
            <a:off x="8074152" y="32461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8055864" y="17830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0"/>
          <p:cNvSpPr txBox="1"/>
          <p:nvPr/>
        </p:nvSpPr>
        <p:spPr>
          <a:xfrm>
            <a:off x="8165592" y="18928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Go-live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 txBox="1"/>
          <p:nvPr/>
        </p:nvSpPr>
        <p:spPr>
          <a:xfrm>
            <a:off x="8165592" y="24048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Entrada em produção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10442448" y="3429000"/>
            <a:ext cx="786384" cy="78638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5" name="Google Shape;365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39044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0"/>
          <p:cNvSpPr txBox="1"/>
          <p:nvPr/>
        </p:nvSpPr>
        <p:spPr>
          <a:xfrm>
            <a:off x="9966960" y="42976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12–24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9948672" y="45262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"/>
          <p:cNvSpPr txBox="1"/>
          <p:nvPr/>
        </p:nvSpPr>
        <p:spPr>
          <a:xfrm>
            <a:off x="10058400" y="46360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Operação assistida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 txBox="1"/>
          <p:nvPr/>
        </p:nvSpPr>
        <p:spPr>
          <a:xfrm>
            <a:off x="10058400" y="51480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Customer Success e melhoria contínua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1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BUSINESS CASE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Retorno estimado do investimento</a:t>
            </a:r>
            <a:endParaRPr sz="3600"/>
          </a:p>
        </p:txBody>
      </p:sp>
      <p:sp>
        <p:nvSpPr>
          <p:cNvPr id="378" name="Google Shape;378;p11"/>
          <p:cNvSpPr/>
          <p:nvPr/>
        </p:nvSpPr>
        <p:spPr>
          <a:xfrm>
            <a:off x="548640" y="1691640"/>
            <a:ext cx="4754880" cy="3063240"/>
          </a:xfrm>
          <a:prstGeom prst="roundRect">
            <a:avLst>
              <a:gd fmla="val 417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"/>
          <p:cNvSpPr txBox="1"/>
          <p:nvPr/>
        </p:nvSpPr>
        <p:spPr>
          <a:xfrm>
            <a:off x="822960" y="18288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PREMISSAS (EDITÁVEIS)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 txBox="1"/>
          <p:nvPr/>
        </p:nvSpPr>
        <p:spPr>
          <a:xfrm>
            <a:off x="822960" y="22402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Cursos produzidos por ano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 txBox="1"/>
          <p:nvPr/>
        </p:nvSpPr>
        <p:spPr>
          <a:xfrm>
            <a:off x="3657600" y="224028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 txBox="1"/>
          <p:nvPr/>
        </p:nvSpPr>
        <p:spPr>
          <a:xfrm>
            <a:off x="822960" y="26974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Horas economizadas por curso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 txBox="1"/>
          <p:nvPr/>
        </p:nvSpPr>
        <p:spPr>
          <a:xfrm>
            <a:off x="3657600" y="269748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50 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 txBox="1"/>
          <p:nvPr/>
        </p:nvSpPr>
        <p:spPr>
          <a:xfrm>
            <a:off x="822960" y="31546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Custo-hora médio carregado (design instrucional)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 txBox="1"/>
          <p:nvPr/>
        </p:nvSpPr>
        <p:spPr>
          <a:xfrm>
            <a:off x="3657600" y="315468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R$ 85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 txBox="1"/>
          <p:nvPr/>
        </p:nvSpPr>
        <p:spPr>
          <a:xfrm>
            <a:off x="822960" y="36118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Adoção no 1º ano pós go-live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 txBox="1"/>
          <p:nvPr/>
        </p:nvSpPr>
        <p:spPr>
          <a:xfrm>
            <a:off x="3657600" y="361188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548640" y="4937760"/>
            <a:ext cx="4754880" cy="1143000"/>
          </a:xfrm>
          <a:prstGeom prst="roundRect">
            <a:avLst>
              <a:gd fmla="val 11200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1"/>
          <p:cNvSpPr txBox="1"/>
          <p:nvPr/>
        </p:nvSpPr>
        <p:spPr>
          <a:xfrm>
            <a:off x="822960" y="5047488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BENEFÍCIO ANUAL ESTIMADO (ADOÇÃO PLENA)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 txBox="1"/>
          <p:nvPr/>
        </p:nvSpPr>
        <p:spPr>
          <a:xfrm>
            <a:off x="822960" y="5349240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R$ 510 mil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1" name="Google Shape;391;p11"/>
          <p:cNvGraphicFramePr/>
          <p:nvPr/>
        </p:nvGraphicFramePr>
        <p:xfrm>
          <a:off x="5577840" y="1645920"/>
          <a:ext cx="6080760" cy="36118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92" name="Google Shape;392;p11"/>
          <p:cNvSpPr/>
          <p:nvPr/>
        </p:nvSpPr>
        <p:spPr>
          <a:xfrm>
            <a:off x="5577840" y="5394960"/>
            <a:ext cx="2971800" cy="713232"/>
          </a:xfrm>
          <a:prstGeom prst="roundRect">
            <a:avLst>
              <a:gd fmla="val 17949" name="adj"/>
            </a:avLst>
          </a:prstGeom>
          <a:solidFill>
            <a:srgbClr val="0E7C8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1"/>
          <p:cNvSpPr txBox="1"/>
          <p:nvPr/>
        </p:nvSpPr>
        <p:spPr>
          <a:xfrm>
            <a:off x="5760720" y="5394960"/>
            <a:ext cx="1417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meses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 txBox="1"/>
          <p:nvPr/>
        </p:nvSpPr>
        <p:spPr>
          <a:xfrm>
            <a:off x="7178040" y="5394960"/>
            <a:ext cx="13258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payback a partir da assinatura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8686800" y="5394960"/>
            <a:ext cx="2971800" cy="713232"/>
          </a:xfrm>
          <a:prstGeom prst="roundRect">
            <a:avLst>
              <a:gd fmla="val 17949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1"/>
          <p:cNvSpPr txBox="1"/>
          <p:nvPr/>
        </p:nvSpPr>
        <p:spPr>
          <a:xfrm>
            <a:off x="8869680" y="5394960"/>
            <a:ext cx="1417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R$ 975 mil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 txBox="1"/>
          <p:nvPr/>
        </p:nvSpPr>
        <p:spPr>
          <a:xfrm>
            <a:off x="10287000" y="5394960"/>
            <a:ext cx="13258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resultado líquido em 36 meses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 txBox="1"/>
          <p:nvPr/>
        </p:nvSpPr>
        <p:spPr>
          <a:xfrm>
            <a:off x="548640" y="6126480"/>
            <a:ext cx="11064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Estimativa baseada em premissas informadas; não constitui garantia de resultado. 120 cursos/ano × 50 h × R$ 85/h.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2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INVESTIMENTO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Investimento: pacote recomendado</a:t>
            </a:r>
            <a:endParaRPr sz="3600"/>
          </a:p>
        </p:txBody>
      </p:sp>
      <p:graphicFrame>
        <p:nvGraphicFramePr>
          <p:cNvPr id="407" name="Google Shape;407;p12"/>
          <p:cNvGraphicFramePr/>
          <p:nvPr/>
        </p:nvGraphicFramePr>
        <p:xfrm>
          <a:off x="548640" y="164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{4200932C-4092-44C4-92BF-D1D44923BBF5}</a:tableStyleId>
              </a:tblPr>
              <a:tblGrid>
                <a:gridCol w="2011675"/>
                <a:gridCol w="4846325"/>
                <a:gridCol w="2743200"/>
                <a:gridCol w="14932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Item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O que inclui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Modelo de cobrança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Valor (R$)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Prova de conceito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4 semanas · 1 curso completo · 5 autores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Pontual · crédito integral na implantação se contratada em até 60 dias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R$ 12.000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Implantação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3 modelos pedagógicos, fontes institucionais (500 documentos), banco de questões, exportação SCORM, PPTX e PDF, treinamento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Pontual · 40% assinatura, 40% homologação, 20% go-live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R$ 36.000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Licença de uso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15 autors × R$ 390/mês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Anual, a partir do go-live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R$ 70.200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Plataforma gerenciada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Hospedagem isolada, guardrails, observabilidade de IA, atualizações e Customer Success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Anual, a partir do go-live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R$ 26.000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Suporte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Suporte estendido em horário comercial, com base de conhecimento e treinamento contínuo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Anual, a partir do go-live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R$ 9.000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Consumo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Inclui até 150 cursos gerados por ano; excedente de R$ 450 por curso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Incluso até o limite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Incluso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08" name="Google Shape;408;p12"/>
          <p:cNvSpPr/>
          <p:nvPr/>
        </p:nvSpPr>
        <p:spPr>
          <a:xfrm>
            <a:off x="548640" y="5349240"/>
            <a:ext cx="3593592" cy="777240"/>
          </a:xfrm>
          <a:prstGeom prst="roundRect">
            <a:avLst>
              <a:gd fmla="val 16471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2"/>
          <p:cNvSpPr txBox="1"/>
          <p:nvPr/>
        </p:nvSpPr>
        <p:spPr>
          <a:xfrm>
            <a:off x="777240" y="541324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IMPLANTAÇÃO (PONTUAL)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 txBox="1"/>
          <p:nvPr/>
        </p:nvSpPr>
        <p:spPr>
          <a:xfrm>
            <a:off x="777240" y="5650992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R$ 36.000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4297680" y="5349240"/>
            <a:ext cx="3593592" cy="777240"/>
          </a:xfrm>
          <a:prstGeom prst="roundRect">
            <a:avLst>
              <a:gd fmla="val 16471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2"/>
          <p:cNvSpPr txBox="1"/>
          <p:nvPr/>
        </p:nvSpPr>
        <p:spPr>
          <a:xfrm>
            <a:off x="4526280" y="541324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RECORRENTE ANUAL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 txBox="1"/>
          <p:nvPr/>
        </p:nvSpPr>
        <p:spPr>
          <a:xfrm>
            <a:off x="4526280" y="5650992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R$ 105.200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8046720" y="5349240"/>
            <a:ext cx="3593592" cy="777240"/>
          </a:xfrm>
          <a:prstGeom prst="roundRect">
            <a:avLst>
              <a:gd fmla="val 16471" name="adj"/>
            </a:avLst>
          </a:prstGeom>
          <a:solidFill>
            <a:srgbClr val="0E7C89"/>
          </a:solidFill>
          <a:ln cap="flat" cmpd="sng" w="12700">
            <a:solidFill>
              <a:srgbClr val="0E7C8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2"/>
          <p:cNvSpPr txBox="1"/>
          <p:nvPr/>
        </p:nvSpPr>
        <p:spPr>
          <a:xfrm>
            <a:off x="8275320" y="541324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INVESTIMENTO EM 36 MESES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 txBox="1"/>
          <p:nvPr/>
        </p:nvSpPr>
        <p:spPr>
          <a:xfrm>
            <a:off x="8275320" y="5650992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R$ 325.300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 txBox="1"/>
          <p:nvPr/>
        </p:nvSpPr>
        <p:spPr>
          <a:xfrm>
            <a:off x="548640" y="6144768"/>
            <a:ext cx="11064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Equivale a ~R$ 7.013 por autor/ano (≈ US$ 1.344), com licença, plataforma e suporte incluídos. Valores em R$, sem impostos; proposta de referência, sujeita a aprovação comercial.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3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OPÇÕES DE CONTRATAÇÃO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3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Três pacotes para decidir</a:t>
            </a:r>
            <a:endParaRPr sz="3600"/>
          </a:p>
        </p:txBody>
      </p:sp>
      <p:sp>
        <p:nvSpPr>
          <p:cNvPr id="426" name="Google Shape;426;p13"/>
          <p:cNvSpPr/>
          <p:nvPr/>
        </p:nvSpPr>
        <p:spPr>
          <a:xfrm>
            <a:off x="548640" y="1691640"/>
            <a:ext cx="3593592" cy="4434840"/>
          </a:xfrm>
          <a:prstGeom prst="roundRect">
            <a:avLst>
              <a:gd fmla="val 458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3"/>
          <p:cNvSpPr txBox="1"/>
          <p:nvPr/>
        </p:nvSpPr>
        <p:spPr>
          <a:xfrm>
            <a:off x="822960" y="193852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Essencial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 txBox="1"/>
          <p:nvPr/>
        </p:nvSpPr>
        <p:spPr>
          <a:xfrm>
            <a:off x="822960" y="237744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Equipe pequena de conteúdo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 txBox="1"/>
          <p:nvPr/>
        </p:nvSpPr>
        <p:spPr>
          <a:xfrm>
            <a:off x="822960" y="274320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R$ 62 mil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 txBox="1"/>
          <p:nvPr/>
        </p:nvSpPr>
        <p:spPr>
          <a:xfrm>
            <a:off x="822960" y="3273552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por ano a partir do go-live · implantação R$ 20 mil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1" name="Google Shape;43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39044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3"/>
          <p:cNvSpPr txBox="1"/>
          <p:nvPr/>
        </p:nvSpPr>
        <p:spPr>
          <a:xfrm>
            <a:off x="1115568" y="3840480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Até 10 autores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3" name="Google Shape;43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4334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3"/>
          <p:cNvSpPr txBox="1"/>
          <p:nvPr/>
        </p:nvSpPr>
        <p:spPr>
          <a:xfrm>
            <a:off x="1115568" y="4270248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Até 60 cursos/ano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5" name="Google Shape;43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47640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13"/>
          <p:cNvSpPr txBox="1"/>
          <p:nvPr/>
        </p:nvSpPr>
        <p:spPr>
          <a:xfrm>
            <a:off x="1115568" y="470001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modelo pedagógico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7" name="Google Shape;43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5193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3"/>
          <p:cNvSpPr txBox="1"/>
          <p:nvPr/>
        </p:nvSpPr>
        <p:spPr>
          <a:xfrm>
            <a:off x="1115568" y="5129784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Suporte em horário comercial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9" name="Google Shape;43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56235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13"/>
          <p:cNvSpPr txBox="1"/>
          <p:nvPr/>
        </p:nvSpPr>
        <p:spPr>
          <a:xfrm>
            <a:off x="1115568" y="5559552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SaaS com isolamento por cliente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4297680" y="1691640"/>
            <a:ext cx="3593592" cy="4434840"/>
          </a:xfrm>
          <a:prstGeom prst="roundRect">
            <a:avLst>
              <a:gd fmla="val 4580" name="adj"/>
            </a:avLst>
          </a:prstGeom>
          <a:solidFill>
            <a:schemeClr val="dk2"/>
          </a:solidFill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5440680" y="1554480"/>
            <a:ext cx="1325880" cy="274320"/>
          </a:xfrm>
          <a:prstGeom prst="roundRect">
            <a:avLst>
              <a:gd fmla="val 50000" name="adj"/>
            </a:avLst>
          </a:prstGeom>
          <a:solidFill>
            <a:srgbClr val="0E7C89"/>
          </a:solidFill>
          <a:ln cap="flat" cmpd="sng" w="12700">
            <a:solidFill>
              <a:srgbClr val="0E7C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3"/>
          <p:cNvSpPr txBox="1"/>
          <p:nvPr/>
        </p:nvSpPr>
        <p:spPr>
          <a:xfrm>
            <a:off x="5440680" y="155448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 txBox="1"/>
          <p:nvPr/>
        </p:nvSpPr>
        <p:spPr>
          <a:xfrm>
            <a:off x="4572000" y="193852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Profissional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 txBox="1"/>
          <p:nvPr/>
        </p:nvSpPr>
        <p:spPr>
          <a:xfrm>
            <a:off x="4572000" y="237744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Time de L&amp;D ou design instrucional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 txBox="1"/>
          <p:nvPr/>
        </p:nvSpPr>
        <p:spPr>
          <a:xfrm>
            <a:off x="4572000" y="274320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R$ 105 mil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 txBox="1"/>
          <p:nvPr/>
        </p:nvSpPr>
        <p:spPr>
          <a:xfrm>
            <a:off x="4572000" y="3273552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por ano a partir do go-live · implantação R$ 36 mil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8" name="Google Shape;44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39044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3"/>
          <p:cNvSpPr txBox="1"/>
          <p:nvPr/>
        </p:nvSpPr>
        <p:spPr>
          <a:xfrm>
            <a:off x="4864608" y="3840480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Até 15 autores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0" name="Google Shape;45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4334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3"/>
          <p:cNvSpPr txBox="1"/>
          <p:nvPr/>
        </p:nvSpPr>
        <p:spPr>
          <a:xfrm>
            <a:off x="4864608" y="4270248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Até 150 cursos/ano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2" name="Google Shape;45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47640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3"/>
          <p:cNvSpPr txBox="1"/>
          <p:nvPr/>
        </p:nvSpPr>
        <p:spPr>
          <a:xfrm>
            <a:off x="4864608" y="470001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 modelos pedagógicos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4" name="Google Shape;45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5193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3"/>
          <p:cNvSpPr txBox="1"/>
          <p:nvPr/>
        </p:nvSpPr>
        <p:spPr>
          <a:xfrm>
            <a:off x="4864608" y="5129784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Suporte estendido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6" name="Google Shape;45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56235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3"/>
          <p:cNvSpPr txBox="1"/>
          <p:nvPr/>
        </p:nvSpPr>
        <p:spPr>
          <a:xfrm>
            <a:off x="4864608" y="5559552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Fontes institucionais (500 docs)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8046720" y="1691640"/>
            <a:ext cx="3593592" cy="4434840"/>
          </a:xfrm>
          <a:prstGeom prst="roundRect">
            <a:avLst>
              <a:gd fmla="val 458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3"/>
          <p:cNvSpPr txBox="1"/>
          <p:nvPr/>
        </p:nvSpPr>
        <p:spPr>
          <a:xfrm>
            <a:off x="8321040" y="193852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3"/>
          <p:cNvSpPr txBox="1"/>
          <p:nvPr/>
        </p:nvSpPr>
        <p:spPr>
          <a:xfrm>
            <a:off x="8321040" y="237744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Universidade ou corporação com alto volume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 txBox="1"/>
          <p:nvPr/>
        </p:nvSpPr>
        <p:spPr>
          <a:xfrm>
            <a:off x="8321040" y="274320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R$ 163 mil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 txBox="1"/>
          <p:nvPr/>
        </p:nvSpPr>
        <p:spPr>
          <a:xfrm>
            <a:off x="8321040" y="3273552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por ano a partir do go-live · implantação R$ 50 mil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3" name="Google Shape;46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0" y="39044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13"/>
          <p:cNvSpPr txBox="1"/>
          <p:nvPr/>
        </p:nvSpPr>
        <p:spPr>
          <a:xfrm>
            <a:off x="8613648" y="3840480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Até 25 autores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5" name="Google Shape;4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0" y="4334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13"/>
          <p:cNvSpPr txBox="1"/>
          <p:nvPr/>
        </p:nvSpPr>
        <p:spPr>
          <a:xfrm>
            <a:off x="8613648" y="4270248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Até 400 cursos/ano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7" name="Google Shape;46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0" y="47640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3"/>
          <p:cNvSpPr txBox="1"/>
          <p:nvPr/>
        </p:nvSpPr>
        <p:spPr>
          <a:xfrm>
            <a:off x="8613648" y="470001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Modelos ilimitados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9" name="Google Shape;46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0" y="5193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13"/>
          <p:cNvSpPr txBox="1"/>
          <p:nvPr/>
        </p:nvSpPr>
        <p:spPr>
          <a:xfrm>
            <a:off x="8613648" y="5129784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Suporte prioritário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1" name="Google Shape;47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0" y="56235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13"/>
          <p:cNvSpPr txBox="1"/>
          <p:nvPr/>
        </p:nvSpPr>
        <p:spPr>
          <a:xfrm>
            <a:off x="8613648" y="5559552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Nuvem privada e API de geração em lote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3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4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CONDIÇÕES COMERCIAIS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4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Condições e acordos de nível de serviço</a:t>
            </a:r>
            <a:endParaRPr sz="3600"/>
          </a:p>
        </p:txBody>
      </p:sp>
      <p:sp>
        <p:nvSpPr>
          <p:cNvPr id="481" name="Google Shape;481;p14"/>
          <p:cNvSpPr/>
          <p:nvPr/>
        </p:nvSpPr>
        <p:spPr>
          <a:xfrm>
            <a:off x="548640" y="1691640"/>
            <a:ext cx="5669280" cy="4434840"/>
          </a:xfrm>
          <a:prstGeom prst="roundRect">
            <a:avLst>
              <a:gd fmla="val 28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4"/>
          <p:cNvSpPr/>
          <p:nvPr/>
        </p:nvSpPr>
        <p:spPr>
          <a:xfrm>
            <a:off x="813816" y="1911096"/>
            <a:ext cx="475488" cy="47548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3" name="Google Shape;48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688" y="20299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4"/>
          <p:cNvSpPr txBox="1"/>
          <p:nvPr/>
        </p:nvSpPr>
        <p:spPr>
          <a:xfrm>
            <a:off x="1463040" y="187452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Validade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4"/>
          <p:cNvSpPr txBox="1"/>
          <p:nvPr/>
        </p:nvSpPr>
        <p:spPr>
          <a:xfrm>
            <a:off x="2834640" y="1874520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 dias a partir da emissão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4"/>
          <p:cNvSpPr/>
          <p:nvPr/>
        </p:nvSpPr>
        <p:spPr>
          <a:xfrm>
            <a:off x="813816" y="2606040"/>
            <a:ext cx="475488" cy="47548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7" name="Google Shape;48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2688" y="272491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14"/>
          <p:cNvSpPr txBox="1"/>
          <p:nvPr/>
        </p:nvSpPr>
        <p:spPr>
          <a:xfrm>
            <a:off x="1463040" y="2569464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Pagamento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"/>
          <p:cNvSpPr txBox="1"/>
          <p:nvPr/>
        </p:nvSpPr>
        <p:spPr>
          <a:xfrm>
            <a:off x="2834640" y="2569464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Implantação em 3 parcelas (40/40/20); recorrente mensal, trimestral ou anual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4"/>
          <p:cNvSpPr/>
          <p:nvPr/>
        </p:nvSpPr>
        <p:spPr>
          <a:xfrm>
            <a:off x="813816" y="3300984"/>
            <a:ext cx="475488" cy="47548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1" name="Google Shape;49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2688" y="341985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14"/>
          <p:cNvSpPr txBox="1"/>
          <p:nvPr/>
        </p:nvSpPr>
        <p:spPr>
          <a:xfrm>
            <a:off x="1463040" y="3264408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Reajuste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4"/>
          <p:cNvSpPr txBox="1"/>
          <p:nvPr/>
        </p:nvSpPr>
        <p:spPr>
          <a:xfrm>
            <a:off x="2834640" y="3264408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Anual pelo IPCA, a partir do 13º mês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4"/>
          <p:cNvSpPr/>
          <p:nvPr/>
        </p:nvSpPr>
        <p:spPr>
          <a:xfrm>
            <a:off x="813816" y="3995928"/>
            <a:ext cx="475488" cy="47548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5" name="Google Shape;4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2688" y="41148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14"/>
          <p:cNvSpPr txBox="1"/>
          <p:nvPr/>
        </p:nvSpPr>
        <p:spPr>
          <a:xfrm>
            <a:off x="1463040" y="3959352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Prazo contratual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4"/>
          <p:cNvSpPr txBox="1"/>
          <p:nvPr/>
        </p:nvSpPr>
        <p:spPr>
          <a:xfrm>
            <a:off x="2834640" y="3959352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 meses, com recorrente cobrado a partir do go-live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4"/>
          <p:cNvSpPr/>
          <p:nvPr/>
        </p:nvSpPr>
        <p:spPr>
          <a:xfrm>
            <a:off x="813816" y="4690872"/>
            <a:ext cx="475488" cy="47548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9" name="Google Shape;49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2688" y="480974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14"/>
          <p:cNvSpPr txBox="1"/>
          <p:nvPr/>
        </p:nvSpPr>
        <p:spPr>
          <a:xfrm>
            <a:off x="1463040" y="4654296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Impostos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4"/>
          <p:cNvSpPr txBox="1"/>
          <p:nvPr/>
        </p:nvSpPr>
        <p:spPr>
          <a:xfrm>
            <a:off x="2834640" y="4654296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Valores sem impostos; incidências conforme legislação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4"/>
          <p:cNvSpPr/>
          <p:nvPr/>
        </p:nvSpPr>
        <p:spPr>
          <a:xfrm>
            <a:off x="813816" y="5385816"/>
            <a:ext cx="475488" cy="47548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3" name="Google Shape;5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2688" y="55046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14"/>
          <p:cNvSpPr txBox="1"/>
          <p:nvPr/>
        </p:nvSpPr>
        <p:spPr>
          <a:xfrm>
            <a:off x="1463040" y="534924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Privacidade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4"/>
          <p:cNvSpPr txBox="1"/>
          <p:nvPr/>
        </p:nvSpPr>
        <p:spPr>
          <a:xfrm>
            <a:off x="2834640" y="5349240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DPA e política de retenção definidos em contrato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4"/>
          <p:cNvSpPr txBox="1"/>
          <p:nvPr/>
        </p:nvSpPr>
        <p:spPr>
          <a:xfrm>
            <a:off x="6492240" y="16916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SLAs DE SUPORTE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7" name="Google Shape;507;p14"/>
          <p:cNvGraphicFramePr/>
          <p:nvPr/>
        </p:nvGraphicFramePr>
        <p:xfrm>
          <a:off x="6492240" y="2011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{4200932C-4092-44C4-92BF-D1D44923BBF5}</a:tableStyleId>
              </a:tblPr>
              <a:tblGrid>
                <a:gridCol w="1554475"/>
                <a:gridCol w="1920250"/>
                <a:gridCol w="16733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Severidade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1ª resposta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Resolução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1 · Crítica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15 min (24/7)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4 h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2 · Alta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1 h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8 h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3 · Média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4 h (comercial)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48 h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4 · Baixa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12 h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até 5 dias úteis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08" name="Google Shape;508;p14"/>
          <p:cNvSpPr txBox="1"/>
          <p:nvPr/>
        </p:nvSpPr>
        <p:spPr>
          <a:xfrm>
            <a:off x="6492240" y="41605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INCENTIVOS (SUJEITOS À APROVAÇÃO)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6492240" y="4526280"/>
            <a:ext cx="2514600" cy="713232"/>
          </a:xfrm>
          <a:prstGeom prst="roundRect">
            <a:avLst>
              <a:gd fmla="val 17949" name="adj"/>
            </a:avLst>
          </a:prstGeom>
          <a:solidFill>
            <a:srgbClr val="EFECFA"/>
          </a:solidFill>
          <a:ln cap="flat" cmpd="sng" w="9525">
            <a:solidFill>
              <a:srgbClr val="EFEC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4"/>
          <p:cNvSpPr txBox="1"/>
          <p:nvPr/>
        </p:nvSpPr>
        <p:spPr>
          <a:xfrm>
            <a:off x="6629400" y="459943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Crédito de 100% da PoC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 txBox="1"/>
          <p:nvPr/>
        </p:nvSpPr>
        <p:spPr>
          <a:xfrm>
            <a:off x="6629400" y="489204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contratar em até 60 dias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9098280" y="4526280"/>
            <a:ext cx="2514600" cy="713232"/>
          </a:xfrm>
          <a:prstGeom prst="roundRect">
            <a:avLst>
              <a:gd fmla="val 17949" name="adj"/>
            </a:avLst>
          </a:prstGeom>
          <a:solidFill>
            <a:srgbClr val="EFECFA"/>
          </a:solidFill>
          <a:ln cap="flat" cmpd="sng" w="9525">
            <a:solidFill>
              <a:srgbClr val="EFEC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4"/>
          <p:cNvSpPr txBox="1"/>
          <p:nvPr/>
        </p:nvSpPr>
        <p:spPr>
          <a:xfrm>
            <a:off x="9235440" y="459943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Pagamento anual antecipado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 txBox="1"/>
          <p:nvPr/>
        </p:nvSpPr>
        <p:spPr>
          <a:xfrm>
            <a:off x="9235440" y="489204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5% sobre o recorrente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4"/>
          <p:cNvSpPr/>
          <p:nvPr/>
        </p:nvSpPr>
        <p:spPr>
          <a:xfrm>
            <a:off x="6492240" y="5330952"/>
            <a:ext cx="2514600" cy="713232"/>
          </a:xfrm>
          <a:prstGeom prst="roundRect">
            <a:avLst>
              <a:gd fmla="val 17949" name="adj"/>
            </a:avLst>
          </a:prstGeom>
          <a:solidFill>
            <a:srgbClr val="EFECFA"/>
          </a:solidFill>
          <a:ln cap="flat" cmpd="sng" w="9525">
            <a:solidFill>
              <a:srgbClr val="EFEC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4"/>
          <p:cNvSpPr txBox="1"/>
          <p:nvPr/>
        </p:nvSpPr>
        <p:spPr>
          <a:xfrm>
            <a:off x="6629400" y="5404104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Contrato de 36 meses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 txBox="1"/>
          <p:nvPr/>
        </p:nvSpPr>
        <p:spPr>
          <a:xfrm>
            <a:off x="6629400" y="569671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8% sobre a licença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9098280" y="5330952"/>
            <a:ext cx="2514600" cy="713232"/>
          </a:xfrm>
          <a:prstGeom prst="roundRect">
            <a:avLst>
              <a:gd fmla="val 17949" name="adj"/>
            </a:avLst>
          </a:prstGeom>
          <a:solidFill>
            <a:srgbClr val="EFECFA"/>
          </a:solidFill>
          <a:ln cap="flat" cmpd="sng" w="9525">
            <a:solidFill>
              <a:srgbClr val="EFEC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4"/>
          <p:cNvSpPr txBox="1"/>
          <p:nvPr/>
        </p:nvSpPr>
        <p:spPr>
          <a:xfrm>
            <a:off x="9235440" y="5404104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Assinatura até [data]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 txBox="1"/>
          <p:nvPr/>
        </p:nvSpPr>
        <p:spPr>
          <a:xfrm>
            <a:off x="9235440" y="569671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3% adicionais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5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GOVERNANÇA DO PROJETO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5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Quem faz o quê</a:t>
            </a:r>
            <a:endParaRPr sz="3600"/>
          </a:p>
        </p:txBody>
      </p:sp>
      <p:sp>
        <p:nvSpPr>
          <p:cNvPr id="529" name="Google Shape;529;p15"/>
          <p:cNvSpPr/>
          <p:nvPr/>
        </p:nvSpPr>
        <p:spPr>
          <a:xfrm>
            <a:off x="548640" y="1691640"/>
            <a:ext cx="5440680" cy="4434840"/>
          </a:xfrm>
          <a:prstGeom prst="roundRect">
            <a:avLst>
              <a:gd fmla="val 28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5"/>
          <p:cNvSpPr txBox="1"/>
          <p:nvPr/>
        </p:nvSpPr>
        <p:spPr>
          <a:xfrm>
            <a:off x="822960" y="184708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SYNAPSEAI SOLUTIONS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5"/>
          <p:cNvSpPr/>
          <p:nvPr/>
        </p:nvSpPr>
        <p:spPr>
          <a:xfrm>
            <a:off x="859536" y="2350008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2" name="Google Shape;53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268" y="2491740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15"/>
          <p:cNvSpPr txBox="1"/>
          <p:nvPr/>
        </p:nvSpPr>
        <p:spPr>
          <a:xfrm>
            <a:off x="1600200" y="230428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Gerente de projeto / Customer Success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5"/>
          <p:cNvSpPr txBox="1"/>
          <p:nvPr/>
        </p:nvSpPr>
        <p:spPr>
          <a:xfrm>
            <a:off x="1600200" y="2688336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Plano, cronograma e relacionamento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5"/>
          <p:cNvSpPr/>
          <p:nvPr/>
        </p:nvSpPr>
        <p:spPr>
          <a:xfrm>
            <a:off x="859536" y="3300984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6" name="Google Shape;53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1268" y="3442716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5"/>
          <p:cNvSpPr txBox="1"/>
          <p:nvPr/>
        </p:nvSpPr>
        <p:spPr>
          <a:xfrm>
            <a:off x="1600200" y="3255264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Engenharia de Soluções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5"/>
          <p:cNvSpPr txBox="1"/>
          <p:nvPr/>
        </p:nvSpPr>
        <p:spPr>
          <a:xfrm>
            <a:off x="1600200" y="363931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Arquitetura, PoC e integrações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5"/>
          <p:cNvSpPr/>
          <p:nvPr/>
        </p:nvSpPr>
        <p:spPr>
          <a:xfrm>
            <a:off x="859536" y="4251960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0" name="Google Shape;54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268" y="439369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15"/>
          <p:cNvSpPr txBox="1"/>
          <p:nvPr/>
        </p:nvSpPr>
        <p:spPr>
          <a:xfrm>
            <a:off x="1600200" y="42062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Especialista em design instrucional (SME)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5"/>
          <p:cNvSpPr txBox="1"/>
          <p:nvPr/>
        </p:nvSpPr>
        <p:spPr>
          <a:xfrm>
            <a:off x="1600200" y="459028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Valida a precisão técnica das respostas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5"/>
          <p:cNvSpPr/>
          <p:nvPr/>
        </p:nvSpPr>
        <p:spPr>
          <a:xfrm>
            <a:off x="859536" y="5202936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4" name="Google Shape;54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1268" y="534466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15"/>
          <p:cNvSpPr txBox="1"/>
          <p:nvPr/>
        </p:nvSpPr>
        <p:spPr>
          <a:xfrm>
            <a:off x="1600200" y="5157216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AI Ops e Engenharia de Sustentação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5"/>
          <p:cNvSpPr txBox="1"/>
          <p:nvPr/>
        </p:nvSpPr>
        <p:spPr>
          <a:xfrm>
            <a:off x="1600200" y="5541264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Qualidade da IA, latência e incidentes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6190488" y="1691640"/>
            <a:ext cx="5440680" cy="4434840"/>
          </a:xfrm>
          <a:prstGeom prst="roundRect">
            <a:avLst>
              <a:gd fmla="val 28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5"/>
          <p:cNvSpPr txBox="1"/>
          <p:nvPr/>
        </p:nvSpPr>
        <p:spPr>
          <a:xfrm>
            <a:off x="6464808" y="184708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5"/>
          <p:cNvSpPr/>
          <p:nvPr/>
        </p:nvSpPr>
        <p:spPr>
          <a:xfrm>
            <a:off x="6501384" y="2350008"/>
            <a:ext cx="566928" cy="5669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0" name="Google Shape;55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3116" y="2491740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15"/>
          <p:cNvSpPr txBox="1"/>
          <p:nvPr/>
        </p:nvSpPr>
        <p:spPr>
          <a:xfrm>
            <a:off x="7242048" y="230428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Patrocinador (Educação Corporativa ou Acadêmica)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5"/>
          <p:cNvSpPr txBox="1"/>
          <p:nvPr/>
        </p:nvSpPr>
        <p:spPr>
          <a:xfrm>
            <a:off x="7242048" y="2688336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Decisão, prioridades e patrocínio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6501384" y="3300984"/>
            <a:ext cx="566928" cy="5669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4" name="Google Shape;55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43116" y="3442716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15"/>
          <p:cNvSpPr txBox="1"/>
          <p:nvPr/>
        </p:nvSpPr>
        <p:spPr>
          <a:xfrm>
            <a:off x="7242048" y="3255264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TI e administração do LMS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5"/>
          <p:cNvSpPr txBox="1"/>
          <p:nvPr/>
        </p:nvSpPr>
        <p:spPr>
          <a:xfrm>
            <a:off x="7242048" y="363931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Acesso a fontes, rede e SSO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5"/>
          <p:cNvSpPr/>
          <p:nvPr/>
        </p:nvSpPr>
        <p:spPr>
          <a:xfrm>
            <a:off x="6501384" y="4251960"/>
            <a:ext cx="566928" cy="5669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8" name="Google Shape;55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43116" y="439369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15"/>
          <p:cNvSpPr txBox="1"/>
          <p:nvPr/>
        </p:nvSpPr>
        <p:spPr>
          <a:xfrm>
            <a:off x="7242048" y="42062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Segurança da informação e jurídico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 txBox="1"/>
          <p:nvPr/>
        </p:nvSpPr>
        <p:spPr>
          <a:xfrm>
            <a:off x="7242048" y="459028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Política de dados e segurança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5"/>
          <p:cNvSpPr/>
          <p:nvPr/>
        </p:nvSpPr>
        <p:spPr>
          <a:xfrm>
            <a:off x="6501384" y="5202936"/>
            <a:ext cx="566928" cy="566928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2" name="Google Shape;56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43116" y="534466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15"/>
          <p:cNvSpPr txBox="1"/>
          <p:nvPr/>
        </p:nvSpPr>
        <p:spPr>
          <a:xfrm>
            <a:off x="7242048" y="5157216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Autores-chave e revisores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5"/>
          <p:cNvSpPr txBox="1"/>
          <p:nvPr/>
        </p:nvSpPr>
        <p:spPr>
          <a:xfrm>
            <a:off x="7242048" y="5541264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Validação e adoção no dia a dia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5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6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RISCOS E MITIGAÇÃO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6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Riscos conhecidos e como tratamos</a:t>
            </a:r>
            <a:endParaRPr sz="3600"/>
          </a:p>
        </p:txBody>
      </p:sp>
      <p:graphicFrame>
        <p:nvGraphicFramePr>
          <p:cNvPr id="573" name="Google Shape;573;p16"/>
          <p:cNvGraphicFramePr/>
          <p:nvPr/>
        </p:nvGraphicFramePr>
        <p:xfrm>
          <a:off x="5486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{4200932C-4092-44C4-92BF-D1D44923BBF5}</a:tableStyleId>
              </a:tblPr>
              <a:tblGrid>
                <a:gridCol w="3931925"/>
                <a:gridCol w="71625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Risco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Mitigação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Briefings vagos geram conteúdo genérico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Modelos de briefing e treinamento; geração por etapas com revisão.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Referências externas imprecisas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Sinalização para verificação humana e aprovação obrigatória antes de exportar.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Compatibilidade do SCORM com o LMS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Teste de pacotes em homologação antes da publicação.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Direitos sobre materiais de terceiros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Política de fontes e licenças definida pelo cliente na implantação.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74" name="Google Shape;574;p16"/>
          <p:cNvSpPr/>
          <p:nvPr/>
        </p:nvSpPr>
        <p:spPr>
          <a:xfrm>
            <a:off x="548640" y="5532120"/>
            <a:ext cx="11094415" cy="566928"/>
          </a:xfrm>
          <a:prstGeom prst="roundRect">
            <a:avLst>
              <a:gd fmla="val 22581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6"/>
          <p:cNvSpPr txBox="1"/>
          <p:nvPr/>
        </p:nvSpPr>
        <p:spPr>
          <a:xfrm>
            <a:off x="548640" y="5532120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Governança: comitê quinzenal durante a implantação e mensal na operação assistida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6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7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POR QUE A SYNAPSEAI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7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Por que a SynapseAI para Educação</a:t>
            </a:r>
            <a:endParaRPr sz="3600"/>
          </a:p>
        </p:txBody>
      </p:sp>
      <p:sp>
        <p:nvSpPr>
          <p:cNvPr id="584" name="Google Shape;584;p17"/>
          <p:cNvSpPr/>
          <p:nvPr/>
        </p:nvSpPr>
        <p:spPr>
          <a:xfrm>
            <a:off x="548640" y="1691640"/>
            <a:ext cx="3593592" cy="1463040"/>
          </a:xfrm>
          <a:prstGeom prst="roundRect">
            <a:avLst>
              <a:gd fmla="val 10000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7"/>
          <p:cNvSpPr txBox="1"/>
          <p:nvPr/>
        </p:nvSpPr>
        <p:spPr>
          <a:xfrm>
            <a:off x="777240" y="1691640"/>
            <a:ext cx="1463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300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7"/>
          <p:cNvSpPr txBox="1"/>
          <p:nvPr/>
        </p:nvSpPr>
        <p:spPr>
          <a:xfrm>
            <a:off x="2240280" y="1691640"/>
            <a:ext cx="1737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colaboradores em 7 áreas, de IA e engenharia a suporte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7"/>
          <p:cNvSpPr/>
          <p:nvPr/>
        </p:nvSpPr>
        <p:spPr>
          <a:xfrm>
            <a:off x="4297680" y="1691640"/>
            <a:ext cx="3593592" cy="1463040"/>
          </a:xfrm>
          <a:prstGeom prst="roundRect">
            <a:avLst>
              <a:gd fmla="val 10000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7"/>
          <p:cNvSpPr txBox="1"/>
          <p:nvPr/>
        </p:nvSpPr>
        <p:spPr>
          <a:xfrm>
            <a:off x="4526280" y="1691640"/>
            <a:ext cx="1463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7"/>
          <p:cNvSpPr txBox="1"/>
          <p:nvPr/>
        </p:nvSpPr>
        <p:spPr>
          <a:xfrm>
            <a:off x="5989320" y="1691640"/>
            <a:ext cx="1737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produtos de IA generativa para Finanças, Educação e Saúde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7"/>
          <p:cNvSpPr/>
          <p:nvPr/>
        </p:nvSpPr>
        <p:spPr>
          <a:xfrm>
            <a:off x="8046720" y="1691640"/>
            <a:ext cx="3593592" cy="1463040"/>
          </a:xfrm>
          <a:prstGeom prst="roundRect">
            <a:avLst>
              <a:gd fmla="val 10000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7"/>
          <p:cNvSpPr txBox="1"/>
          <p:nvPr/>
        </p:nvSpPr>
        <p:spPr>
          <a:xfrm>
            <a:off x="8275320" y="1691640"/>
            <a:ext cx="1463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24/7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7"/>
          <p:cNvSpPr txBox="1"/>
          <p:nvPr/>
        </p:nvSpPr>
        <p:spPr>
          <a:xfrm>
            <a:off x="9738360" y="1691640"/>
            <a:ext cx="1737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operação e plantão para produtos de alta criticidade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7"/>
          <p:cNvSpPr/>
          <p:nvPr/>
        </p:nvSpPr>
        <p:spPr>
          <a:xfrm>
            <a:off x="548640" y="3429000"/>
            <a:ext cx="5422392" cy="1188720"/>
          </a:xfrm>
          <a:prstGeom prst="roundRect">
            <a:avLst>
              <a:gd fmla="val 1076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7"/>
          <p:cNvSpPr/>
          <p:nvPr/>
        </p:nvSpPr>
        <p:spPr>
          <a:xfrm>
            <a:off x="795528" y="3721608"/>
            <a:ext cx="603504" cy="60350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5" name="Google Shape;5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404" y="387248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17"/>
          <p:cNvSpPr txBox="1"/>
          <p:nvPr/>
        </p:nvSpPr>
        <p:spPr>
          <a:xfrm>
            <a:off x="1600200" y="359359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Verticalização por domínio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7"/>
          <p:cNvSpPr txBox="1"/>
          <p:nvPr/>
        </p:nvSpPr>
        <p:spPr>
          <a:xfrm>
            <a:off x="1600200" y="3959352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Cada produto nasce do contexto operacional e regulatório do setor.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7"/>
          <p:cNvSpPr/>
          <p:nvPr/>
        </p:nvSpPr>
        <p:spPr>
          <a:xfrm>
            <a:off x="6217920" y="3429000"/>
            <a:ext cx="5422392" cy="1188720"/>
          </a:xfrm>
          <a:prstGeom prst="roundRect">
            <a:avLst>
              <a:gd fmla="val 1076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7"/>
          <p:cNvSpPr/>
          <p:nvPr/>
        </p:nvSpPr>
        <p:spPr>
          <a:xfrm>
            <a:off x="6464808" y="3721608"/>
            <a:ext cx="603504" cy="603504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0" name="Google Shape;60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5684" y="387248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17"/>
          <p:cNvSpPr txBox="1"/>
          <p:nvPr/>
        </p:nvSpPr>
        <p:spPr>
          <a:xfrm>
            <a:off x="7269480" y="359359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IA explicável e auditável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7"/>
          <p:cNvSpPr txBox="1"/>
          <p:nvPr/>
        </p:nvSpPr>
        <p:spPr>
          <a:xfrm>
            <a:off x="7269480" y="3959352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Respostas ligadas a fontes confiáveis e registradas em trilha.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7"/>
          <p:cNvSpPr/>
          <p:nvPr/>
        </p:nvSpPr>
        <p:spPr>
          <a:xfrm>
            <a:off x="548640" y="4800600"/>
            <a:ext cx="5422392" cy="1188720"/>
          </a:xfrm>
          <a:prstGeom prst="roundRect">
            <a:avLst>
              <a:gd fmla="val 1076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7"/>
          <p:cNvSpPr/>
          <p:nvPr/>
        </p:nvSpPr>
        <p:spPr>
          <a:xfrm>
            <a:off x="795528" y="5093208"/>
            <a:ext cx="603504" cy="60350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5" name="Google Shape;60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6404" y="524408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17"/>
          <p:cNvSpPr txBox="1"/>
          <p:nvPr/>
        </p:nvSpPr>
        <p:spPr>
          <a:xfrm>
            <a:off x="1600200" y="496519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Compliance desde a concepção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7"/>
          <p:cNvSpPr txBox="1"/>
          <p:nvPr/>
        </p:nvSpPr>
        <p:spPr>
          <a:xfrm>
            <a:off x="1600200" y="5330952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Isolamento por cliente, criptografia e controle de acesso rigoroso.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7"/>
          <p:cNvSpPr/>
          <p:nvPr/>
        </p:nvSpPr>
        <p:spPr>
          <a:xfrm>
            <a:off x="6217920" y="4800600"/>
            <a:ext cx="5422392" cy="1188720"/>
          </a:xfrm>
          <a:prstGeom prst="roundRect">
            <a:avLst>
              <a:gd fmla="val 1076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7"/>
          <p:cNvSpPr/>
          <p:nvPr/>
        </p:nvSpPr>
        <p:spPr>
          <a:xfrm>
            <a:off x="6464808" y="5093208"/>
            <a:ext cx="603504" cy="603504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0" name="Google Shape;61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5684" y="524408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17"/>
          <p:cNvSpPr txBox="1"/>
          <p:nvPr/>
        </p:nvSpPr>
        <p:spPr>
          <a:xfrm>
            <a:off x="7269480" y="496519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Parceria de longo prazo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7"/>
          <p:cNvSpPr txBox="1"/>
          <p:nvPr/>
        </p:nvSpPr>
        <p:spPr>
          <a:xfrm>
            <a:off x="7269480" y="5330952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Customer Success, melhoria contínua e especialistas de domínio internos.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7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8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PRÓXIMOS PASSOS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8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Do aceite ao kick-off</a:t>
            </a:r>
            <a:endParaRPr sz="3600"/>
          </a:p>
        </p:txBody>
      </p:sp>
      <p:sp>
        <p:nvSpPr>
          <p:cNvPr id="621" name="Google Shape;621;p18"/>
          <p:cNvSpPr/>
          <p:nvPr/>
        </p:nvSpPr>
        <p:spPr>
          <a:xfrm>
            <a:off x="548640" y="1691640"/>
            <a:ext cx="2606040" cy="3200400"/>
          </a:xfrm>
          <a:prstGeom prst="roundRect">
            <a:avLst>
              <a:gd fmla="val 491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8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3" name="Google Shape;62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260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18"/>
          <p:cNvSpPr txBox="1"/>
          <p:nvPr/>
        </p:nvSpPr>
        <p:spPr>
          <a:xfrm>
            <a:off x="1554480" y="21488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PASSO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8"/>
          <p:cNvSpPr txBox="1"/>
          <p:nvPr/>
        </p:nvSpPr>
        <p:spPr>
          <a:xfrm>
            <a:off x="777240" y="27889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Validação técnica e de segurança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8"/>
          <p:cNvSpPr txBox="1"/>
          <p:nvPr/>
        </p:nvSpPr>
        <p:spPr>
          <a:xfrm>
            <a:off x="777240" y="34290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Sessão com TI, InfoSec e DPO para validar arquitetura e requisitos.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8"/>
          <p:cNvSpPr txBox="1"/>
          <p:nvPr/>
        </p:nvSpPr>
        <p:spPr>
          <a:xfrm>
            <a:off x="777240" y="44348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Até [data]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8"/>
          <p:cNvSpPr/>
          <p:nvPr/>
        </p:nvSpPr>
        <p:spPr>
          <a:xfrm>
            <a:off x="3346704" y="1691640"/>
            <a:ext cx="2606040" cy="3200400"/>
          </a:xfrm>
          <a:prstGeom prst="roundRect">
            <a:avLst>
              <a:gd fmla="val 491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8"/>
          <p:cNvSpPr/>
          <p:nvPr/>
        </p:nvSpPr>
        <p:spPr>
          <a:xfrm>
            <a:off x="3575304" y="196596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0" name="Google Shape;63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5324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18"/>
          <p:cNvSpPr txBox="1"/>
          <p:nvPr/>
        </p:nvSpPr>
        <p:spPr>
          <a:xfrm>
            <a:off x="4352544" y="21488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PASSO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8"/>
          <p:cNvSpPr txBox="1"/>
          <p:nvPr/>
        </p:nvSpPr>
        <p:spPr>
          <a:xfrm>
            <a:off x="3575304" y="27889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Ajustes de escopo e comercial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8"/>
          <p:cNvSpPr txBox="1"/>
          <p:nvPr/>
        </p:nvSpPr>
        <p:spPr>
          <a:xfrm>
            <a:off x="3575304" y="34290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Revisão final de pacote, condições e minuta contratual.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8"/>
          <p:cNvSpPr txBox="1"/>
          <p:nvPr/>
        </p:nvSpPr>
        <p:spPr>
          <a:xfrm>
            <a:off x="3575304" y="44348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Até [data]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8"/>
          <p:cNvSpPr/>
          <p:nvPr/>
        </p:nvSpPr>
        <p:spPr>
          <a:xfrm>
            <a:off x="6144768" y="1691640"/>
            <a:ext cx="2606040" cy="3200400"/>
          </a:xfrm>
          <a:prstGeom prst="roundRect">
            <a:avLst>
              <a:gd fmla="val 491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8"/>
          <p:cNvSpPr/>
          <p:nvPr/>
        </p:nvSpPr>
        <p:spPr>
          <a:xfrm>
            <a:off x="6373368" y="196596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7" name="Google Shape;63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3388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18"/>
          <p:cNvSpPr txBox="1"/>
          <p:nvPr/>
        </p:nvSpPr>
        <p:spPr>
          <a:xfrm>
            <a:off x="7150608" y="21488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PASSO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8"/>
          <p:cNvSpPr txBox="1"/>
          <p:nvPr/>
        </p:nvSpPr>
        <p:spPr>
          <a:xfrm>
            <a:off x="6373368" y="27889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Assinatura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8"/>
          <p:cNvSpPr txBox="1"/>
          <p:nvPr/>
        </p:nvSpPr>
        <p:spPr>
          <a:xfrm>
            <a:off x="6373368" y="34290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Aceite da proposta e assinatura do contrato e do DPA.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8"/>
          <p:cNvSpPr txBox="1"/>
          <p:nvPr/>
        </p:nvSpPr>
        <p:spPr>
          <a:xfrm>
            <a:off x="6373368" y="44348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Até [data]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8"/>
          <p:cNvSpPr/>
          <p:nvPr/>
        </p:nvSpPr>
        <p:spPr>
          <a:xfrm>
            <a:off x="8942832" y="1691640"/>
            <a:ext cx="2606040" cy="3200400"/>
          </a:xfrm>
          <a:prstGeom prst="roundRect">
            <a:avLst>
              <a:gd fmla="val 491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8"/>
          <p:cNvSpPr/>
          <p:nvPr/>
        </p:nvSpPr>
        <p:spPr>
          <a:xfrm>
            <a:off x="9171432" y="1965960"/>
            <a:ext cx="640080" cy="64008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4" name="Google Shape;64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31452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18"/>
          <p:cNvSpPr txBox="1"/>
          <p:nvPr/>
        </p:nvSpPr>
        <p:spPr>
          <a:xfrm>
            <a:off x="9948672" y="21488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PASSO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8"/>
          <p:cNvSpPr txBox="1"/>
          <p:nvPr/>
        </p:nvSpPr>
        <p:spPr>
          <a:xfrm>
            <a:off x="9171432" y="27889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Kick-off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8"/>
          <p:cNvSpPr txBox="1"/>
          <p:nvPr/>
        </p:nvSpPr>
        <p:spPr>
          <a:xfrm>
            <a:off x="9171432" y="34290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Início da descoberta e da prova de conceito com o time do projeto.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8"/>
          <p:cNvSpPr txBox="1"/>
          <p:nvPr/>
        </p:nvSpPr>
        <p:spPr>
          <a:xfrm>
            <a:off x="9171432" y="44348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[data]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8"/>
          <p:cNvSpPr/>
          <p:nvPr/>
        </p:nvSpPr>
        <p:spPr>
          <a:xfrm>
            <a:off x="548640" y="5120640"/>
            <a:ext cx="11094415" cy="960120"/>
          </a:xfrm>
          <a:prstGeom prst="roundRect">
            <a:avLst>
              <a:gd fmla="val 13333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8"/>
          <p:cNvSpPr txBox="1"/>
          <p:nvPr/>
        </p:nvSpPr>
        <p:spPr>
          <a:xfrm>
            <a:off x="914400" y="5248656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Podemos confirmar a data de kick-off hoje?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8"/>
          <p:cNvSpPr txBox="1"/>
          <p:nvPr/>
        </p:nvSpPr>
        <p:spPr>
          <a:xfrm>
            <a:off x="914400" y="56692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Nome do responsável comercial  ·  Cargo  ·  Contato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8"/>
          <p:cNvSpPr/>
          <p:nvPr/>
        </p:nvSpPr>
        <p:spPr>
          <a:xfrm>
            <a:off x="8412480" y="5303520"/>
            <a:ext cx="3017520" cy="457200"/>
          </a:xfrm>
          <a:prstGeom prst="roundRect">
            <a:avLst>
              <a:gd fmla="val 50000" name="adj"/>
            </a:avLst>
          </a:prstGeom>
          <a:solidFill>
            <a:srgbClr val="0E7C89"/>
          </a:solidFill>
          <a:ln cap="flat" cmpd="sng" w="12700">
            <a:solidFill>
              <a:srgbClr val="0E7C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8"/>
          <p:cNvSpPr txBox="1"/>
          <p:nvPr/>
        </p:nvSpPr>
        <p:spPr>
          <a:xfrm>
            <a:off x="8412480" y="530352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coursegen.synapseai.com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8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9"/>
          <p:cNvSpPr txBox="1"/>
          <p:nvPr>
            <p:ph type="title"/>
          </p:nvPr>
        </p:nvSpPr>
        <p:spPr>
          <a:xfrm>
            <a:off x="731520" y="2103120"/>
            <a:ext cx="7315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b="1" lang="en-US" sz="6000">
                <a:solidFill>
                  <a:schemeClr val="lt1"/>
                </a:solidFill>
              </a:rPr>
              <a:t>Obrigado</a:t>
            </a:r>
            <a:endParaRPr sz="6000"/>
          </a:p>
        </p:txBody>
      </p:sp>
      <p:sp>
        <p:nvSpPr>
          <p:cNvPr id="661" name="Google Shape;661;p19"/>
          <p:cNvSpPr txBox="1"/>
          <p:nvPr>
            <p:ph idx="1" type="body"/>
          </p:nvPr>
        </p:nvSpPr>
        <p:spPr>
          <a:xfrm>
            <a:off x="731520" y="356616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2200"/>
              <a:buNone/>
            </a:pPr>
            <a:r>
              <a:rPr lang="en-US" sz="2200">
                <a:solidFill>
                  <a:srgbClr val="B7C8DE"/>
                </a:solidFill>
              </a:rPr>
              <a:t>Vamos transformar esta proposta em resultado</a:t>
            </a:r>
            <a:endParaRPr sz="2200"/>
          </a:p>
        </p:txBody>
      </p:sp>
      <p:pic>
        <p:nvPicPr>
          <p:cNvPr descr="preencoded.png" id="662" name="Google Shape;6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45628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19"/>
          <p:cNvSpPr txBox="1"/>
          <p:nvPr/>
        </p:nvSpPr>
        <p:spPr>
          <a:xfrm>
            <a:off x="1143000" y="452628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Site institucional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9"/>
          <p:cNvSpPr txBox="1"/>
          <p:nvPr/>
        </p:nvSpPr>
        <p:spPr>
          <a:xfrm>
            <a:off x="3291840" y="4526280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www.synapseai.com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5" name="Google Shape;66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50200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19"/>
          <p:cNvSpPr txBox="1"/>
          <p:nvPr/>
        </p:nvSpPr>
        <p:spPr>
          <a:xfrm>
            <a:off x="1143000" y="498348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Documentação do produto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9"/>
          <p:cNvSpPr txBox="1"/>
          <p:nvPr/>
        </p:nvSpPr>
        <p:spPr>
          <a:xfrm>
            <a:off x="3291840" y="4983480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docs.synapseai.com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ynapseAI">
  <a:themeElements>
    <a:clrScheme name="SynapseAI">
      <a:dk1>
        <a:srgbClr val="1B2430"/>
      </a:dk1>
      <a:lt1>
        <a:srgbClr val="FFFFFF"/>
      </a:lt1>
      <a:dk2>
        <a:srgbClr val="103050"/>
      </a:dk2>
      <a:lt2>
        <a:srgbClr val="F2F4F7"/>
      </a:lt2>
      <a:accent1>
        <a:srgbClr val="17A9B9"/>
      </a:accent1>
      <a:accent2>
        <a:srgbClr val="4DA3E8"/>
      </a:accent2>
      <a:accent3>
        <a:srgbClr val="8A7BE0"/>
      </a:accent3>
      <a:accent4>
        <a:srgbClr val="E8A23A"/>
      </a:accent4>
      <a:accent5>
        <a:srgbClr val="2FBF8F"/>
      </a:accent5>
      <a:accent6>
        <a:srgbClr val="606770"/>
      </a:accent6>
      <a:hlink>
        <a:srgbClr val="17A9B9"/>
      </a:hlink>
      <a:folHlink>
        <a:srgbClr val="60677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ynapseAI">
  <a:themeElements>
    <a:clrScheme name="SynapseAI">
      <a:dk1>
        <a:srgbClr val="1B2430"/>
      </a:dk1>
      <a:lt1>
        <a:srgbClr val="FFFFFF"/>
      </a:lt1>
      <a:dk2>
        <a:srgbClr val="103050"/>
      </a:dk2>
      <a:lt2>
        <a:srgbClr val="F2F4F7"/>
      </a:lt2>
      <a:accent1>
        <a:srgbClr val="17A9B9"/>
      </a:accent1>
      <a:accent2>
        <a:srgbClr val="4DA3E8"/>
      </a:accent2>
      <a:accent3>
        <a:srgbClr val="8A7BE0"/>
      </a:accent3>
      <a:accent4>
        <a:srgbClr val="E8A23A"/>
      </a:accent4>
      <a:accent5>
        <a:srgbClr val="2FBF8F"/>
      </a:accent5>
      <a:accent6>
        <a:srgbClr val="606770"/>
      </a:accent6>
      <a:hlink>
        <a:srgbClr val="17A9B9"/>
      </a:hlink>
      <a:folHlink>
        <a:srgbClr val="60677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2026-10-03T05:14:31Z</dcterms:created>
  <dc:creator>SynapseAI Solutions</dc:creator>
</cp:coreProperties>
</file>